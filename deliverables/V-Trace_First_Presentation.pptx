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4173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V-Trace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21792" y="239572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E9E6"/>
                </a:solidFill>
              </a:rPr>
              <a:t>Multi-Attribute Vehicle Re-Identification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1792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5C95A"/>
                </a:solidFill>
              </a:rPr>
              <a:t>DESCRIBE  →  SEARCH  →  CONFIRM  →  RE-IDENTIFY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1792" y="5440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Gurneet Kaur Bhuller  |  Group 21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58338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E"/>
                </a:solidFill>
              </a:rPr>
              <a:t>Graduate Certificate in Pattern Recognition Systems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77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27C"/>
                </a:solidFill>
              </a:rPr>
              <a:t>A plate is powerful evidence — but CCTV does not always give us a readable plate.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11338560" cy="0"/>
          </a:xfrm>
          <a:prstGeom prst="line">
            <a:avLst/>
          </a:prstGeom>
          <a:noFill/>
          <a:ln w="12700">
            <a:solidFill>
              <a:srgbClr val="12A7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6304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EAF7F6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1609344"/>
            <a:ext cx="2916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CLEAR PLATE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" y="2066544"/>
            <a:ext cx="2916936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Strong identifier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Useful when the plate is readable.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46304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FFF5E7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5152" y="1609344"/>
            <a:ext cx="2916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PARTIAL PLATE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45152" y="2066544"/>
            <a:ext cx="2916936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Still useful evidence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But not enough to depend on alone.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58200" y="146304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F2F0FA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22792" y="1609344"/>
            <a:ext cx="2916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NO PLATE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22792" y="2066544"/>
            <a:ext cx="2916936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Appearance remains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Colour • Type • Shape • Distinctive cues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892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A7A1"/>
                </a:solidFill>
              </a:rPr>
              <a:t>Objective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65960" y="48280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0"/>
                </a:solidFill>
              </a:rPr>
              <a:t>Search and re-identify a target vehicle across multiple camera recordings using all available visual evidence.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0727C"/>
                </a:solidFill>
              </a:rPr>
              <a:t>V-Trace ranks potential matches for human review — it does not claim definitive forensic identity.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99F"/>
                </a:solidFill>
              </a:rPr>
              <a:t>V-Trace  |  PRS Practice Module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8428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99F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User Uses V-Trace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77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27C"/>
                </a:solidFill>
              </a:rPr>
              <a:t>The user starts with what they know — not by manually finding the vehicle in the footage.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11338560" cy="0"/>
          </a:xfrm>
          <a:prstGeom prst="line">
            <a:avLst/>
          </a:prstGeom>
          <a:noFill/>
          <a:ln w="12700">
            <a:solidFill>
              <a:srgbClr val="12A7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1874520" cy="31546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746504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1  UPLOAD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2203704"/>
            <a:ext cx="154533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Camera A.mp4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Camera B.mp4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Camera C.mp4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377440" y="2880360"/>
            <a:ext cx="347472" cy="384048"/>
          </a:xfrm>
          <a:prstGeom prst="chevron">
            <a:avLst/>
          </a:prstGeom>
          <a:solidFill>
            <a:srgbClr val="12A7A1"/>
          </a:solidFill>
          <a:ln w="12700">
            <a:solidFill>
              <a:srgbClr val="12A7A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1600200"/>
            <a:ext cx="1874520" cy="3154680"/>
          </a:xfrm>
          <a:prstGeom prst="roundRect">
            <a:avLst>
              <a:gd name="adj" fmla="val 3902"/>
            </a:avLst>
          </a:prstGeom>
          <a:solidFill>
            <a:srgbClr val="F2F7F7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53512" y="1746504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2  DESCRIBE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53512" y="2203704"/>
            <a:ext cx="154533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White SUV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Plate: SGX12??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Rear dent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09160" y="2880360"/>
            <a:ext cx="347472" cy="384048"/>
          </a:xfrm>
          <a:prstGeom prst="chevron">
            <a:avLst/>
          </a:prstGeom>
          <a:solidFill>
            <a:srgbClr val="12A7A1"/>
          </a:solidFill>
          <a:ln w="12700">
            <a:solidFill>
              <a:srgbClr val="12A7A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1600200"/>
            <a:ext cx="1874520" cy="31546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85232" y="1746504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3  SEARCH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85232" y="2203704"/>
            <a:ext cx="154533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#1  91%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#2  84%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#3  72%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2880360"/>
            <a:ext cx="347472" cy="384048"/>
          </a:xfrm>
          <a:prstGeom prst="chevron">
            <a:avLst/>
          </a:prstGeom>
          <a:solidFill>
            <a:srgbClr val="12A7A1"/>
          </a:solidFill>
          <a:ln w="12700">
            <a:solidFill>
              <a:srgbClr val="12A7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1600200"/>
            <a:ext cx="1874520" cy="3154680"/>
          </a:xfrm>
          <a:prstGeom prst="roundRect">
            <a:avLst>
              <a:gd name="adj" fmla="val 3902"/>
            </a:avLst>
          </a:prstGeom>
          <a:solidFill>
            <a:srgbClr val="F2F7F7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16952" y="1746504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4  CONFIRM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16952" y="2203704"/>
            <a:ext cx="154533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User selects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the most plausible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candidate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72600" y="2880360"/>
            <a:ext cx="347472" cy="384048"/>
          </a:xfrm>
          <a:prstGeom prst="chevron">
            <a:avLst/>
          </a:prstGeom>
          <a:solidFill>
            <a:srgbClr val="12A7A1"/>
          </a:solidFill>
          <a:ln w="12700">
            <a:solidFill>
              <a:srgbClr val="12A7A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84080" y="1600200"/>
            <a:ext cx="1874520" cy="31546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948672" y="1746504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5  RE-IDENTIFY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48672" y="2203704"/>
            <a:ext cx="154533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Other videos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+ frames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+ timestamps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560320" y="5166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A7A1"/>
                </a:solidFill>
              </a:rPr>
              <a:t>DESCRIPTION-TO-VEHICLE RETRIEVAL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5166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5C95A"/>
                </a:solidFill>
              </a:rPr>
              <a:t>VEHICLE-TO-VEHICLE Re-ID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99F"/>
                </a:solidFill>
              </a:rPr>
              <a:t>V-Trace  |  PRS Practice Module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38428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99F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77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27C"/>
                </a:solidFill>
              </a:rPr>
              <a:t>A focused proof-of-concept for multi-video vehicle search and Re-ID.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11338560" cy="0"/>
          </a:xfrm>
          <a:prstGeom prst="line">
            <a:avLst/>
          </a:prstGeom>
          <a:noFill/>
          <a:ln w="12700">
            <a:solidFill>
              <a:srgbClr val="12A7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A7A1"/>
                </a:solidFill>
              </a:rPr>
              <a:t>IN SCOPE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475488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0"/>
                </a:solidFill>
              </a:rPr>
              <a:t>✓ Uploaded CCTV / traffic videos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0"/>
                </a:solidFill>
              </a:rPr>
              <a:t>✓ Vehicle detection + tracking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0"/>
                </a:solidFill>
              </a:rPr>
              <a:t>✓ Colour / type / plate / appearance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0"/>
                </a:solidFill>
              </a:rPr>
              <a:t>✓ Description-based candidate search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0"/>
                </a:solidFill>
              </a:rPr>
              <a:t>✓ Cross-video Re-ID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0"/>
                </a:solidFill>
              </a:rPr>
              <a:t>✓ Ranked results + frames / timestamps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0"/>
                </a:solidFill>
              </a:rPr>
              <a:t>✓ Streamlit application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922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5B5B"/>
                </a:solidFill>
              </a:rPr>
              <a:t>OUT OF SCOPE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37960" y="1874520"/>
            <a:ext cx="484632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0"/>
                </a:solidFill>
              </a:rPr>
              <a:t>× Operational live CCTV connection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0"/>
                </a:solidFill>
              </a:rPr>
              <a:t>× Vehicle-owner / registration records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0"/>
                </a:solidFill>
              </a:rPr>
              <a:t>× Facial recognition of occupants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0"/>
                </a:solidFill>
              </a:rPr>
              <a:t>× Definitive forensic identification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0"/>
                </a:solidFill>
              </a:rPr>
              <a:t>× Training large vision models from scratch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0"/>
                </a:solidFill>
              </a:rPr>
              <a:t>× Guaranteed detection of every dent / modification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920240" y="5623560"/>
            <a:ext cx="8321040" cy="594360"/>
          </a:xfrm>
          <a:prstGeom prst="roundRect">
            <a:avLst/>
          </a:prstGeom>
          <a:solidFill>
            <a:srgbClr val="EAF7F6"/>
          </a:solidFill>
          <a:ln w="12700">
            <a:solidFill>
              <a:srgbClr val="12A7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578815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24B"/>
                </a:solidFill>
              </a:rPr>
              <a:t>MVP: recorded-video proof of concept  →  future extension: live camera streams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99F"/>
                </a:solidFill>
              </a:rPr>
              <a:t>V-Trace  |  PRS Practice Module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38428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99F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Required / Available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77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27C"/>
                </a:solidFill>
              </a:rPr>
              <a:t>Benchmark data measures Re-ID performance; video clips demonstrate the complete software workflow.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11338560" cy="0"/>
          </a:xfrm>
          <a:prstGeom prst="line">
            <a:avLst/>
          </a:prstGeom>
          <a:noFill/>
          <a:ln w="12700">
            <a:solidFill>
              <a:srgbClr val="12A7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5166360" cy="3977640"/>
          </a:xfrm>
          <a:prstGeom prst="roundRect">
            <a:avLst>
              <a:gd name="adj" fmla="val 1839"/>
            </a:avLst>
          </a:prstGeom>
          <a:solidFill>
            <a:srgbClr val="EAF7F6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392" y="1700784"/>
            <a:ext cx="4837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BENCHMARK  |  VeRi-776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2157984"/>
            <a:ext cx="4837176" cy="3227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50K+ vehicle images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776 vehicle identities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20 cameras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Used for: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• known cross-camera identities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• Re-ID evaluation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• vehicle attributes / metadata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554480"/>
            <a:ext cx="5166360" cy="3977640"/>
          </a:xfrm>
          <a:prstGeom prst="roundRect">
            <a:avLst>
              <a:gd name="adj" fmla="val 1839"/>
            </a:avLst>
          </a:prstGeom>
          <a:solidFill>
            <a:srgbClr val="F5F7F8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9672" y="1700784"/>
            <a:ext cx="4837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VIDEO DEMONSTRATION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19672" y="2157984"/>
            <a:ext cx="4837176" cy="3227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Short CCTV / traffic-style clips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Multiple uploaded videos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Used for: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• vehicle detection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• within-video tracking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• description search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• end-to-end application demo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43000" y="585216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24B"/>
                </a:solidFill>
              </a:rPr>
              <a:t>Benchmark = “Does the Re-ID method work?”     |     Videos = “Does the software workflow work?”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99F"/>
                </a:solidFill>
              </a:rPr>
              <a:t>V-Trace  |  PRS Practice Module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38428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99F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77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27C"/>
                </a:solidFill>
              </a:rPr>
              <a:t>Raw videos become searchable vehicle tracks, then ranked cross-video sightings.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11338560" cy="0"/>
          </a:xfrm>
          <a:prstGeom prst="line">
            <a:avLst/>
          </a:prstGeom>
          <a:noFill/>
          <a:ln w="12700">
            <a:solidFill>
              <a:srgbClr val="12A7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600200"/>
            <a:ext cx="1664208" cy="338328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74650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VIDEOS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" y="2203704"/>
            <a:ext cx="1335024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Uploaded camera footage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029968" y="2880360"/>
            <a:ext cx="182880" cy="384048"/>
          </a:xfrm>
          <a:prstGeom prst="chevron">
            <a:avLst/>
          </a:prstGeom>
          <a:solidFill>
            <a:srgbClr val="12A7A1"/>
          </a:solidFill>
          <a:ln w="12700">
            <a:solidFill>
              <a:srgbClr val="12A7A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76856" y="1600200"/>
            <a:ext cx="1664208" cy="338328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41448" y="174650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DETECT + TRACK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41448" y="2203704"/>
            <a:ext cx="1335024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YOLO + tracker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→ vehicle tracks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986784" y="2880360"/>
            <a:ext cx="182880" cy="384048"/>
          </a:xfrm>
          <a:prstGeom prst="chevron">
            <a:avLst/>
          </a:prstGeom>
          <a:solidFill>
            <a:srgbClr val="12A7A1"/>
          </a:solidFill>
          <a:ln w="12700">
            <a:solidFill>
              <a:srgbClr val="12A7A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33672" y="1600200"/>
            <a:ext cx="1664208" cy="338328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98264" y="174650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REPRESENT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98264" y="2203704"/>
            <a:ext cx="1335024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CNN appearance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Colour • Type • Plate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0" y="2880360"/>
            <a:ext cx="182880" cy="384048"/>
          </a:xfrm>
          <a:prstGeom prst="chevron">
            <a:avLst/>
          </a:prstGeom>
          <a:solidFill>
            <a:srgbClr val="12A7A1"/>
          </a:solidFill>
          <a:ln w="12700">
            <a:solidFill>
              <a:srgbClr val="12A7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0488" y="1600200"/>
            <a:ext cx="1664208" cy="338328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174650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INDEX + SEARCH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2203704"/>
            <a:ext cx="1335024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User description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→ ranked candidates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00416" y="2880360"/>
            <a:ext cx="182880" cy="384048"/>
          </a:xfrm>
          <a:prstGeom prst="chevron">
            <a:avLst/>
          </a:prstGeom>
          <a:solidFill>
            <a:srgbClr val="12A7A1"/>
          </a:solidFill>
          <a:ln w="12700">
            <a:solidFill>
              <a:srgbClr val="12A7A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47304" y="1600200"/>
            <a:ext cx="1664208" cy="3383280"/>
          </a:xfrm>
          <a:prstGeom prst="roundRect">
            <a:avLst>
              <a:gd name="adj" fmla="val 4396"/>
            </a:avLst>
          </a:prstGeom>
          <a:solidFill>
            <a:srgbClr val="FFF5E7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11896" y="174650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CONFIRM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11896" y="2203704"/>
            <a:ext cx="1335024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Selected candidate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becomes visual query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857232" y="2880360"/>
            <a:ext cx="182880" cy="384048"/>
          </a:xfrm>
          <a:prstGeom prst="chevron">
            <a:avLst/>
          </a:prstGeom>
          <a:solidFill>
            <a:srgbClr val="12A7A1"/>
          </a:solidFill>
          <a:ln w="12700">
            <a:solidFill>
              <a:srgbClr val="12A7A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04120" y="1600200"/>
            <a:ext cx="1664208" cy="3383280"/>
          </a:xfrm>
          <a:prstGeom prst="roundRect">
            <a:avLst>
              <a:gd name="adj" fmla="val 4396"/>
            </a:avLst>
          </a:prstGeom>
          <a:solidFill>
            <a:srgbClr val="EAF7F6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268712" y="174650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Re-ID + FUSION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68712" y="2203704"/>
            <a:ext cx="1335024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Compare other tracks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→ ranked sightings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80160" y="54406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0727C"/>
                </a:solidFill>
              </a:rPr>
              <a:t>Tracklet / vehicle track = observations of one tracked vehicle while it is visible in one video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99F"/>
                </a:solidFill>
              </a:rPr>
              <a:t>V-Trace  |  PRS Practice Module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38428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99F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 Four PRS Technique Groups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77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27C"/>
                </a:solidFill>
              </a:rPr>
              <a:t>Each technique group has a distinct role in the same end-to-end pipeline.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11338560" cy="0"/>
          </a:xfrm>
          <a:prstGeom prst="line">
            <a:avLst/>
          </a:prstGeom>
          <a:noFill/>
          <a:ln w="12700">
            <a:solidFill>
              <a:srgbClr val="12A7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EAF2FB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1563624"/>
            <a:ext cx="5065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1  SUPERVISED / UNSUPERVISED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" y="2020824"/>
            <a:ext cx="5065776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Supervised: same-vehicle vs different-vehicle matching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Unsupervised: SOM / clustering of vehicle embeddings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EAF7F6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28232" y="1563624"/>
            <a:ext cx="5065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2  MACHINE / DEEP LEARNING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28232" y="2020824"/>
            <a:ext cx="5065776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Pretrained vehicle detection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CNN / Re-ID appearance embeddings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Optional plate OCR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7033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4E8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" y="3849624"/>
            <a:ext cx="5065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3  HYBRID / ENSEMBLE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" y="4306824"/>
            <a:ext cx="5065776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Random Forest / weighted fusion combines: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appearance + colour + type + plate + track evidence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37033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1F6E9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28232" y="3849624"/>
            <a:ext cx="5065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4  INTELLIGENT SENSING / SENSE-MAKING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28232" y="4306824"/>
            <a:ext cx="5065776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Raw video → detections → tracks → descriptors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→ candidates → confirmed target → sightings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99F"/>
                </a:solidFill>
              </a:rPr>
              <a:t>V-Trace  |  PRS Practice Module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8428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99F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Combine Multiple Cues?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77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27C"/>
                </a:solidFill>
              </a:rPr>
              <a:t>Every source of evidence fails differently.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11338560" cy="0"/>
          </a:xfrm>
          <a:prstGeom prst="line">
            <a:avLst/>
          </a:prstGeom>
          <a:noFill/>
          <a:ln w="12700">
            <a:solidFill>
              <a:srgbClr val="12A7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7A1"/>
                </a:solidFill>
              </a:rPr>
              <a:t>CUE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7A1"/>
                </a:solidFill>
              </a:rPr>
              <a:t>STRENGTH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751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7A1"/>
                </a:solidFill>
              </a:rPr>
              <a:t>LIMITATION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0927080" cy="512064"/>
          </a:xfrm>
          <a:prstGeom prst="roundRect">
            <a:avLst/>
          </a:prstGeom>
          <a:solidFill>
            <a:srgbClr val="EEF4F5"/>
          </a:solidFill>
          <a:ln w="6350">
            <a:solidFill>
              <a:srgbClr val="DDE5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47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0"/>
                </a:solidFill>
              </a:rPr>
              <a:t>PLATE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19476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0"/>
                </a:solidFill>
              </a:rPr>
              <a:t>Strong identity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19476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0"/>
                </a:solidFill>
              </a:rPr>
              <a:t>Blur / angle / occlusion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2487168"/>
            <a:ext cx="10927080" cy="512064"/>
          </a:xfrm>
          <a:prstGeom prst="roundRect">
            <a:avLst/>
          </a:prstGeom>
          <a:solidFill>
            <a:srgbClr val="F7F9FA"/>
          </a:solidFill>
          <a:ln w="6350">
            <a:solidFill>
              <a:srgbClr val="DDE5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06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0"/>
                </a:solidFill>
              </a:rPr>
              <a:t>COLOUR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08960" y="2606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0"/>
                </a:solidFill>
              </a:rPr>
              <a:t>Simple &amp; robust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26060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0"/>
                </a:solidFill>
              </a:rPr>
              <a:t>Many vehicles share it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145536"/>
            <a:ext cx="10927080" cy="512064"/>
          </a:xfrm>
          <a:prstGeom prst="roundRect">
            <a:avLst/>
          </a:prstGeom>
          <a:solidFill>
            <a:srgbClr val="EEF4F5"/>
          </a:solidFill>
          <a:ln w="6350">
            <a:solidFill>
              <a:srgbClr val="DDE5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264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0"/>
                </a:solidFill>
              </a:rPr>
              <a:t>TYPE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08960" y="32644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0"/>
                </a:solidFill>
              </a:rPr>
              <a:t>Good candidate filter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32644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0"/>
                </a:solidFill>
              </a:rPr>
              <a:t>Not unique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3803904"/>
            <a:ext cx="10927080" cy="512064"/>
          </a:xfrm>
          <a:prstGeom prst="roundRect">
            <a:avLst/>
          </a:prstGeom>
          <a:solidFill>
            <a:srgbClr val="F7F9FA"/>
          </a:solidFill>
          <a:ln w="6350">
            <a:solidFill>
              <a:srgbClr val="DDE5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9227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0"/>
                </a:solidFill>
              </a:rPr>
              <a:t>APPEARANCE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08960" y="39227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0"/>
                </a:solidFill>
              </a:rPr>
              <a:t>Rich visual detail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392277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0"/>
                </a:solidFill>
              </a:rPr>
              <a:t>Viewpoint / lighting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4462272"/>
            <a:ext cx="10927080" cy="512064"/>
          </a:xfrm>
          <a:prstGeom prst="roundRect">
            <a:avLst/>
          </a:prstGeom>
          <a:solidFill>
            <a:srgbClr val="EEF4F5"/>
          </a:solidFill>
          <a:ln w="6350">
            <a:solidFill>
              <a:srgbClr val="DDE5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5811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0"/>
                </a:solidFill>
              </a:rPr>
              <a:t>TRACKING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08960" y="45811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0"/>
                </a:solidFill>
              </a:rPr>
              <a:t>Multi-frame evidence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75120" y="458114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0"/>
                </a:solidFill>
              </a:rPr>
              <a:t>ID switches / fragmentation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148840" y="5532120"/>
            <a:ext cx="7909560" cy="640080"/>
          </a:xfrm>
          <a:prstGeom prst="roundRect">
            <a:avLst/>
          </a:prstGeom>
          <a:solidFill>
            <a:srgbClr val="15324B"/>
          </a:solidFill>
          <a:ln w="12700">
            <a:solidFill>
              <a:srgbClr val="153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31720" y="5733288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COMPLEMENTARY EVIDENCE  →  STRONGER, MORE ROBUST RANKING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1148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99F"/>
                </a:solidFill>
              </a:rPr>
              <a:t>V-Trace  |  PRS Practice Module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38428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99F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 &amp; Evaluation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77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27C"/>
                </a:solidFill>
              </a:rPr>
              <a:t>The goal is not just a successful demo — each key claim is tested.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11338560" cy="0"/>
          </a:xfrm>
          <a:prstGeom prst="line">
            <a:avLst/>
          </a:prstGeom>
          <a:noFill/>
          <a:ln w="12700">
            <a:solidFill>
              <a:srgbClr val="12A7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0876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EAF7F6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1655064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1  RETRIEVAL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" y="2112264"/>
            <a:ext cx="3099816" cy="3410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Can the correct vehicle be ranked highly?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Rank-1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Rank-5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mAP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5F7F8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1655064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2  FUSION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53712" y="2112264"/>
            <a:ext cx="3099816" cy="3410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Does combining evidence help?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Appearance only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vs Weighted Fusion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vs Random Forest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75320" y="150876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4E8"/>
          </a:solidFill>
          <a:ln w="12700">
            <a:solidFill>
              <a:srgbClr val="D3DEE2"/>
            </a:solidFill>
            <a:prstDash val="solid"/>
          </a:ln>
          <a:effectLst>
            <a:outerShdw sx="100000" sy="100000" kx="0" ky="0" algn="bl" rotWithShape="0" blurRad="12700" dist="50800" dir="2700000">
              <a:srgbClr val="AAB5BA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39912" y="1655064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</a:rPr>
              <a:t>3  PLATE ROBUSTNESS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39912" y="2112264"/>
            <a:ext cx="3099816" cy="3410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What happens when plate evidence fails?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454D"/>
                </a:solidFill>
              </a:rPr>
              <a:t>Clear → Partial → Blurred → Hidden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97280" y="58978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24B"/>
                </a:solidFill>
              </a:rPr>
              <a:t>Hypothesis: multi-evidence retrieval should degrade more gracefully when one cue becomes unavailable.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99F"/>
                </a:solidFill>
              </a:rPr>
              <a:t>V-Trace  |  PRS Practice Module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38428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99F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Progress &amp;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77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27C"/>
                </a:solidFill>
              </a:rPr>
              <a:t>The project is defined; implementation proceeds stage-by-stage so each component can be tested independently.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11338560" cy="0"/>
          </a:xfrm>
          <a:prstGeom prst="line">
            <a:avLst/>
          </a:prstGeom>
          <a:noFill/>
          <a:ln w="12700">
            <a:solidFill>
              <a:srgbClr val="12A7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A7A1"/>
                </a:solidFill>
              </a:rPr>
              <a:t>DONE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48006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0"/>
                </a:solidFill>
              </a:rPr>
              <a:t>✓ Problem &amp; two-stage workflow defined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0"/>
                </a:solidFill>
              </a:rPr>
              <a:t>✓ Scope and limitations fixed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0"/>
                </a:solidFill>
              </a:rPr>
              <a:t>✓ Primary dataset identified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0"/>
                </a:solidFill>
              </a:rPr>
              <a:t>✓ Four technique groups mapped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0"/>
                </a:solidFill>
              </a:rPr>
              <a:t>✓ Candidate models / tools shortlisted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0"/>
                </a:solidFill>
              </a:rPr>
              <a:t>✓ Evaluation plan defined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46520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C95A"/>
                </a:solidFill>
              </a:rPr>
              <a:t>NEXT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92240" y="1783080"/>
            <a:ext cx="4251960" cy="457200"/>
          </a:xfrm>
          <a:prstGeom prst="roundRect">
            <a:avLst/>
          </a:prstGeom>
          <a:solidFill>
            <a:srgbClr val="EAF7F6"/>
          </a:solidFill>
          <a:ln w="8890">
            <a:solidFill>
              <a:srgbClr val="D3DE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9019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0"/>
                </a:solidFill>
              </a:rPr>
              <a:t>Detection + Tracking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13648" y="2240280"/>
            <a:ext cx="0" cy="210312"/>
          </a:xfrm>
          <a:prstGeom prst="line">
            <a:avLst/>
          </a:prstGeom>
          <a:noFill/>
          <a:ln w="19050">
            <a:solidFill>
              <a:srgbClr val="12A7A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92240" y="2450592"/>
            <a:ext cx="4251960" cy="457200"/>
          </a:xfrm>
          <a:prstGeom prst="roundRect">
            <a:avLst/>
          </a:prstGeom>
          <a:solidFill>
            <a:srgbClr val="EAF7F6"/>
          </a:solidFill>
          <a:ln w="8890">
            <a:solidFill>
              <a:srgbClr val="D3DE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5694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0"/>
                </a:solidFill>
              </a:rPr>
              <a:t>Vehicle Index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13648" y="2907792"/>
            <a:ext cx="0" cy="210312"/>
          </a:xfrm>
          <a:prstGeom prst="line">
            <a:avLst/>
          </a:prstGeom>
          <a:noFill/>
          <a:ln w="19050">
            <a:solidFill>
              <a:srgbClr val="12A7A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92240" y="3118104"/>
            <a:ext cx="4251960" cy="457200"/>
          </a:xfrm>
          <a:prstGeom prst="roundRect">
            <a:avLst/>
          </a:prstGeom>
          <a:solidFill>
            <a:srgbClr val="F4F7F8"/>
          </a:solidFill>
          <a:ln w="8890">
            <a:solidFill>
              <a:srgbClr val="D3DE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32369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0"/>
                </a:solidFill>
              </a:rPr>
              <a:t>Stage 1 Search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13648" y="3575304"/>
            <a:ext cx="0" cy="210312"/>
          </a:xfrm>
          <a:prstGeom prst="line">
            <a:avLst/>
          </a:prstGeom>
          <a:noFill/>
          <a:ln w="19050">
            <a:solidFill>
              <a:srgbClr val="12A7A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92240" y="3785616"/>
            <a:ext cx="4251960" cy="457200"/>
          </a:xfrm>
          <a:prstGeom prst="roundRect">
            <a:avLst/>
          </a:prstGeom>
          <a:solidFill>
            <a:srgbClr val="F4F7F8"/>
          </a:solidFill>
          <a:ln w="8890">
            <a:solidFill>
              <a:srgbClr val="D3DE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9044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0"/>
                </a:solidFill>
              </a:rPr>
              <a:t>Cross-video Re-ID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13648" y="4242816"/>
            <a:ext cx="0" cy="210312"/>
          </a:xfrm>
          <a:prstGeom prst="line">
            <a:avLst/>
          </a:prstGeom>
          <a:noFill/>
          <a:ln w="19050">
            <a:solidFill>
              <a:srgbClr val="12A7A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92240" y="4453128"/>
            <a:ext cx="4251960" cy="457200"/>
          </a:xfrm>
          <a:prstGeom prst="roundRect">
            <a:avLst/>
          </a:prstGeom>
          <a:solidFill>
            <a:srgbClr val="F4F7F8"/>
          </a:solidFill>
          <a:ln w="8890">
            <a:solidFill>
              <a:srgbClr val="D3DE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4572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0"/>
                </a:solidFill>
              </a:rPr>
              <a:t>Fusion + Evaluation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613648" y="4910328"/>
            <a:ext cx="0" cy="210312"/>
          </a:xfrm>
          <a:prstGeom prst="line">
            <a:avLst/>
          </a:prstGeom>
          <a:noFill/>
          <a:ln w="19050">
            <a:solidFill>
              <a:srgbClr val="12A7A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92240" y="5120640"/>
            <a:ext cx="4251960" cy="457200"/>
          </a:xfrm>
          <a:prstGeom prst="roundRect">
            <a:avLst/>
          </a:prstGeom>
          <a:solidFill>
            <a:srgbClr val="F4F7F8"/>
          </a:solidFill>
          <a:ln w="8890">
            <a:solidFill>
              <a:srgbClr val="D3DE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52395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0"/>
                </a:solidFill>
              </a:rPr>
              <a:t>Streamlit Integration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99F"/>
                </a:solidFill>
              </a:rPr>
              <a:t>V-Trace  |  PRS Practice Module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38428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99F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V-Trace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58368" y="21488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5C95A"/>
                </a:solidFill>
              </a:rPr>
              <a:t>DESCRIBE  →  SEARCH  →  CONFIRM  →  RE-IDENTIFY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58368" y="29718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DCE7EA"/>
                </a:solidFill>
              </a:rPr>
              <a:t>Incomplete vehicle information in.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DCE7EA"/>
                </a:solidFill>
              </a:rPr>
              <a:t>Ranked, evidence-backed potential sightings out.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58368" y="5166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A7A1"/>
                </a:solidFill>
              </a:rPr>
              <a:t>Questions?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5943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BE"/>
                </a:solidFill>
              </a:rPr>
              <a:t>Gurneet Kaur Bhuller  |  Group 21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V-Trace</dc:title>
  <dc:subject>PRS First Project Presentation</dc:subject>
  <dc:creator>Gurneet Kaur Bhuller</dc:creator>
  <cp:lastModifiedBy>Gurneet Kaur Bhuller</cp:lastModifiedBy>
  <cp:revision>1</cp:revision>
  <dcterms:created xsi:type="dcterms:W3CDTF">2026-10-05T14:25:22Z</dcterms:created>
  <dcterms:modified xsi:type="dcterms:W3CDTF">2026-10-05T14:25:22Z</dcterms:modified>
</cp:coreProperties>
</file>