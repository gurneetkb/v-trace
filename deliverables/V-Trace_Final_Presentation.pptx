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Our run</c:v>
                </c:pt>
              </c:strCache>
            </c:strRef>
          </c:tx>
          <c:spPr>
            <a:solidFill>
              <a:srgbClr val="12A7A1"/>
            </a:solidFill>
          </c:spPr>
          <c:cat>
            <c:strRef>
              <c:f>Sheet1!$A$2:$A$3</c:f>
              <c:strCache>
                <c:ptCount val="2"/>
                <c:pt idx="0">
                  <c:v>Rank-1</c:v>
                </c:pt>
                <c:pt idx="1">
                  <c:v>mAP</c:v>
                </c:pt>
              </c:strCache>
            </c:strRef>
          </c:cat>
          <c:val>
            <c:numRef>
              <c:f>Sheet1!$B$2:$B$3</c:f>
              <c:numCache>
                <c:formatCode>General</c:formatCode>
                <c:ptCount val="2"/>
                <c:pt idx="0">
                  <c:v>97.0</c:v>
                </c:pt>
                <c:pt idx="1">
                  <c:v>81.6</c:v>
                </c:pt>
              </c:numCache>
            </c:numRef>
          </c:val>
        </c:ser>
        <c:ser>
          <c:idx val="1"/>
          <c:order val="1"/>
          <c:tx>
            <c:strRef>
              <c:f>Sheet1!$C$1</c:f>
              <c:strCache>
                <c:ptCount val="1"/>
                <c:pt idx="0">
                  <c:v>FastReID model zoo</c:v>
                </c:pt>
              </c:strCache>
            </c:strRef>
          </c:tx>
          <c:spPr>
            <a:solidFill>
              <a:srgbClr val="B9C3CC"/>
            </a:solidFill>
          </c:spPr>
          <c:cat>
            <c:strRef>
              <c:f>Sheet1!$A$2:$A$3</c:f>
              <c:strCache>
                <c:ptCount val="2"/>
                <c:pt idx="0">
                  <c:v>Rank-1</c:v>
                </c:pt>
                <c:pt idx="1">
                  <c:v>mAP</c:v>
                </c:pt>
              </c:strCache>
            </c:strRef>
          </c:cat>
          <c:val>
            <c:numRef>
              <c:f>Sheet1!$C$2:$C$3</c:f>
              <c:numCache>
                <c:formatCode>General</c:formatCode>
                <c:ptCount val="2"/>
                <c:pt idx="0">
                  <c:v>97.0</c:v>
                </c:pt>
                <c:pt idx="1">
                  <c:v>81.9</c:v>
                </c:pt>
              </c:numCache>
            </c:numRef>
          </c:val>
        </c:ser>
        <c:dLbls>
          <c:numFmt formatCode="0.0" sourceLinked="0"/>
          <c:txPr>
            <a:bodyPr/>
            <a:lstStyle/>
            <a:p>
              <a:pPr>
                <a:defRPr sz="1100">
                  <a:solidFill>
                    <a:srgbClr val="2B333C"/>
                  </a:solidFill>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spPr>
          <a:ln>
            <a:solidFill>
              <a:srgbClr val="D6DEE6"/>
            </a:solidFill>
          </a:ln>
        </c:spPr>
        <c:txPr>
          <a:bodyPr/>
          <a:lstStyle/>
          <a:p>
            <a:pPr>
              <a:defRPr sz="1200"/>
            </a:pPr>
          </a:p>
        </c:txPr>
        <c:crossAx val="-2113994440"/>
        <c:crosses val="autoZero"/>
        <c:auto val="1"/>
        <c:lblAlgn val="ctr"/>
        <c:lblOffset val="100"/>
        <c:noMultiLvlLbl val="0"/>
      </c:catAx>
      <c:valAx>
        <c:axId val="-2113994440"/>
        <c:scaling/>
        <c:delete val="0"/>
        <c:axPos val="l"/>
        <c:majorGridlines>
          <c:spPr>
            <a:ln>
              <a:solidFill>
                <a:srgbClr val="E6EBE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pPr>
        </a:p>
      </c:txPr>
    </c:legend>
    <c:dispBlanksAs val="gap"/>
  </c:chart>
  <c:txPr>
    <a:bodyPr/>
    <a:lstStyle/>
    <a:p>
      <a:pPr>
        <a:defRPr sz="1200">
          <a:solidFill>
            <a:srgbClr val="2B333C"/>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I'm Gurneet Kaur Bhuller from Group 21. This is V-Trace, a vehicle search and re-identification platform. In the next ten minutes I'll recap the problem, show how V-Trace works using only pretrained, published models, how I evaluated it on the VeRi-776 benchmark and on multi-camera street footage, what I learned, and then demonstrate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recap of the problem. A licence plate is the strongest clue, but in traffic footage it is often unreadable: too small, blurred or facing away. In my demo footage not a single plate was readable. Investigators usually start from a description, like a red sedan with a spoiler, and footage from several cameras. So the objective is: find the vehicle from a description, then show every camera it passed, with times and frames, for a person to check.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workflow. First, choose the videos: the demo cameras already on the platform, or upload short dash-cam or traffic-cam clips. Each video is processed: every vehicle is detected and followed while it stays in view – for example a red sedan visible for four seconds in camera one is one sighting. The user describes the vehicle, V-Trace ranks the best matches, the user selects one, and V-Trace shows every camera where the same vehicle was seen, with the time span and a frame.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YOLO11 detects vehicles and ByteTrack follows each one; one track is one sighting, with four good crops and one full frame. Each sighting is described by three pretrained models: the FastReID re-identification model trained on VeRi-776, CLIP for colour, type and distinctive features, and EasyOCR for plates. The description search ranks sightings; after the user selects one, Re-ID similarity finds it in the other cameras.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pretrained components. YOLO11 nano detects cars, motorcycles, buses and trucks. ByteTrack links detections over time. CLIP compares each vehicle with text such as 'a photo of a red car' or 'a car with a rear spoiler', zero-shot. EasyOCR reads plates when they are large enough. And the key one: FastReID, the framework released by the VeRi-776 authors' team, with their model trained on VeRi-776. I load its published checkpoint and use it unchanged to turn every vehicle crop into a 2048-number signature.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scoring steps. For the description, every field the user fills in gives each sighting a score between zero and one, and the final score is the weighted mean over only those fields, so leaving a field empty never hurts. For re-identification, the similarity of two sightings is the cosine of their FastReID signatures. A camera counts as 'seen' only if its best sighting is above 0.40, beats the camera's second-best by 0.08 – a ratio test, so look-alike cars are left to the user – and, for cameras that share a clock, is within ten seconds.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module's technique groups map onto V-Trace. Deep learning: the pretrained YOLO, FastReID, CLIP and OCR models. Supervised learning: the FastReID model is a supervised metric-learning model trained by its authors on VeRi identities, which I apply to new footage. Hybrid, multi-evidence: the description search combines colour, type, plate, feature and text evidence. Intelligent sensing and sense-making: the chain from raw video to the places and times a vehicle was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data. VeRi-776 checks the re-identification model: I ran the published checkpoint on the official split, about seventeen hundred query images against about eleven and a half thousand gallery images. The demo footage tests the workflow: an openly licensed street recording is cut into three camera zones along the road, so the same cars really pass camera A, B and C, plus a fourth camera on another road as a distractor. Tracking the full frame once gives a pseudo ground truth for measuring the demo.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does the model work as published? On the official VeRi-776 split it reaches 97.0 percent rank-one and 81.6 percent mean average precision; the FastReID model zoo reports 97.0 and 81.9. So the weights load and behave correctly. The score distributions set the threshold: same-vehicle pairs from different cameras have a median similarity of 0.62, while 99 percent of different-vehicle pairs score below 0.38. At 0.40, 89 percent of true pairs pass and only 0.8 percent of wrong 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real street video the same model is much weaker: vehicles are small and seen from very different angles. The correct sighting is ranked first for 36 percent of queries. That is why the decision rule matters. With the ratio test and the ten-second window, 71 percent of the cameras V-Trace reports are correct, and only 7 percent of queries are wrongly placed on the other road. It finds 32 percent of the cameras – for the rest it shows the closest vehicles so the user can decide.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app. After the admin signs in, the four demo cameras are already processed. I describe the target: colour red, type SUV, and search. The ranked matches show red cars; number three is a red Citroën in camera B at 42 seconds. I select it, and V-Trace shows where it was seen: camera A at 40.8 seconds, camera B at 42.0 and camera C at 43.6, each with its time span, a crop and the full frame. The other road is listed as not seen.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lessons. First, a published model trained by the dataset's own authors beat anything I could train in ten days, but I verified it by re-running the official benchmark before trusting it. Second, benchmark accuracy does not transfer: on my street footage rank-one dropped to about 36 percent. Third, decision rules matter as much as scores: a ratio test and a time window raised the share of correct cameras from about 40 to 71 percent without any training.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The model was trained on VeRi images and is weaker on small, distant vehicles. Plates are rarely readable at street distance. Colour and type from zero-shot CLIP confuse similar classes. The demo cameras are zones of one recording, not separate physical cameras. And V-Trace reads recorded files, though it works frame by frame, so live streams are a small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V-Trace turns camera videos into searchable sightings, ranks them against a description, and once the user selects the right vehicle, shows every camera it was seen in with times and frames. It is built entirely from published pretrained models; the Re-ID model reproduces its benchmark accuracy, and on real street footage the cameras it reports are correct 71 percent of the time.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 Id="rId4" Type="http://schemas.openxmlformats.org/officeDocument/2006/relationships/image" Target="../media/image6.png"/><Relationship Id="rId5"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title.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02920" y="1051560"/>
            <a:ext cx="7863840" cy="2165080"/>
          </a:xfrm>
          <a:prstGeom prst="rect">
            <a:avLst/>
          </a:prstGeom>
        </p:spPr>
      </p:pic>
      <p:sp>
        <p:nvSpPr>
          <p:cNvPr id="5" name="TextBox 4"/>
          <p:cNvSpPr txBox="1"/>
          <p:nvPr/>
        </p:nvSpPr>
        <p:spPr>
          <a:xfrm>
            <a:off x="685800" y="3886200"/>
            <a:ext cx="8229600" cy="457200"/>
          </a:xfrm>
          <a:prstGeom prst="rect">
            <a:avLst/>
          </a:prstGeom>
          <a:noFill/>
        </p:spPr>
        <p:txBody>
          <a:bodyPr wrap="square" lIns="0" rIns="0" tIns="0" bIns="0" anchor="t">
            <a:spAutoFit/>
          </a:bodyPr>
          <a:lstStyle/>
          <a:p>
            <a:pPr algn="l">
              <a:spcAft>
                <a:spcPts val="600"/>
              </a:spcAft>
            </a:pPr>
            <a:r>
              <a:rPr sz="2200" b="1" i="0">
                <a:solidFill>
                  <a:srgbClr val="5DC55B"/>
                </a:solidFill>
                <a:latin typeface="Aptos Display"/>
              </a:rPr>
              <a:t>DESCRIBE  →  RANK  →  SELECT  →  TRACE</a:t>
            </a:r>
          </a:p>
        </p:txBody>
      </p:sp>
      <p:sp>
        <p:nvSpPr>
          <p:cNvPr id="6" name="TextBox 5"/>
          <p:cNvSpPr txBox="1"/>
          <p:nvPr/>
        </p:nvSpPr>
        <p:spPr>
          <a:xfrm>
            <a:off x="685800" y="4617720"/>
            <a:ext cx="8229600" cy="457200"/>
          </a:xfrm>
          <a:prstGeom prst="rect">
            <a:avLst/>
          </a:prstGeom>
          <a:noFill/>
        </p:spPr>
        <p:txBody>
          <a:bodyPr wrap="square" lIns="0" rIns="0" tIns="0" bIns="0" anchor="t">
            <a:spAutoFit/>
          </a:bodyPr>
          <a:lstStyle/>
          <a:p>
            <a:pPr algn="l">
              <a:spcAft>
                <a:spcPts val="600"/>
              </a:spcAft>
            </a:pPr>
            <a:r>
              <a:rPr sz="2600" b="0" i="0">
                <a:solidFill>
                  <a:srgbClr val="B8E9E6"/>
                </a:solidFill>
                <a:latin typeface="Aptos"/>
              </a:rPr>
              <a:t>Multi-Attribute Vehicle Re-Identification System</a:t>
            </a:r>
          </a:p>
        </p:txBody>
      </p:sp>
      <p:sp>
        <p:nvSpPr>
          <p:cNvPr id="7" name="TextBox 6"/>
          <p:cNvSpPr txBox="1"/>
          <p:nvPr/>
        </p:nvSpPr>
        <p:spPr>
          <a:xfrm>
            <a:off x="685800" y="5440680"/>
            <a:ext cx="8229600" cy="365760"/>
          </a:xfrm>
          <a:prstGeom prst="rect">
            <a:avLst/>
          </a:prstGeom>
          <a:noFill/>
        </p:spPr>
        <p:txBody>
          <a:bodyPr wrap="square" lIns="0" rIns="0" tIns="0" bIns="0" anchor="t">
            <a:spAutoFit/>
          </a:bodyPr>
          <a:lstStyle/>
          <a:p>
            <a:pPr algn="l">
              <a:spcAft>
                <a:spcPts val="600"/>
              </a:spcAft>
            </a:pPr>
            <a:r>
              <a:rPr sz="1700" b="0" i="0">
                <a:solidFill>
                  <a:srgbClr val="FFFFFF"/>
                </a:solidFill>
                <a:latin typeface="Aptos"/>
              </a:rPr>
              <a:t>Gurneet Kaur Bhuller  |  Group 21</a:t>
            </a:r>
          </a:p>
        </p:txBody>
      </p:sp>
      <p:sp>
        <p:nvSpPr>
          <p:cNvPr id="8" name="TextBox 7"/>
          <p:cNvSpPr txBox="1"/>
          <p:nvPr/>
        </p:nvSpPr>
        <p:spPr>
          <a:xfrm>
            <a:off x="685800" y="5897880"/>
            <a:ext cx="8229600" cy="274320"/>
          </a:xfrm>
          <a:prstGeom prst="rect">
            <a:avLst/>
          </a:prstGeom>
          <a:noFill/>
        </p:spPr>
        <p:txBody>
          <a:bodyPr wrap="square" lIns="0" rIns="0" tIns="0" bIns="0" anchor="t">
            <a:spAutoFit/>
          </a:bodyPr>
          <a:lstStyle/>
          <a:p>
            <a:pPr algn="l">
              <a:spcAft>
                <a:spcPts val="600"/>
              </a:spcAft>
            </a:pPr>
            <a:r>
              <a:rPr sz="1200" b="0" i="0">
                <a:solidFill>
                  <a:srgbClr val="AEB8C2"/>
                </a:solidFill>
                <a:latin typeface="Aptos"/>
              </a:rPr>
              <a:t>Pattern Recognition Systems · Final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The Problem</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Investigators start from a description and a pile of camera footage, rarely from a readable plate.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2</a:t>
            </a:r>
          </a:p>
        </p:txBody>
      </p:sp>
      <p:sp>
        <p:nvSpPr>
          <p:cNvPr id="7" name="Rounded Rectangle 6"/>
          <p:cNvSpPr/>
          <p:nvPr/>
        </p:nvSpPr>
        <p:spPr>
          <a:xfrm>
            <a:off x="548640" y="1600200"/>
            <a:ext cx="3520440" cy="30175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PLATE UNREADABLE</a:t>
            </a:r>
          </a:p>
        </p:txBody>
      </p:sp>
      <p:sp>
        <p:nvSpPr>
          <p:cNvPr id="10" name="TextBox 9"/>
          <p:cNvSpPr txBox="1"/>
          <p:nvPr/>
        </p:nvSpPr>
        <p:spPr>
          <a:xfrm>
            <a:off x="77724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Too small, blurred, occluded or facing away from the camera</a:t>
            </a:r>
          </a:p>
        </p:txBody>
      </p:sp>
      <p:sp>
        <p:nvSpPr>
          <p:cNvPr id="11" name="Rounded Rectangle 10"/>
          <p:cNvSpPr/>
          <p:nvPr/>
        </p:nvSpPr>
        <p:spPr>
          <a:xfrm>
            <a:off x="4343400" y="1600200"/>
            <a:ext cx="3520440" cy="30175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8308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3" name="TextBox 12"/>
          <p:cNvSpPr txBox="1"/>
          <p:nvPr/>
        </p:nvSpPr>
        <p:spPr>
          <a:xfrm>
            <a:off x="457200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ONLY A DESCRIPTION</a:t>
            </a:r>
          </a:p>
        </p:txBody>
      </p:sp>
      <p:sp>
        <p:nvSpPr>
          <p:cNvPr id="14" name="TextBox 13"/>
          <p:cNvSpPr txBox="1"/>
          <p:nvPr/>
        </p:nvSpPr>
        <p:spPr>
          <a:xfrm>
            <a:off x="457200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“Red sedan, spoiler, plate starts SGX…” – incomplete and uncertain</a:t>
            </a:r>
          </a:p>
        </p:txBody>
      </p:sp>
      <p:sp>
        <p:nvSpPr>
          <p:cNvPr id="15" name="Rounded Rectangle 14"/>
          <p:cNvSpPr/>
          <p:nvPr/>
        </p:nvSpPr>
        <p:spPr>
          <a:xfrm>
            <a:off x="8138160" y="1600200"/>
            <a:ext cx="3520440" cy="30175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8308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7" name="TextBox 16"/>
          <p:cNvSpPr txBox="1"/>
          <p:nvPr/>
        </p:nvSpPr>
        <p:spPr>
          <a:xfrm>
            <a:off x="8366760" y="2286000"/>
            <a:ext cx="3108960" cy="45720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MANY CAMERAS</a:t>
            </a:r>
          </a:p>
        </p:txBody>
      </p:sp>
      <p:sp>
        <p:nvSpPr>
          <p:cNvPr id="18" name="TextBox 17"/>
          <p:cNvSpPr txBox="1"/>
          <p:nvPr/>
        </p:nvSpPr>
        <p:spPr>
          <a:xfrm>
            <a:off x="8366760" y="2971800"/>
            <a:ext cx="3108960" cy="1463040"/>
          </a:xfrm>
          <a:prstGeom prst="rect">
            <a:avLst/>
          </a:prstGeom>
          <a:noFill/>
        </p:spPr>
        <p:txBody>
          <a:bodyPr wrap="square" lIns="0" rIns="0" tIns="0" bIns="0" anchor="t">
            <a:spAutoFit/>
          </a:bodyPr>
          <a:lstStyle/>
          <a:p>
            <a:pPr algn="l">
              <a:spcAft>
                <a:spcPts val="600"/>
              </a:spcAft>
            </a:pPr>
            <a:r>
              <a:rPr sz="1600" b="0" i="0">
                <a:solidFill>
                  <a:srgbClr val="2B333C"/>
                </a:solidFill>
                <a:latin typeface="Aptos"/>
              </a:rPr>
              <a:t>Each camera sees the car briefly, from a different angle and distance</a:t>
            </a:r>
          </a:p>
        </p:txBody>
      </p:sp>
      <p:sp>
        <p:nvSpPr>
          <p:cNvPr id="19" name="TextBox 18"/>
          <p:cNvSpPr txBox="1"/>
          <p:nvPr/>
        </p:nvSpPr>
        <p:spPr>
          <a:xfrm>
            <a:off x="548640" y="4983480"/>
            <a:ext cx="1463040" cy="457200"/>
          </a:xfrm>
          <a:prstGeom prst="rect">
            <a:avLst/>
          </a:prstGeom>
          <a:noFill/>
        </p:spPr>
        <p:txBody>
          <a:bodyPr wrap="square" lIns="0" rIns="0" tIns="0" bIns="0" anchor="ctr">
            <a:spAutoFit/>
          </a:bodyPr>
          <a:lstStyle/>
          <a:p>
            <a:pPr algn="l">
              <a:spcAft>
                <a:spcPts val="600"/>
              </a:spcAft>
            </a:pPr>
            <a:r>
              <a:rPr sz="1800" b="1" i="0">
                <a:solidFill>
                  <a:srgbClr val="12A7A1"/>
                </a:solidFill>
                <a:latin typeface="Aptos Display"/>
              </a:rPr>
              <a:t>Objective</a:t>
            </a:r>
          </a:p>
        </p:txBody>
      </p:sp>
      <p:sp>
        <p:nvSpPr>
          <p:cNvPr id="20" name="TextBox 19"/>
          <p:cNvSpPr txBox="1"/>
          <p:nvPr/>
        </p:nvSpPr>
        <p:spPr>
          <a:xfrm>
            <a:off x="2011680" y="4892040"/>
            <a:ext cx="9601200" cy="731520"/>
          </a:xfrm>
          <a:prstGeom prst="rect">
            <a:avLst/>
          </a:prstGeom>
          <a:noFill/>
        </p:spPr>
        <p:txBody>
          <a:bodyPr wrap="square" lIns="0" rIns="0" tIns="0" bIns="0" anchor="t">
            <a:spAutoFit/>
          </a:bodyPr>
          <a:lstStyle/>
          <a:p>
            <a:pPr algn="l">
              <a:spcAft>
                <a:spcPts val="600"/>
              </a:spcAft>
            </a:pPr>
            <a:r>
              <a:rPr sz="2000" b="1" i="0">
                <a:solidFill>
                  <a:srgbClr val="161B22"/>
                </a:solidFill>
                <a:latin typeface="Aptos Display"/>
              </a:rPr>
              <a:t>Find a vehicle from a description, then show every camera it was seen in – with time span and a frame from each sighting.</a:t>
            </a:r>
          </a:p>
        </p:txBody>
      </p:sp>
      <p:sp>
        <p:nvSpPr>
          <p:cNvPr id="21" name="TextBox 20"/>
          <p:cNvSpPr txBox="1"/>
          <p:nvPr/>
        </p:nvSpPr>
        <p:spPr>
          <a:xfrm>
            <a:off x="2011680" y="5897880"/>
            <a:ext cx="9601200" cy="365760"/>
          </a:xfrm>
          <a:prstGeom prst="rect">
            <a:avLst/>
          </a:prstGeom>
          <a:noFill/>
        </p:spPr>
        <p:txBody>
          <a:bodyPr wrap="square" lIns="0" rIns="0" tIns="0" bIns="0" anchor="t">
            <a:spAutoFit/>
          </a:bodyPr>
          <a:lstStyle/>
          <a:p>
            <a:pPr algn="l">
              <a:spcAft>
                <a:spcPts val="600"/>
              </a:spcAft>
            </a:pPr>
            <a:r>
              <a:rPr sz="1300" b="1" i="0">
                <a:solidFill>
                  <a:srgbClr val="161B22"/>
                </a:solidFill>
                <a:latin typeface="Aptos"/>
              </a:rPr>
              <a:t>V-Trace ranks candidates for human review – it does not claim definitive identity.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How the User Uses V-Trace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Pick videos, describe the vehicle, select the right match – V-Trace shows where else it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3</a:t>
            </a:r>
          </a:p>
        </p:txBody>
      </p:sp>
      <p:sp>
        <p:nvSpPr>
          <p:cNvPr id="7" name="Rounded Rectangle 6"/>
          <p:cNvSpPr/>
          <p:nvPr/>
        </p:nvSpPr>
        <p:spPr>
          <a:xfrm>
            <a:off x="411480" y="1600200"/>
            <a:ext cx="1664208" cy="3291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VIDEOS</a:t>
            </a:r>
          </a:p>
        </p:txBody>
      </p:sp>
      <p:sp>
        <p:nvSpPr>
          <p:cNvPr id="9" name="TextBox 8"/>
          <p:cNvSpPr txBox="1"/>
          <p:nvPr/>
        </p:nvSpPr>
        <p:spPr>
          <a:xfrm>
            <a:off x="56692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Demo cameras on the platform</a:t>
            </a:r>
          </a:p>
          <a:p>
            <a:pPr algn="l">
              <a:spcAft>
                <a:spcPts val="200"/>
              </a:spcAft>
            </a:pPr>
            <a:r>
              <a:rPr sz="1400" b="0" i="0">
                <a:solidFill>
                  <a:srgbClr val="2B333C"/>
                </a:solidFill>
                <a:latin typeface="Aptos"/>
              </a:rPr>
              <a:t>or upload short clips</a:t>
            </a:r>
          </a:p>
        </p:txBody>
      </p:sp>
      <p:sp>
        <p:nvSpPr>
          <p:cNvPr id="10" name="Chevron 9"/>
          <p:cNvSpPr/>
          <p:nvPr/>
        </p:nvSpPr>
        <p:spPr>
          <a:xfrm>
            <a:off x="2121408"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368296" y="1600200"/>
            <a:ext cx="1664208" cy="3291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23744"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PROCESS</a:t>
            </a:r>
          </a:p>
        </p:txBody>
      </p:sp>
      <p:sp>
        <p:nvSpPr>
          <p:cNvPr id="13" name="TextBox 12"/>
          <p:cNvSpPr txBox="1"/>
          <p:nvPr/>
        </p:nvSpPr>
        <p:spPr>
          <a:xfrm>
            <a:off x="2523744"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Detect + track every vehicle</a:t>
            </a:r>
          </a:p>
          <a:p>
            <a:pPr algn="l">
              <a:spcAft>
                <a:spcPts val="200"/>
              </a:spcAft>
            </a:pPr>
            <a:r>
              <a:rPr sz="1400" b="0" i="0">
                <a:solidFill>
                  <a:srgbClr val="2B333C"/>
                </a:solidFill>
                <a:latin typeface="Aptos"/>
              </a:rPr>
              <a:t>→ sightings</a:t>
            </a:r>
          </a:p>
          <a:p>
            <a:pPr algn="l">
              <a:spcAft>
                <a:spcPts val="200"/>
              </a:spcAft>
            </a:pPr>
            <a:r>
              <a:rPr sz="1400" b="0" i="0">
                <a:solidFill>
                  <a:srgbClr val="2B333C"/>
                </a:solidFill>
                <a:latin typeface="Aptos"/>
              </a:rPr>
              <a:t>(red sedan, cam 1, 4 s)</a:t>
            </a:r>
          </a:p>
        </p:txBody>
      </p:sp>
      <p:sp>
        <p:nvSpPr>
          <p:cNvPr id="14" name="Chevron 13"/>
          <p:cNvSpPr/>
          <p:nvPr/>
        </p:nvSpPr>
        <p:spPr>
          <a:xfrm>
            <a:off x="4078224"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25112" y="1600200"/>
            <a:ext cx="1664208" cy="32918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1764792"/>
            <a:ext cx="1417320" cy="6400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DESCRIBE</a:t>
            </a:r>
          </a:p>
        </p:txBody>
      </p:sp>
      <p:sp>
        <p:nvSpPr>
          <p:cNvPr id="17" name="TextBox 16"/>
          <p:cNvSpPr txBox="1"/>
          <p:nvPr/>
        </p:nvSpPr>
        <p:spPr>
          <a:xfrm>
            <a:off x="4480560"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Red · sedan</a:t>
            </a:r>
          </a:p>
          <a:p>
            <a:pPr algn="l">
              <a:spcAft>
                <a:spcPts val="200"/>
              </a:spcAft>
            </a:pPr>
            <a:r>
              <a:rPr sz="1400" b="0" i="0">
                <a:solidFill>
                  <a:srgbClr val="2B333C"/>
                </a:solidFill>
                <a:latin typeface="Aptos"/>
              </a:rPr>
              <a:t>Plate SGX12??</a:t>
            </a:r>
          </a:p>
          <a:p>
            <a:pPr algn="l">
              <a:spcAft>
                <a:spcPts val="200"/>
              </a:spcAft>
            </a:pPr>
            <a:r>
              <a:rPr sz="1400" b="0" i="0">
                <a:solidFill>
                  <a:srgbClr val="2B333C"/>
                </a:solidFill>
                <a:latin typeface="Aptos"/>
              </a:rPr>
              <a:t>Rear spoiler</a:t>
            </a:r>
          </a:p>
        </p:txBody>
      </p:sp>
      <p:sp>
        <p:nvSpPr>
          <p:cNvPr id="18" name="Chevron 17"/>
          <p:cNvSpPr/>
          <p:nvPr/>
        </p:nvSpPr>
        <p:spPr>
          <a:xfrm>
            <a:off x="6035040"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81928" y="1600200"/>
            <a:ext cx="1664208" cy="32918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1764792"/>
            <a:ext cx="1417320" cy="640080"/>
          </a:xfrm>
          <a:prstGeom prst="rect">
            <a:avLst/>
          </a:prstGeom>
          <a:noFill/>
        </p:spPr>
        <p:txBody>
          <a:bodyPr wrap="square" lIns="0" rIns="0" tIns="0" bIns="0" anchor="t">
            <a:spAutoFit/>
          </a:bodyPr>
          <a:lstStyle/>
          <a:p>
            <a:pPr algn="l">
              <a:spcAft>
                <a:spcPts val="600"/>
              </a:spcAft>
            </a:pPr>
            <a:r>
              <a:rPr sz="1700" b="1" i="0">
                <a:solidFill>
                  <a:srgbClr val="0E8782"/>
                </a:solidFill>
                <a:latin typeface="Aptos Display"/>
              </a:rPr>
              <a:t>4  RANK</a:t>
            </a:r>
          </a:p>
        </p:txBody>
      </p:sp>
      <p:sp>
        <p:nvSpPr>
          <p:cNvPr id="21" name="TextBox 20"/>
          <p:cNvSpPr txBox="1"/>
          <p:nvPr/>
        </p:nvSpPr>
        <p:spPr>
          <a:xfrm>
            <a:off x="6437376"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#1 camA · 0:41</a:t>
            </a:r>
          </a:p>
          <a:p>
            <a:pPr algn="l">
              <a:spcAft>
                <a:spcPts val="200"/>
              </a:spcAft>
            </a:pPr>
            <a:r>
              <a:rPr sz="1400" b="0" i="0">
                <a:solidFill>
                  <a:srgbClr val="2B333C"/>
                </a:solidFill>
                <a:latin typeface="Aptos"/>
              </a:rPr>
              <a:t>#2 camB · 0:42</a:t>
            </a:r>
          </a:p>
          <a:p>
            <a:pPr algn="l">
              <a:spcAft>
                <a:spcPts val="200"/>
              </a:spcAft>
            </a:pPr>
            <a:r>
              <a:rPr sz="1400" b="0" i="0">
                <a:solidFill>
                  <a:srgbClr val="2B333C"/>
                </a:solidFill>
                <a:latin typeface="Aptos"/>
              </a:rPr>
              <a:t>#3 camC · 0:03</a:t>
            </a:r>
          </a:p>
        </p:txBody>
      </p:sp>
      <p:sp>
        <p:nvSpPr>
          <p:cNvPr id="22" name="Chevron 21"/>
          <p:cNvSpPr/>
          <p:nvPr/>
        </p:nvSpPr>
        <p:spPr>
          <a:xfrm>
            <a:off x="7991856"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238744" y="1600200"/>
            <a:ext cx="1664208" cy="3291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5  SELECT</a:t>
            </a:r>
          </a:p>
        </p:txBody>
      </p:sp>
      <p:sp>
        <p:nvSpPr>
          <p:cNvPr id="25" name="TextBox 24"/>
          <p:cNvSpPr txBox="1"/>
          <p:nvPr/>
        </p:nvSpPr>
        <p:spPr>
          <a:xfrm>
            <a:off x="8394192"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User picks the right vehicle</a:t>
            </a:r>
          </a:p>
        </p:txBody>
      </p:sp>
      <p:sp>
        <p:nvSpPr>
          <p:cNvPr id="26" name="Chevron 25"/>
          <p:cNvSpPr/>
          <p:nvPr/>
        </p:nvSpPr>
        <p:spPr>
          <a:xfrm>
            <a:off x="9948672" y="3017520"/>
            <a:ext cx="201168" cy="41148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95560" y="1600200"/>
            <a:ext cx="1664208" cy="3291840"/>
          </a:xfrm>
          <a:prstGeom prst="roundRect">
            <a:avLst>
              <a:gd name="adj" fmla="val 3500"/>
            </a:avLst>
          </a:prstGeom>
          <a:solidFill>
            <a:srgbClr val="E8F3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351008" y="1764792"/>
            <a:ext cx="1417320" cy="640080"/>
          </a:xfrm>
          <a:prstGeom prst="rect">
            <a:avLst/>
          </a:prstGeom>
          <a:noFill/>
        </p:spPr>
        <p:txBody>
          <a:bodyPr wrap="square" lIns="0" rIns="0" tIns="0" bIns="0" anchor="t">
            <a:spAutoFit/>
          </a:bodyPr>
          <a:lstStyle/>
          <a:p>
            <a:pPr algn="l">
              <a:spcAft>
                <a:spcPts val="600"/>
              </a:spcAft>
            </a:pPr>
            <a:r>
              <a:rPr sz="1700" b="1" i="0">
                <a:solidFill>
                  <a:srgbClr val="3E8E3A"/>
                </a:solidFill>
                <a:latin typeface="Aptos Display"/>
              </a:rPr>
              <a:t>6  WHERE SEEN</a:t>
            </a:r>
          </a:p>
        </p:txBody>
      </p:sp>
      <p:sp>
        <p:nvSpPr>
          <p:cNvPr id="29" name="TextBox 28"/>
          <p:cNvSpPr txBox="1"/>
          <p:nvPr/>
        </p:nvSpPr>
        <p:spPr>
          <a:xfrm>
            <a:off x="10351008" y="2697480"/>
            <a:ext cx="1417320" cy="201168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camA 0:41 → camB 0:42 → camC 0:44</a:t>
            </a:r>
          </a:p>
          <a:p>
            <a:pPr algn="l">
              <a:spcAft>
                <a:spcPts val="200"/>
              </a:spcAft>
            </a:pPr>
            <a:r>
              <a:rPr sz="1400" b="0" i="0">
                <a:solidFill>
                  <a:srgbClr val="2B333C"/>
                </a:solidFill>
                <a:latin typeface="Aptos"/>
              </a:rPr>
              <a:t>+ a frame from each</a:t>
            </a:r>
          </a:p>
        </p:txBody>
      </p:sp>
      <p:cxnSp>
        <p:nvCxnSpPr>
          <p:cNvPr id="30" name="Connector 29"/>
          <p:cNvCxnSpPr/>
          <p:nvPr/>
        </p:nvCxnSpPr>
        <p:spPr>
          <a:xfrm>
            <a:off x="914400" y="5257800"/>
            <a:ext cx="2926080" cy="0"/>
          </a:xfrm>
          <a:prstGeom prst="line">
            <a:avLst/>
          </a:prstGeom>
          <a:ln w="19050">
            <a:solidFill>
              <a:srgbClr val="15324B"/>
            </a:solidFill>
            <a:prstDash val="sysDot"/>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14400" y="5486400"/>
            <a:ext cx="2926080" cy="365760"/>
          </a:xfrm>
          <a:prstGeom prst="rect">
            <a:avLst/>
          </a:prstGeom>
          <a:noFill/>
        </p:spPr>
        <p:txBody>
          <a:bodyPr wrap="square" lIns="0" rIns="0" tIns="0" bIns="0" anchor="t">
            <a:spAutoFit/>
          </a:bodyPr>
          <a:lstStyle/>
          <a:p>
            <a:pPr algn="ctr">
              <a:spcAft>
                <a:spcPts val="600"/>
              </a:spcAft>
            </a:pPr>
            <a:r>
              <a:rPr sz="1300" b="1" i="0">
                <a:solidFill>
                  <a:srgbClr val="15324B"/>
                </a:solidFill>
                <a:latin typeface="Aptos Display"/>
              </a:rPr>
              <a:t>VIDEO → SIGHTINGS</a:t>
            </a:r>
          </a:p>
        </p:txBody>
      </p:sp>
      <p:cxnSp>
        <p:nvCxnSpPr>
          <p:cNvPr id="32" name="Connector 31"/>
          <p:cNvCxnSpPr/>
          <p:nvPr/>
        </p:nvCxnSpPr>
        <p:spPr>
          <a:xfrm>
            <a:off x="4389120" y="5257800"/>
            <a:ext cx="3291840" cy="0"/>
          </a:xfrm>
          <a:prstGeom prst="line">
            <a:avLst/>
          </a:prstGeom>
          <a:ln w="19050">
            <a:solidFill>
              <a:srgbClr val="12A7A1"/>
            </a:solidFill>
            <a:prstDash val="sysDot"/>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389120" y="5486400"/>
            <a:ext cx="3291840" cy="365760"/>
          </a:xfrm>
          <a:prstGeom prst="rect">
            <a:avLst/>
          </a:prstGeom>
          <a:noFill/>
        </p:spPr>
        <p:txBody>
          <a:bodyPr wrap="square" lIns="0" rIns="0" tIns="0" bIns="0" anchor="t">
            <a:spAutoFit/>
          </a:bodyPr>
          <a:lstStyle/>
          <a:p>
            <a:pPr algn="ctr">
              <a:spcAft>
                <a:spcPts val="600"/>
              </a:spcAft>
            </a:pPr>
            <a:r>
              <a:rPr sz="1300" b="1" i="0">
                <a:solidFill>
                  <a:srgbClr val="12A7A1"/>
                </a:solidFill>
                <a:latin typeface="Aptos Display"/>
              </a:rPr>
              <a:t>DESCRIPTION → RANKED MATCHES</a:t>
            </a:r>
          </a:p>
        </p:txBody>
      </p:sp>
      <p:cxnSp>
        <p:nvCxnSpPr>
          <p:cNvPr id="34" name="Connector 33"/>
          <p:cNvCxnSpPr/>
          <p:nvPr/>
        </p:nvCxnSpPr>
        <p:spPr>
          <a:xfrm>
            <a:off x="8229600" y="5257800"/>
            <a:ext cx="3291840" cy="0"/>
          </a:xfrm>
          <a:prstGeom prst="line">
            <a:avLst/>
          </a:prstGeom>
          <a:ln w="19050">
            <a:solidFill>
              <a:srgbClr val="5DC55B"/>
            </a:solidFill>
            <a:prstDash val="sysDot"/>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229600" y="5486400"/>
            <a:ext cx="3291839" cy="365760"/>
          </a:xfrm>
          <a:prstGeom prst="rect">
            <a:avLst/>
          </a:prstGeom>
          <a:noFill/>
        </p:spPr>
        <p:txBody>
          <a:bodyPr wrap="square" lIns="0" rIns="0" tIns="0" bIns="0" anchor="t">
            <a:spAutoFit/>
          </a:bodyPr>
          <a:lstStyle/>
          <a:p>
            <a:pPr algn="ctr">
              <a:spcAft>
                <a:spcPts val="600"/>
              </a:spcAft>
            </a:pPr>
            <a:r>
              <a:rPr sz="1300" b="1" i="0">
                <a:solidFill>
                  <a:srgbClr val="5DC55B"/>
                </a:solidFill>
                <a:latin typeface="Aptos Display"/>
              </a:rPr>
              <a:t>SELECTED → OTHER CAMERAS (Re-ID)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System Design</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Every step uses a published, pretrained model – nothing is trained for this project.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4</a:t>
            </a:r>
          </a:p>
        </p:txBody>
      </p:sp>
      <p:sp>
        <p:nvSpPr>
          <p:cNvPr id="7" name="Rounded Rectangle 6"/>
          <p:cNvSpPr/>
          <p:nvPr/>
        </p:nvSpPr>
        <p:spPr>
          <a:xfrm>
            <a:off x="365760"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VIDEOS</a:t>
            </a:r>
          </a:p>
        </p:txBody>
      </p:sp>
      <p:sp>
        <p:nvSpPr>
          <p:cNvPr id="9" name="TextBox 8"/>
          <p:cNvSpPr txBox="1"/>
          <p:nvPr/>
        </p:nvSpPr>
        <p:spPr>
          <a:xfrm>
            <a:off x="50292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Demo or uploaded</a:t>
            </a:r>
          </a:p>
          <a:p>
            <a:pPr algn="l">
              <a:spcAft>
                <a:spcPts val="300"/>
              </a:spcAft>
            </a:pPr>
            <a:r>
              <a:rPr sz="1300" b="0" i="0">
                <a:solidFill>
                  <a:srgbClr val="2B333C"/>
                </a:solidFill>
                <a:latin typeface="Aptos"/>
              </a:rPr>
              <a:t>(one video = one camera)</a:t>
            </a:r>
          </a:p>
        </p:txBody>
      </p:sp>
      <p:sp>
        <p:nvSpPr>
          <p:cNvPr id="10" name="Chevron 9"/>
          <p:cNvSpPr/>
          <p:nvPr/>
        </p:nvSpPr>
        <p:spPr>
          <a:xfrm>
            <a:off x="1856231"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048256" y="1600200"/>
            <a:ext cx="1463040" cy="356616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8541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DETECT + TRACK</a:t>
            </a:r>
          </a:p>
        </p:txBody>
      </p:sp>
      <p:sp>
        <p:nvSpPr>
          <p:cNvPr id="13" name="TextBox 12"/>
          <p:cNvSpPr txBox="1"/>
          <p:nvPr/>
        </p:nvSpPr>
        <p:spPr>
          <a:xfrm>
            <a:off x="218541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YOLO11n + ByteTrack</a:t>
            </a:r>
          </a:p>
          <a:p>
            <a:pPr algn="l">
              <a:spcAft>
                <a:spcPts val="300"/>
              </a:spcAft>
            </a:pPr>
            <a:r>
              <a:rPr sz="1300" b="0" i="0">
                <a:solidFill>
                  <a:srgbClr val="2B333C"/>
                </a:solidFill>
                <a:latin typeface="Aptos"/>
              </a:rPr>
              <a:t>→ sightings</a:t>
            </a:r>
          </a:p>
        </p:txBody>
      </p:sp>
      <p:sp>
        <p:nvSpPr>
          <p:cNvPr id="14" name="Chevron 13"/>
          <p:cNvSpPr/>
          <p:nvPr/>
        </p:nvSpPr>
        <p:spPr>
          <a:xfrm>
            <a:off x="3538728"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730752" y="1600200"/>
            <a:ext cx="1463040" cy="356616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67912"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DESCRIBE</a:t>
            </a:r>
          </a:p>
        </p:txBody>
      </p:sp>
      <p:sp>
        <p:nvSpPr>
          <p:cNvPr id="17" name="TextBox 16"/>
          <p:cNvSpPr txBox="1"/>
          <p:nvPr/>
        </p:nvSpPr>
        <p:spPr>
          <a:xfrm>
            <a:off x="3867912"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(VeRi-776)</a:t>
            </a:r>
          </a:p>
          <a:p>
            <a:pPr algn="l">
              <a:spcAft>
                <a:spcPts val="300"/>
              </a:spcAft>
            </a:pPr>
            <a:r>
              <a:rPr sz="1300" b="0" i="0">
                <a:solidFill>
                  <a:srgbClr val="2B333C"/>
                </a:solidFill>
                <a:latin typeface="Aptos"/>
              </a:rPr>
              <a:t>CLIP zero-shot</a:t>
            </a:r>
          </a:p>
          <a:p>
            <a:pPr algn="l">
              <a:spcAft>
                <a:spcPts val="300"/>
              </a:spcAft>
            </a:pPr>
            <a:r>
              <a:rPr sz="1300" b="0" i="0">
                <a:solidFill>
                  <a:srgbClr val="2B333C"/>
                </a:solidFill>
                <a:latin typeface="Aptos"/>
              </a:rPr>
              <a:t>EasyOCR</a:t>
            </a:r>
          </a:p>
        </p:txBody>
      </p:sp>
      <p:sp>
        <p:nvSpPr>
          <p:cNvPr id="18" name="Chevron 17"/>
          <p:cNvSpPr/>
          <p:nvPr/>
        </p:nvSpPr>
        <p:spPr>
          <a:xfrm>
            <a:off x="5221224"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3248" y="1600200"/>
            <a:ext cx="1463040" cy="3566160"/>
          </a:xfrm>
          <a:prstGeom prst="roundRect">
            <a:avLst>
              <a:gd name="adj" fmla="val 3500"/>
            </a:avLst>
          </a:prstGeom>
          <a:solidFill>
            <a:srgbClr val="E6F2E9"/>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SEARCH</a:t>
            </a:r>
          </a:p>
        </p:txBody>
      </p:sp>
      <p:sp>
        <p:nvSpPr>
          <p:cNvPr id="21" name="TextBox 20"/>
          <p:cNvSpPr txBox="1"/>
          <p:nvPr/>
        </p:nvSpPr>
        <p:spPr>
          <a:xfrm>
            <a:off x="5550408"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description</a:t>
            </a:r>
          </a:p>
          <a:p>
            <a:pPr algn="l">
              <a:spcAft>
                <a:spcPts val="300"/>
              </a:spcAft>
            </a:pPr>
            <a:r>
              <a:rPr sz="1300" b="0" i="0">
                <a:solidFill>
                  <a:srgbClr val="2B333C"/>
                </a:solidFill>
                <a:latin typeface="Aptos"/>
              </a:rPr>
              <a:t>→ ranked matches</a:t>
            </a:r>
          </a:p>
        </p:txBody>
      </p:sp>
      <p:sp>
        <p:nvSpPr>
          <p:cNvPr id="22" name="Chevron 21"/>
          <p:cNvSpPr/>
          <p:nvPr/>
        </p:nvSpPr>
        <p:spPr>
          <a:xfrm>
            <a:off x="6903720"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95744" y="1600200"/>
            <a:ext cx="1463040" cy="356616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SELECT</a:t>
            </a:r>
          </a:p>
        </p:txBody>
      </p:sp>
      <p:sp>
        <p:nvSpPr>
          <p:cNvPr id="25" name="TextBox 24"/>
          <p:cNvSpPr txBox="1"/>
          <p:nvPr/>
        </p:nvSpPr>
        <p:spPr>
          <a:xfrm>
            <a:off x="7232904"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User picks the right vehicle</a:t>
            </a:r>
          </a:p>
        </p:txBody>
      </p:sp>
      <p:sp>
        <p:nvSpPr>
          <p:cNvPr id="26" name="Chevron 25"/>
          <p:cNvSpPr/>
          <p:nvPr/>
        </p:nvSpPr>
        <p:spPr>
          <a:xfrm>
            <a:off x="8586216"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778240" y="1600200"/>
            <a:ext cx="1463040" cy="3566160"/>
          </a:xfrm>
          <a:prstGeom prst="roundRect">
            <a:avLst>
              <a:gd name="adj" fmla="val 3500"/>
            </a:avLst>
          </a:prstGeom>
          <a:solidFill>
            <a:srgbClr val="DDE7EC"/>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15400"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Re-ID</a:t>
            </a:r>
          </a:p>
        </p:txBody>
      </p:sp>
      <p:sp>
        <p:nvSpPr>
          <p:cNvPr id="29" name="TextBox 28"/>
          <p:cNvSpPr txBox="1"/>
          <p:nvPr/>
        </p:nvSpPr>
        <p:spPr>
          <a:xfrm>
            <a:off x="8915400"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FastReID similarity</a:t>
            </a:r>
          </a:p>
          <a:p>
            <a:pPr algn="l">
              <a:spcAft>
                <a:spcPts val="300"/>
              </a:spcAft>
            </a:pPr>
            <a:r>
              <a:rPr sz="1300" b="0" i="0">
                <a:solidFill>
                  <a:srgbClr val="2B333C"/>
                </a:solidFill>
                <a:latin typeface="Aptos"/>
              </a:rPr>
              <a:t>threshold + ratio test</a:t>
            </a:r>
          </a:p>
          <a:p>
            <a:pPr algn="l">
              <a:spcAft>
                <a:spcPts val="300"/>
              </a:spcAft>
            </a:pPr>
            <a:r>
              <a:rPr sz="1300" b="0" i="0">
                <a:solidFill>
                  <a:srgbClr val="2B333C"/>
                </a:solidFill>
                <a:latin typeface="Aptos"/>
              </a:rPr>
              <a:t>+ time window</a:t>
            </a:r>
          </a:p>
        </p:txBody>
      </p:sp>
      <p:sp>
        <p:nvSpPr>
          <p:cNvPr id="30" name="Chevron 29"/>
          <p:cNvSpPr/>
          <p:nvPr/>
        </p:nvSpPr>
        <p:spPr>
          <a:xfrm>
            <a:off x="10268712" y="3154680"/>
            <a:ext cx="164592" cy="365760"/>
          </a:xfrm>
          <a:prstGeom prst="chevron">
            <a:avLst/>
          </a:prstGeom>
          <a:solidFill>
            <a:srgbClr val="12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460736" y="1600200"/>
            <a:ext cx="1463040" cy="356616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7896" y="1764792"/>
            <a:ext cx="1234440" cy="73152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WHERE SEEN</a:t>
            </a:r>
          </a:p>
        </p:txBody>
      </p:sp>
      <p:sp>
        <p:nvSpPr>
          <p:cNvPr id="33" name="TextBox 32"/>
          <p:cNvSpPr txBox="1"/>
          <p:nvPr/>
        </p:nvSpPr>
        <p:spPr>
          <a:xfrm>
            <a:off x="10597896" y="2743200"/>
            <a:ext cx="1234440" cy="2286000"/>
          </a:xfrm>
          <a:prstGeom prst="rect">
            <a:avLst/>
          </a:prstGeom>
          <a:noFill/>
        </p:spPr>
        <p:txBody>
          <a:bodyPr wrap="square" lIns="0" rIns="0" tIns="0" bIns="0" anchor="t">
            <a:spAutoFit/>
          </a:bodyPr>
          <a:lstStyle/>
          <a:p>
            <a:pPr algn="l">
              <a:spcAft>
                <a:spcPts val="300"/>
              </a:spcAft>
            </a:pPr>
            <a:r>
              <a:rPr sz="1300" b="0" i="0">
                <a:solidFill>
                  <a:srgbClr val="2B333C"/>
                </a:solidFill>
                <a:latin typeface="Aptos"/>
              </a:rPr>
              <a:t>Camera · time span</a:t>
            </a:r>
          </a:p>
          <a:p>
            <a:pPr algn="l">
              <a:spcAft>
                <a:spcPts val="300"/>
              </a:spcAft>
            </a:pPr>
            <a:r>
              <a:rPr sz="1300" b="0" i="0">
                <a:solidFill>
                  <a:srgbClr val="2B333C"/>
                </a:solidFill>
                <a:latin typeface="Aptos"/>
              </a:rPr>
              <a:t>· frame per sighting</a:t>
            </a:r>
          </a:p>
        </p:txBody>
      </p:sp>
      <p:sp>
        <p:nvSpPr>
          <p:cNvPr id="34" name="TextBox 33"/>
          <p:cNvSpPr txBox="1"/>
          <p:nvPr/>
        </p:nvSpPr>
        <p:spPr>
          <a:xfrm>
            <a:off x="411480" y="5532120"/>
            <a:ext cx="11338560" cy="5486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a:rPr>
              <a:t>Sighting = all frames in which one vehicle is seen continuously in one camera</a:t>
            </a:r>
          </a:p>
        </p:txBody>
      </p:sp>
      <p:sp>
        <p:nvSpPr>
          <p:cNvPr id="35" name="TextBox 34"/>
          <p:cNvSpPr txBox="1"/>
          <p:nvPr/>
        </p:nvSpPr>
        <p:spPr>
          <a:xfrm>
            <a:off x="411480" y="5897880"/>
            <a:ext cx="11338560" cy="365760"/>
          </a:xfrm>
          <a:prstGeom prst="rect">
            <a:avLst/>
          </a:prstGeom>
          <a:noFill/>
        </p:spPr>
        <p:txBody>
          <a:bodyPr wrap="square" lIns="0" rIns="0" tIns="0" bIns="0" anchor="t">
            <a:spAutoFit/>
          </a:bodyPr>
          <a:lstStyle/>
          <a:p>
            <a:pPr algn="ctr">
              <a:spcAft>
                <a:spcPts val="600"/>
              </a:spcAft>
            </a:pPr>
            <a:r>
              <a:rPr sz="1200" b="0" i="0">
                <a:solidFill>
                  <a:srgbClr val="5C6670"/>
                </a:solidFill>
                <a:latin typeface="Aptos"/>
              </a:rPr>
              <a:t>Streamlit app with admin sign-in: Search page (describe → best matches → where seen) · How it works page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Pretrained Models Used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model is used exactly as published; V-Trace connects them into one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5</a:t>
            </a:r>
          </a:p>
        </p:txBody>
      </p:sp>
      <p:sp>
        <p:nvSpPr>
          <p:cNvPr id="7" name="Rounded Rectangle 6"/>
          <p:cNvSpPr/>
          <p:nvPr/>
        </p:nvSpPr>
        <p:spPr>
          <a:xfrm>
            <a:off x="548640" y="1554480"/>
            <a:ext cx="3520440" cy="2103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YOLO11n</a:t>
            </a:r>
          </a:p>
        </p:txBody>
      </p:sp>
      <p:sp>
        <p:nvSpPr>
          <p:cNvPr id="9" name="TextBox 8"/>
          <p:cNvSpPr txBox="1"/>
          <p:nvPr/>
        </p:nvSpPr>
        <p:spPr>
          <a:xfrm>
            <a:off x="77724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detection</a:t>
            </a:r>
          </a:p>
          <a:p>
            <a:pPr algn="l">
              <a:spcAft>
                <a:spcPts val="200"/>
              </a:spcAft>
            </a:pPr>
            <a:r>
              <a:rPr sz="1400" b="0" i="0">
                <a:solidFill>
                  <a:srgbClr val="2B333C"/>
                </a:solidFill>
                <a:latin typeface="Aptos"/>
              </a:rPr>
              <a:t>(COCO: car · motorcycle · bus · truck)</a:t>
            </a:r>
          </a:p>
        </p:txBody>
      </p:sp>
      <p:sp>
        <p:nvSpPr>
          <p:cNvPr id="10" name="TextBox 9"/>
          <p:cNvSpPr txBox="1"/>
          <p:nvPr/>
        </p:nvSpPr>
        <p:spPr>
          <a:xfrm>
            <a:off x="77724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1" name="Rounded Rectangle 10"/>
          <p:cNvSpPr/>
          <p:nvPr/>
        </p:nvSpPr>
        <p:spPr>
          <a:xfrm>
            <a:off x="4343400" y="1554480"/>
            <a:ext cx="3520440" cy="2103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ByteTrack</a:t>
            </a:r>
          </a:p>
        </p:txBody>
      </p:sp>
      <p:sp>
        <p:nvSpPr>
          <p:cNvPr id="13" name="TextBox 12"/>
          <p:cNvSpPr txBox="1"/>
          <p:nvPr/>
        </p:nvSpPr>
        <p:spPr>
          <a:xfrm>
            <a:off x="457200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Follows each vehicle while in view</a:t>
            </a:r>
          </a:p>
          <a:p>
            <a:pPr algn="l">
              <a:spcAft>
                <a:spcPts val="200"/>
              </a:spcAft>
            </a:pPr>
            <a:r>
              <a:rPr sz="1400" b="0" i="0">
                <a:solidFill>
                  <a:srgbClr val="2B333C"/>
                </a:solidFill>
                <a:latin typeface="Aptos"/>
              </a:rPr>
              <a:t>→ one sighting per vehicle</a:t>
            </a:r>
          </a:p>
        </p:txBody>
      </p:sp>
      <p:sp>
        <p:nvSpPr>
          <p:cNvPr id="14" name="TextBox 13"/>
          <p:cNvSpPr txBox="1"/>
          <p:nvPr/>
        </p:nvSpPr>
        <p:spPr>
          <a:xfrm>
            <a:off x="4572000" y="3200400"/>
            <a:ext cx="3108960" cy="320040"/>
          </a:xfrm>
          <a:prstGeom prst="rect">
            <a:avLst/>
          </a:prstGeom>
          <a:noFill/>
        </p:spPr>
        <p:txBody>
          <a:bodyPr wrap="square" lIns="0" rIns="0" tIns="0" bIns="0" anchor="t">
            <a:spAutoFit/>
          </a:bodyPr>
          <a:lstStyle/>
          <a:p>
            <a:pPr algn="l">
              <a:spcAft>
                <a:spcPts val="600"/>
              </a:spcAft>
            </a:pPr>
            <a:r>
              <a:rPr sz="1200" b="1" i="0">
                <a:solidFill>
                  <a:srgbClr val="4FA5B5"/>
                </a:solidFill>
                <a:latin typeface="Aptos"/>
              </a:rPr>
              <a:t>Ultralytics</a:t>
            </a:r>
          </a:p>
        </p:txBody>
      </p:sp>
      <p:sp>
        <p:nvSpPr>
          <p:cNvPr id="15" name="Rounded Rectangle 14"/>
          <p:cNvSpPr/>
          <p:nvPr/>
        </p:nvSpPr>
        <p:spPr>
          <a:xfrm>
            <a:off x="8138160" y="1554480"/>
            <a:ext cx="3520440" cy="2103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CLIP ViT-B/32</a:t>
            </a:r>
          </a:p>
        </p:txBody>
      </p:sp>
      <p:sp>
        <p:nvSpPr>
          <p:cNvPr id="17" name="TextBox 16"/>
          <p:cNvSpPr txBox="1"/>
          <p:nvPr/>
        </p:nvSpPr>
        <p:spPr>
          <a:xfrm>
            <a:off x="8366760" y="2240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Zero-shot colour · type · features · free text</a:t>
            </a:r>
          </a:p>
        </p:txBody>
      </p:sp>
      <p:sp>
        <p:nvSpPr>
          <p:cNvPr id="18" name="TextBox 17"/>
          <p:cNvSpPr txBox="1"/>
          <p:nvPr/>
        </p:nvSpPr>
        <p:spPr>
          <a:xfrm>
            <a:off x="8366760" y="3200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OpenAI / open_clip</a:t>
            </a:r>
          </a:p>
        </p:txBody>
      </p:sp>
      <p:sp>
        <p:nvSpPr>
          <p:cNvPr id="19" name="Rounded Rectangle 18"/>
          <p:cNvSpPr/>
          <p:nvPr/>
        </p:nvSpPr>
        <p:spPr>
          <a:xfrm>
            <a:off x="2446020" y="3840480"/>
            <a:ext cx="3520440" cy="2103120"/>
          </a:xfrm>
          <a:prstGeom prst="roundRect">
            <a:avLst>
              <a:gd name="adj" fmla="val 3500"/>
            </a:avLst>
          </a:prstGeom>
          <a:solidFill>
            <a:srgbClr val="FDF4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7462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EasyOCR</a:t>
            </a:r>
          </a:p>
        </p:txBody>
      </p:sp>
      <p:sp>
        <p:nvSpPr>
          <p:cNvPr id="21" name="TextBox 20"/>
          <p:cNvSpPr txBox="1"/>
          <p:nvPr/>
        </p:nvSpPr>
        <p:spPr>
          <a:xfrm>
            <a:off x="267462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Licence-plate text, wildcard matching (?)</a:t>
            </a:r>
          </a:p>
        </p:txBody>
      </p:sp>
      <p:sp>
        <p:nvSpPr>
          <p:cNvPr id="22" name="TextBox 21"/>
          <p:cNvSpPr txBox="1"/>
          <p:nvPr/>
        </p:nvSpPr>
        <p:spPr>
          <a:xfrm>
            <a:off x="2674620" y="5486400"/>
            <a:ext cx="3108960" cy="320040"/>
          </a:xfrm>
          <a:prstGeom prst="rect">
            <a:avLst/>
          </a:prstGeom>
          <a:noFill/>
        </p:spPr>
        <p:txBody>
          <a:bodyPr wrap="square" lIns="0" rIns="0" tIns="0" bIns="0" anchor="t">
            <a:spAutoFit/>
          </a:bodyPr>
          <a:lstStyle/>
          <a:p>
            <a:pPr algn="l">
              <a:spcAft>
                <a:spcPts val="600"/>
              </a:spcAft>
            </a:pPr>
            <a:r>
              <a:rPr sz="1200" b="1" i="0">
                <a:solidFill>
                  <a:srgbClr val="D08A55"/>
                </a:solidFill>
                <a:latin typeface="Aptos"/>
              </a:rPr>
              <a:t>JaidedAI</a:t>
            </a:r>
          </a:p>
        </p:txBody>
      </p:sp>
      <p:sp>
        <p:nvSpPr>
          <p:cNvPr id="23" name="Rounded Rectangle 22"/>
          <p:cNvSpPr/>
          <p:nvPr/>
        </p:nvSpPr>
        <p:spPr>
          <a:xfrm>
            <a:off x="6240780" y="3840480"/>
            <a:ext cx="3520440" cy="210312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69380" y="4023360"/>
            <a:ext cx="3108960" cy="411480"/>
          </a:xfrm>
          <a:prstGeom prst="rect">
            <a:avLst/>
          </a:prstGeom>
          <a:noFill/>
        </p:spPr>
        <p:txBody>
          <a:bodyPr wrap="square" lIns="0" rIns="0" tIns="0" bIns="0" anchor="t">
            <a:spAutoFit/>
          </a:bodyPr>
          <a:lstStyle/>
          <a:p>
            <a:pPr algn="l">
              <a:spcAft>
                <a:spcPts val="600"/>
              </a:spcAft>
            </a:pPr>
            <a:r>
              <a:rPr sz="1800" b="1" i="0">
                <a:solidFill>
                  <a:srgbClr val="161B22"/>
                </a:solidFill>
                <a:latin typeface="Aptos Display"/>
              </a:rPr>
              <a:t>FastReID SBS(R50-ibn)</a:t>
            </a:r>
          </a:p>
        </p:txBody>
      </p:sp>
      <p:sp>
        <p:nvSpPr>
          <p:cNvPr id="25" name="TextBox 24"/>
          <p:cNvSpPr txBox="1"/>
          <p:nvPr/>
        </p:nvSpPr>
        <p:spPr>
          <a:xfrm>
            <a:off x="6469380" y="4526280"/>
            <a:ext cx="3108960" cy="914400"/>
          </a:xfrm>
          <a:prstGeom prst="rect">
            <a:avLst/>
          </a:prstGeom>
          <a:noFill/>
        </p:spPr>
        <p:txBody>
          <a:bodyPr wrap="square" lIns="0" rIns="0" tIns="0" bIns="0" anchor="t">
            <a:spAutoFit/>
          </a:bodyPr>
          <a:lstStyle/>
          <a:p>
            <a:pPr algn="l">
              <a:spcAft>
                <a:spcPts val="200"/>
              </a:spcAft>
            </a:pPr>
            <a:r>
              <a:rPr sz="1400" b="0" i="0">
                <a:solidFill>
                  <a:srgbClr val="2B333C"/>
                </a:solidFill>
                <a:latin typeface="Aptos"/>
              </a:rPr>
              <a:t>Vehicle Re-ID, trained on VeRi-776</a:t>
            </a:r>
          </a:p>
          <a:p>
            <a:pPr algn="l">
              <a:spcAft>
                <a:spcPts val="200"/>
              </a:spcAft>
            </a:pPr>
            <a:r>
              <a:rPr sz="1400" b="0" i="0">
                <a:solidFill>
                  <a:srgbClr val="2B333C"/>
                </a:solidFill>
                <a:latin typeface="Aptos"/>
              </a:rPr>
              <a:t>2048-d signature per vehicle</a:t>
            </a:r>
          </a:p>
        </p:txBody>
      </p:sp>
      <p:sp>
        <p:nvSpPr>
          <p:cNvPr id="26" name="TextBox 25"/>
          <p:cNvSpPr txBox="1"/>
          <p:nvPr/>
        </p:nvSpPr>
        <p:spPr>
          <a:xfrm>
            <a:off x="6469380" y="5486400"/>
            <a:ext cx="3108960" cy="320040"/>
          </a:xfrm>
          <a:prstGeom prst="rect">
            <a:avLst/>
          </a:prstGeom>
          <a:noFill/>
        </p:spPr>
        <p:txBody>
          <a:bodyPr wrap="square" lIns="0" rIns="0" tIns="0" bIns="0" anchor="t">
            <a:spAutoFit/>
          </a:bodyPr>
          <a:lstStyle/>
          <a:p>
            <a:pPr algn="l">
              <a:spcAft>
                <a:spcPts val="600"/>
              </a:spcAft>
            </a:pPr>
            <a:r>
              <a:rPr sz="1200" b="1" i="0">
                <a:solidFill>
                  <a:srgbClr val="7E6DB8"/>
                </a:solidFill>
                <a:latin typeface="Aptos"/>
              </a:rPr>
              <a:t>JDAI-CV · VeRi authors' team</a:t>
            </a:r>
          </a:p>
        </p:txBody>
      </p:sp>
      <p:sp>
        <p:nvSpPr>
          <p:cNvPr id="27" name="Rounded Rectangle 26"/>
          <p:cNvSpPr/>
          <p:nvPr/>
        </p:nvSpPr>
        <p:spPr>
          <a:xfrm>
            <a:off x="548640" y="6080760"/>
            <a:ext cx="1110996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NO TRAINING: PUBLISHED WEIGHTS, USED 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Search &amp; Matching</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description score for step one; a cautious same-vehicle rule for step two.</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6</a:t>
            </a:r>
          </a:p>
        </p:txBody>
      </p:sp>
      <p:sp>
        <p:nvSpPr>
          <p:cNvPr id="7" name="Rounded Rectangle 6"/>
          <p:cNvSpPr/>
          <p:nvPr/>
        </p:nvSpPr>
        <p:spPr>
          <a:xfrm>
            <a:off x="548640" y="1554480"/>
            <a:ext cx="5120640" cy="420624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6634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1  DESCRIPTION → RANKED MATCHES</a:t>
            </a:r>
          </a:p>
        </p:txBody>
      </p:sp>
      <p:sp>
        <p:nvSpPr>
          <p:cNvPr id="9" name="Rounded Rectangle 8"/>
          <p:cNvSpPr/>
          <p:nvPr/>
        </p:nvSpPr>
        <p:spPr>
          <a:xfrm>
            <a:off x="777240" y="224028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plate (wildcards)</a:t>
            </a:r>
          </a:p>
        </p:txBody>
      </p:sp>
      <p:sp>
        <p:nvSpPr>
          <p:cNvPr id="10" name="TextBox 9"/>
          <p:cNvSpPr txBox="1"/>
          <p:nvPr/>
        </p:nvSpPr>
        <p:spPr>
          <a:xfrm>
            <a:off x="4206240" y="230428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0.35</a:t>
            </a:r>
          </a:p>
        </p:txBody>
      </p:sp>
      <p:sp>
        <p:nvSpPr>
          <p:cNvPr id="11" name="Rounded Rectangle 10"/>
          <p:cNvSpPr/>
          <p:nvPr/>
        </p:nvSpPr>
        <p:spPr>
          <a:xfrm>
            <a:off x="777240" y="274320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colour (CLIP)</a:t>
            </a:r>
          </a:p>
        </p:txBody>
      </p:sp>
      <p:sp>
        <p:nvSpPr>
          <p:cNvPr id="12" name="TextBox 11"/>
          <p:cNvSpPr txBox="1"/>
          <p:nvPr/>
        </p:nvSpPr>
        <p:spPr>
          <a:xfrm>
            <a:off x="4206240" y="280720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0.30</a:t>
            </a:r>
          </a:p>
        </p:txBody>
      </p:sp>
      <p:sp>
        <p:nvSpPr>
          <p:cNvPr id="13" name="Rounded Rectangle 12"/>
          <p:cNvSpPr/>
          <p:nvPr/>
        </p:nvSpPr>
        <p:spPr>
          <a:xfrm>
            <a:off x="777240" y="324612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type (CLIP)</a:t>
            </a:r>
          </a:p>
        </p:txBody>
      </p:sp>
      <p:sp>
        <p:nvSpPr>
          <p:cNvPr id="14" name="TextBox 13"/>
          <p:cNvSpPr txBox="1"/>
          <p:nvPr/>
        </p:nvSpPr>
        <p:spPr>
          <a:xfrm>
            <a:off x="4206240" y="331012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0.25</a:t>
            </a:r>
          </a:p>
        </p:txBody>
      </p:sp>
      <p:sp>
        <p:nvSpPr>
          <p:cNvPr id="15" name="Rounded Rectangle 14"/>
          <p:cNvSpPr/>
          <p:nvPr/>
        </p:nvSpPr>
        <p:spPr>
          <a:xfrm>
            <a:off x="777240" y="374904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distinctive features</a:t>
            </a:r>
          </a:p>
        </p:txBody>
      </p:sp>
      <p:sp>
        <p:nvSpPr>
          <p:cNvPr id="16" name="TextBox 15"/>
          <p:cNvSpPr txBox="1"/>
          <p:nvPr/>
        </p:nvSpPr>
        <p:spPr>
          <a:xfrm>
            <a:off x="4206240" y="381304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7" name="Rounded Rectangle 16"/>
          <p:cNvSpPr/>
          <p:nvPr/>
        </p:nvSpPr>
        <p:spPr>
          <a:xfrm>
            <a:off x="777240" y="4251960"/>
            <a:ext cx="3291840" cy="402336"/>
          </a:xfrm>
          <a:prstGeom prst="roundRect">
            <a:avLst>
              <a:gd name="adj" fmla="val 30000"/>
            </a:avLst>
          </a:prstGeom>
          <a:solidFill>
            <a:srgbClr val="FFFFF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0">
                <a:solidFill>
                  <a:srgbClr val="2B333C"/>
                </a:solidFill>
                <a:latin typeface="Aptos"/>
              </a:rPr>
              <a:t>free text</a:t>
            </a:r>
          </a:p>
        </p:txBody>
      </p:sp>
      <p:sp>
        <p:nvSpPr>
          <p:cNvPr id="18" name="TextBox 17"/>
          <p:cNvSpPr txBox="1"/>
          <p:nvPr/>
        </p:nvSpPr>
        <p:spPr>
          <a:xfrm>
            <a:off x="4206240" y="4315968"/>
            <a:ext cx="1097280" cy="320040"/>
          </a:xfrm>
          <a:prstGeom prst="rect">
            <a:avLst/>
          </a:prstGeom>
          <a:noFill/>
        </p:spPr>
        <p:txBody>
          <a:bodyPr wrap="square" lIns="0" rIns="0" tIns="0" bIns="0" anchor="t">
            <a:spAutoFit/>
          </a:bodyPr>
          <a:lstStyle/>
          <a:p>
            <a:pPr algn="l">
              <a:spcAft>
                <a:spcPts val="600"/>
              </a:spcAft>
            </a:pPr>
            <a:r>
              <a:rPr sz="1200" b="1" i="0">
                <a:solidFill>
                  <a:srgbClr val="0E8782"/>
                </a:solidFill>
                <a:latin typeface="Aptos"/>
              </a:rPr>
              <a:t>weight 0.10</a:t>
            </a:r>
          </a:p>
        </p:txBody>
      </p:sp>
      <p:sp>
        <p:nvSpPr>
          <p:cNvPr id="19" name="TextBox 18"/>
          <p:cNvSpPr txBox="1"/>
          <p:nvPr/>
        </p:nvSpPr>
        <p:spPr>
          <a:xfrm>
            <a:off x="777240" y="4846320"/>
            <a:ext cx="4663440" cy="822960"/>
          </a:xfrm>
          <a:prstGeom prst="rect">
            <a:avLst/>
          </a:prstGeom>
          <a:noFill/>
        </p:spPr>
        <p:txBody>
          <a:bodyPr wrap="square" lIns="0" rIns="0" tIns="0" bIns="0" anchor="t">
            <a:spAutoFit/>
          </a:bodyPr>
          <a:lstStyle/>
          <a:p>
            <a:pPr algn="l">
              <a:spcAft>
                <a:spcPts val="600"/>
              </a:spcAft>
            </a:pPr>
            <a:r>
              <a:rPr sz="1300" b="0" i="0">
                <a:solidFill>
                  <a:srgbClr val="2B333C"/>
                </a:solidFill>
                <a:latin typeface="Aptos"/>
              </a:rPr>
              <a:t>Only the fields the user gives are scored – a missing field never counts against a vehicle.</a:t>
            </a:r>
          </a:p>
        </p:txBody>
      </p:sp>
      <p:sp>
        <p:nvSpPr>
          <p:cNvPr id="20" name="Rounded Rectangle 19"/>
          <p:cNvSpPr/>
          <p:nvPr/>
        </p:nvSpPr>
        <p:spPr>
          <a:xfrm>
            <a:off x="6035040" y="1554480"/>
            <a:ext cx="5623560" cy="4206240"/>
          </a:xfrm>
          <a:prstGeom prst="roundRect">
            <a:avLst>
              <a:gd name="adj" fmla="val 3500"/>
            </a:avLst>
          </a:prstGeom>
          <a:solidFill>
            <a:srgbClr val="E3F1EF"/>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737360"/>
            <a:ext cx="5120640" cy="365760"/>
          </a:xfrm>
          <a:prstGeom prst="rect">
            <a:avLst/>
          </a:prstGeom>
          <a:noFill/>
        </p:spPr>
        <p:txBody>
          <a:bodyPr wrap="square" lIns="0" rIns="0" tIns="0" bIns="0" anchor="t">
            <a:spAutoFit/>
          </a:bodyPr>
          <a:lstStyle/>
          <a:p>
            <a:pPr algn="l">
              <a:spcAft>
                <a:spcPts val="600"/>
              </a:spcAft>
            </a:pPr>
            <a:r>
              <a:rPr sz="1500" b="1" i="0">
                <a:solidFill>
                  <a:srgbClr val="161B22"/>
                </a:solidFill>
                <a:latin typeface="Aptos Display"/>
              </a:rPr>
              <a:t>2  SELECTED → OTHER CAMERAS</a:t>
            </a:r>
          </a:p>
        </p:txBody>
      </p:sp>
      <p:sp>
        <p:nvSpPr>
          <p:cNvPr id="22" name="TextBox 21"/>
          <p:cNvSpPr txBox="1"/>
          <p:nvPr/>
        </p:nvSpPr>
        <p:spPr>
          <a:xfrm>
            <a:off x="6263640" y="2240280"/>
            <a:ext cx="5212080" cy="3474720"/>
          </a:xfrm>
          <a:prstGeom prst="rect">
            <a:avLst/>
          </a:prstGeom>
          <a:noFill/>
        </p:spPr>
        <p:txBody>
          <a:bodyPr wrap="square" lIns="0" rIns="0" tIns="0" bIns="0" anchor="t">
            <a:spAutoFit/>
          </a:bodyPr>
          <a:lstStyle/>
          <a:p>
            <a:pPr algn="l">
              <a:spcAft>
                <a:spcPts val="800"/>
              </a:spcAft>
            </a:pPr>
            <a:r>
              <a:rPr sz="1500" b="1" i="0">
                <a:solidFill>
                  <a:srgbClr val="2B333C"/>
                </a:solidFill>
                <a:latin typeface="Aptos"/>
              </a:rPr>
              <a:t>•  Similarity </a:t>
            </a:r>
            <a:r>
              <a:rPr sz="1500" b="0" i="0">
                <a:solidFill>
                  <a:srgbClr val="2B333C"/>
                </a:solidFill>
                <a:latin typeface="Aptos"/>
              </a:rPr>
              <a:t>= cosine of the FastReID signatures</a:t>
            </a:r>
          </a:p>
          <a:p>
            <a:pPr algn="l">
              <a:spcAft>
                <a:spcPts val="800"/>
              </a:spcAft>
            </a:pPr>
            <a:r>
              <a:rPr sz="1500" b="1" i="0">
                <a:solidFill>
                  <a:srgbClr val="2B333C"/>
                </a:solidFill>
                <a:latin typeface="Aptos"/>
              </a:rPr>
              <a:t>•  Threshold ≥ 0.40 </a:t>
            </a:r>
            <a:r>
              <a:rPr sz="1500" b="0" i="0">
                <a:solidFill>
                  <a:srgbClr val="2B333C"/>
                </a:solidFill>
                <a:latin typeface="Aptos"/>
              </a:rPr>
              <a:t>– chosen from VeRi-776 score distributions</a:t>
            </a:r>
          </a:p>
          <a:p>
            <a:pPr algn="l">
              <a:spcAft>
                <a:spcPts val="800"/>
              </a:spcAft>
            </a:pPr>
            <a:r>
              <a:rPr sz="1500" b="1" i="0">
                <a:solidFill>
                  <a:srgbClr val="2B333C"/>
                </a:solidFill>
                <a:latin typeface="Aptos"/>
              </a:rPr>
              <a:t>•  Ratio test: </a:t>
            </a:r>
            <a:r>
              <a:rPr sz="1500" b="0" i="0">
                <a:solidFill>
                  <a:srgbClr val="2B333C"/>
                </a:solidFill>
                <a:latin typeface="Aptos"/>
              </a:rPr>
              <a:t>best must beat the camera's 2nd best by 0.08 – look-alikes are left to the user</a:t>
            </a:r>
          </a:p>
          <a:p>
            <a:pPr algn="l">
              <a:spcAft>
                <a:spcPts val="800"/>
              </a:spcAft>
            </a:pPr>
            <a:r>
              <a:rPr sz="1500" b="1" i="0">
                <a:solidFill>
                  <a:srgbClr val="2B333C"/>
                </a:solidFill>
                <a:latin typeface="Aptos"/>
              </a:rPr>
              <a:t>•  Time window: </a:t>
            </a:r>
            <a:r>
              <a:rPr sz="1500" b="0" i="0">
                <a:solidFill>
                  <a:srgbClr val="2B333C"/>
                </a:solidFill>
                <a:latin typeface="Aptos"/>
              </a:rPr>
              <a:t>≤ 10 s when the cameras share a clock</a:t>
            </a:r>
          </a:p>
          <a:p>
            <a:pPr algn="l">
              <a:spcAft>
                <a:spcPts val="800"/>
              </a:spcAft>
            </a:pPr>
            <a:r>
              <a:rPr sz="1500" b="0" i="0">
                <a:solidFill>
                  <a:srgbClr val="2B333C"/>
                </a:solidFill>
                <a:latin typeface="Aptos"/>
              </a:rPr>
              <a:t>•  No confident match → show the 3 closest vehicles instead</a:t>
            </a:r>
          </a:p>
        </p:txBody>
      </p:sp>
      <p:sp>
        <p:nvSpPr>
          <p:cNvPr id="23" name="Rounded Rectangle 22"/>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EVERY RESULT COMES WITH ITS EVIDENCE: TIME SPAN · CROP · FRAME · SCORE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Technique Groups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Each technique group has a distinct role in the same pipeline.</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7</a:t>
            </a:r>
          </a:p>
        </p:txBody>
      </p:sp>
      <p:sp>
        <p:nvSpPr>
          <p:cNvPr id="7" name="Rounded Rectangle 6"/>
          <p:cNvSpPr/>
          <p:nvPr/>
        </p:nvSpPr>
        <p:spPr>
          <a:xfrm>
            <a:off x="548640" y="1554480"/>
            <a:ext cx="5440680" cy="21488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1  MACHINE / DEEP LEARNING</a:t>
            </a:r>
          </a:p>
        </p:txBody>
      </p:sp>
      <p:sp>
        <p:nvSpPr>
          <p:cNvPr id="9" name="TextBox 8"/>
          <p:cNvSpPr txBox="1"/>
          <p:nvPr/>
        </p:nvSpPr>
        <p:spPr>
          <a:xfrm>
            <a:off x="77724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Pretrained YOLO11 detector · FastReID Re-ID network</a:t>
            </a:r>
          </a:p>
          <a:p>
            <a:pPr algn="l">
              <a:spcAft>
                <a:spcPts val="400"/>
              </a:spcAft>
            </a:pPr>
            <a:r>
              <a:rPr sz="1500" b="0" i="0">
                <a:solidFill>
                  <a:srgbClr val="2B333C"/>
                </a:solidFill>
                <a:latin typeface="Aptos"/>
              </a:rPr>
              <a:t>CLIP vision-language model · EasyOCR</a:t>
            </a:r>
          </a:p>
        </p:txBody>
      </p:sp>
      <p:sp>
        <p:nvSpPr>
          <p:cNvPr id="10" name="Rounded Rectangle 9"/>
          <p:cNvSpPr/>
          <p:nvPr/>
        </p:nvSpPr>
        <p:spPr>
          <a:xfrm>
            <a:off x="6217920" y="1554480"/>
            <a:ext cx="5440680" cy="214884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78308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2  SUPERVISED LEARNING</a:t>
            </a:r>
          </a:p>
        </p:txBody>
      </p:sp>
      <p:sp>
        <p:nvSpPr>
          <p:cNvPr id="12" name="TextBox 11"/>
          <p:cNvSpPr txBox="1"/>
          <p:nvPr/>
        </p:nvSpPr>
        <p:spPr>
          <a:xfrm>
            <a:off x="6446520" y="246888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FastReID: supervised metric learning on VeRi-776 identities</a:t>
            </a:r>
          </a:p>
          <a:p>
            <a:pPr algn="l">
              <a:spcAft>
                <a:spcPts val="400"/>
              </a:spcAft>
            </a:pPr>
            <a:r>
              <a:rPr sz="1500" b="0" i="0">
                <a:solidFill>
                  <a:srgbClr val="2B333C"/>
                </a:solidFill>
                <a:latin typeface="Aptos"/>
              </a:rPr>
              <a:t>(softmax + triplet losses), applied to new footage</a:t>
            </a:r>
          </a:p>
        </p:txBody>
      </p:sp>
      <p:sp>
        <p:nvSpPr>
          <p:cNvPr id="13" name="Rounded Rectangle 12"/>
          <p:cNvSpPr/>
          <p:nvPr/>
        </p:nvSpPr>
        <p:spPr>
          <a:xfrm>
            <a:off x="548640" y="3977639"/>
            <a:ext cx="5440680" cy="2148840"/>
          </a:xfrm>
          <a:prstGeom prst="roundRect">
            <a:avLst>
              <a:gd name="adj" fmla="val 3500"/>
            </a:avLst>
          </a:prstGeom>
          <a:solidFill>
            <a:srgbClr val="FDF1E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3  HYBRID / MULTI-EVIDENCE</a:t>
            </a:r>
          </a:p>
        </p:txBody>
      </p:sp>
      <p:sp>
        <p:nvSpPr>
          <p:cNvPr id="15" name="TextBox 14"/>
          <p:cNvSpPr txBox="1"/>
          <p:nvPr/>
        </p:nvSpPr>
        <p:spPr>
          <a:xfrm>
            <a:off x="77724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Description search fuses colour + type + plate + features + free text,</a:t>
            </a:r>
          </a:p>
          <a:p>
            <a:pPr algn="l">
              <a:spcAft>
                <a:spcPts val="400"/>
              </a:spcAft>
            </a:pPr>
            <a:r>
              <a:rPr sz="1500" b="0" i="0">
                <a:solidFill>
                  <a:srgbClr val="2B333C"/>
                </a:solidFill>
                <a:latin typeface="Aptos"/>
              </a:rPr>
              <a:t>weights adapt to the fields given</a:t>
            </a:r>
          </a:p>
        </p:txBody>
      </p:sp>
      <p:sp>
        <p:nvSpPr>
          <p:cNvPr id="16" name="Rounded Rectangle 15"/>
          <p:cNvSpPr/>
          <p:nvPr/>
        </p:nvSpPr>
        <p:spPr>
          <a:xfrm>
            <a:off x="6217920" y="3977639"/>
            <a:ext cx="5440680" cy="214884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6520" y="4206240"/>
            <a:ext cx="5029200" cy="41148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4  INTELLIGENT SENSING / SENSE-MAKING</a:t>
            </a:r>
          </a:p>
        </p:txBody>
      </p:sp>
      <p:sp>
        <p:nvSpPr>
          <p:cNvPr id="18" name="TextBox 17"/>
          <p:cNvSpPr txBox="1"/>
          <p:nvPr/>
        </p:nvSpPr>
        <p:spPr>
          <a:xfrm>
            <a:off x="6446520" y="4892040"/>
            <a:ext cx="5029200" cy="1188720"/>
          </a:xfrm>
          <a:prstGeom prst="rect">
            <a:avLst/>
          </a:prstGeom>
          <a:noFill/>
        </p:spPr>
        <p:txBody>
          <a:bodyPr wrap="square" lIns="0" rIns="0" tIns="0" bIns="0" anchor="t">
            <a:spAutoFit/>
          </a:bodyPr>
          <a:lstStyle/>
          <a:p>
            <a:pPr algn="l">
              <a:spcAft>
                <a:spcPts val="400"/>
              </a:spcAft>
            </a:pPr>
            <a:r>
              <a:rPr sz="1500" b="0" i="0">
                <a:solidFill>
                  <a:srgbClr val="2B333C"/>
                </a:solidFill>
                <a:latin typeface="Aptos"/>
              </a:rPr>
              <a:t>Raw video → detections → tracks → sightings → ranked matches → where seen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Data &amp; Evaluation Protocol</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benchmark checks the Re-ID model; multi-camera street footage tests the whole workflow.</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8</a:t>
            </a:r>
          </a:p>
        </p:txBody>
      </p:sp>
      <p:sp>
        <p:nvSpPr>
          <p:cNvPr id="7" name="Rounded Rectangle 6"/>
          <p:cNvSpPr/>
          <p:nvPr/>
        </p:nvSpPr>
        <p:spPr>
          <a:xfrm>
            <a:off x="548640" y="1554480"/>
            <a:ext cx="4572000" cy="420624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411480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BENCHMARK  |  VeRi-776</a:t>
            </a:r>
          </a:p>
        </p:txBody>
      </p:sp>
      <p:sp>
        <p:nvSpPr>
          <p:cNvPr id="9" name="TextBox 8"/>
          <p:cNvSpPr txBox="1"/>
          <p:nvPr/>
        </p:nvSpPr>
        <p:spPr>
          <a:xfrm>
            <a:off x="777240" y="2286000"/>
            <a:ext cx="4114800" cy="3291840"/>
          </a:xfrm>
          <a:prstGeom prst="rect">
            <a:avLst/>
          </a:prstGeom>
          <a:noFill/>
        </p:spPr>
        <p:txBody>
          <a:bodyPr wrap="square" lIns="0" rIns="0" tIns="0" bIns="0" anchor="t">
            <a:spAutoFit/>
          </a:bodyPr>
          <a:lstStyle/>
          <a:p>
            <a:pPr algn="l">
              <a:spcAft>
                <a:spcPts val="300"/>
              </a:spcAft>
            </a:pPr>
            <a:r>
              <a:rPr sz="1400" b="0" i="0">
                <a:solidFill>
                  <a:srgbClr val="2B333C"/>
                </a:solidFill>
                <a:latin typeface="Aptos"/>
              </a:rPr>
              <a:t>50K+ images · 776 vehicles · 20 cameras</a:t>
            </a:r>
          </a:p>
          <a:p>
            <a:pPr algn="l">
              <a:spcAft>
                <a:spcPts val="300"/>
              </a:spcAft>
            </a:pPr>
            <a:r>
              <a:rPr sz="1400" b="0" i="0">
                <a:solidFill>
                  <a:srgbClr val="2B333C"/>
                </a:solidFill>
                <a:latin typeface="Aptos"/>
              </a:rPr>
              <a:t>Official split: 1,678 queries · 11,579 gallery images</a:t>
            </a:r>
          </a:p>
          <a:p>
            <a:pPr algn="l">
              <a:spcAft>
                <a:spcPts val="300"/>
              </a:spcAft>
            </a:pPr>
            <a:r>
              <a:rPr sz="1400" b="0" i="0">
                <a:solidFill>
                  <a:srgbClr val="2B333C"/>
                </a:solidFill>
                <a:latin typeface="Aptos"/>
              </a:rPr>
              <a:t>Standard protocol (same camera + same vehicle ignored)</a:t>
            </a:r>
          </a:p>
          <a:p>
            <a:pPr algn="l">
              <a:spcAft>
                <a:spcPts val="300"/>
              </a:spcAft>
            </a:pPr>
            <a:r>
              <a:rPr sz="1400" b="0" i="0">
                <a:solidFill>
                  <a:srgbClr val="2B333C"/>
                </a:solidFill>
                <a:latin typeface="Aptos"/>
              </a:rPr>
              <a:t/>
            </a:r>
          </a:p>
          <a:p>
            <a:pPr algn="l">
              <a:spcAft>
                <a:spcPts val="300"/>
              </a:spcAft>
            </a:pPr>
            <a:r>
              <a:rPr sz="1400" b="0" i="0">
                <a:solidFill>
                  <a:srgbClr val="2B333C"/>
                </a:solidFill>
                <a:latin typeface="Aptos"/>
              </a:rPr>
              <a:t>Used for:</a:t>
            </a:r>
          </a:p>
          <a:p>
            <a:pPr algn="l">
              <a:spcAft>
                <a:spcPts val="300"/>
              </a:spcAft>
            </a:pPr>
            <a:r>
              <a:rPr sz="1400" b="0" i="0">
                <a:solidFill>
                  <a:srgbClr val="2B333C"/>
                </a:solidFill>
                <a:latin typeface="Aptos"/>
              </a:rPr>
              <a:t>•  checking the published model: Rank-1 / Rank-5 / mAP</a:t>
            </a:r>
          </a:p>
          <a:p>
            <a:pPr algn="l">
              <a:spcAft>
                <a:spcPts val="300"/>
              </a:spcAft>
            </a:pPr>
            <a:r>
              <a:rPr sz="1400" b="0" i="0">
                <a:solidFill>
                  <a:srgbClr val="2B333C"/>
                </a:solidFill>
                <a:latin typeface="Aptos"/>
              </a:rPr>
              <a:t>•  choosing the same-vehicle threshold</a:t>
            </a:r>
          </a:p>
        </p:txBody>
      </p:sp>
      <p:sp>
        <p:nvSpPr>
          <p:cNvPr id="10" name="Rounded Rectangle 9"/>
          <p:cNvSpPr/>
          <p:nvPr/>
        </p:nvSpPr>
        <p:spPr>
          <a:xfrm>
            <a:off x="5486400" y="1554480"/>
            <a:ext cx="6172200" cy="420624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15000" y="1737360"/>
            <a:ext cx="5760720" cy="365760"/>
          </a:xfrm>
          <a:prstGeom prst="rect">
            <a:avLst/>
          </a:prstGeom>
          <a:noFill/>
        </p:spPr>
        <p:txBody>
          <a:bodyPr wrap="square" lIns="0" rIns="0" tIns="0" bIns="0" anchor="t">
            <a:spAutoFit/>
          </a:bodyPr>
          <a:lstStyle/>
          <a:p>
            <a:pPr algn="l">
              <a:spcAft>
                <a:spcPts val="600"/>
              </a:spcAft>
            </a:pPr>
            <a:r>
              <a:rPr sz="1600" b="1" i="0">
                <a:solidFill>
                  <a:srgbClr val="161B22"/>
                </a:solidFill>
                <a:latin typeface="Aptos Display"/>
              </a:rPr>
              <a:t>VIDEO DEMONSTRATION  |  4 CAMERAS</a:t>
            </a:r>
          </a:p>
        </p:txBody>
      </p:sp>
      <p:pic>
        <p:nvPicPr>
          <p:cNvPr id="12" name="Picture 11" descr="demo_zones.jpg"/>
          <p:cNvPicPr>
            <a:picLocks noChangeAspect="1"/>
          </p:cNvPicPr>
          <p:nvPr/>
        </p:nvPicPr>
        <p:blipFill>
          <a:blip r:embed="rId4"/>
          <a:stretch>
            <a:fillRect/>
          </a:stretch>
        </p:blipFill>
        <p:spPr>
          <a:xfrm>
            <a:off x="6134100" y="2194560"/>
            <a:ext cx="4876800" cy="2743200"/>
          </a:xfrm>
          <a:prstGeom prst="rect">
            <a:avLst/>
          </a:prstGeom>
        </p:spPr>
      </p:pic>
      <p:sp>
        <p:nvSpPr>
          <p:cNvPr id="13" name="TextBox 12"/>
          <p:cNvSpPr txBox="1"/>
          <p:nvPr/>
        </p:nvSpPr>
        <p:spPr>
          <a:xfrm>
            <a:off x="5715000" y="5029200"/>
            <a:ext cx="5760720" cy="6400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3 zones of one CC BY 3.0 street clip (same cars pass A → B → C) + camD on another road · 187 sightings · pseudo ground truth from full-frame tracking</a:t>
            </a:r>
          </a:p>
        </p:txBody>
      </p:sp>
      <p:sp>
        <p:nvSpPr>
          <p:cNvPr id="14" name="TextBox 13"/>
          <p:cNvSpPr txBox="1"/>
          <p:nvPr/>
        </p:nvSpPr>
        <p:spPr>
          <a:xfrm>
            <a:off x="548640" y="5989320"/>
            <a:ext cx="11109960" cy="365760"/>
          </a:xfrm>
          <a:prstGeom prst="rect">
            <a:avLst/>
          </a:prstGeom>
          <a:noFill/>
        </p:spPr>
        <p:txBody>
          <a:bodyPr wrap="square" lIns="0" rIns="0" tIns="0" bIns="0" anchor="t">
            <a:spAutoFit/>
          </a:bodyPr>
          <a:lstStyle/>
          <a:p>
            <a:pPr algn="ctr">
              <a:spcAft>
                <a:spcPts val="600"/>
              </a:spcAft>
            </a:pPr>
            <a:r>
              <a:rPr sz="1500" b="1" i="0">
                <a:solidFill>
                  <a:srgbClr val="15324B"/>
                </a:solidFill>
                <a:latin typeface="Aptos Display"/>
              </a:rPr>
              <a:t>Benchmark = “Does the Re-ID model work?”    |    Videos = “Does the platform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Re-ID Model on VeRi-776</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The published model reproduces its reported accuracy – and tells us where to set the threshold.</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9</a:t>
            </a:r>
          </a:p>
        </p:txBody>
      </p:sp>
      <p:graphicFrame>
        <p:nvGraphicFramePr>
          <p:cNvPr id="7" name="Chart 6"/>
          <p:cNvGraphicFramePr>
            <a:graphicFrameLocks noGrp="1"/>
          </p:cNvGraphicFramePr>
          <p:nvPr/>
        </p:nvGraphicFramePr>
        <p:xfrm>
          <a:off x="548640" y="1463040"/>
          <a:ext cx="6766560" cy="4389120"/>
        </p:xfrm>
        <a:graphic>
          <a:graphicData uri="http://schemas.openxmlformats.org/drawingml/2006/chart">
            <c:chart xmlns:c="http://schemas.openxmlformats.org/drawingml/2006/chart" r:id="rId4"/>
          </a:graphicData>
        </a:graphic>
      </p:graphicFrame>
      <p:sp>
        <p:nvSpPr>
          <p:cNvPr id="8" name="Rounded Rectangle 7"/>
          <p:cNvSpPr/>
          <p:nvPr/>
        </p:nvSpPr>
        <p:spPr>
          <a:xfrm>
            <a:off x="7680960" y="1554480"/>
            <a:ext cx="3977639" cy="1261872"/>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60" y="1691639"/>
            <a:ext cx="3566160" cy="548640"/>
          </a:xfrm>
          <a:prstGeom prst="rect">
            <a:avLst/>
          </a:prstGeom>
          <a:noFill/>
        </p:spPr>
        <p:txBody>
          <a:bodyPr wrap="square" lIns="0" rIns="0" tIns="0" bIns="0" anchor="t">
            <a:spAutoFit/>
          </a:bodyPr>
          <a:lstStyle/>
          <a:p>
            <a:pPr algn="l">
              <a:spcAft>
                <a:spcPts val="600"/>
              </a:spcAft>
            </a:pPr>
            <a:r>
              <a:rPr sz="2800" b="1" i="0">
                <a:solidFill>
                  <a:srgbClr val="4FA5B5"/>
                </a:solidFill>
                <a:latin typeface="Aptos Display"/>
              </a:rPr>
              <a:t>97.0%</a:t>
            </a:r>
          </a:p>
        </p:txBody>
      </p:sp>
      <p:sp>
        <p:nvSpPr>
          <p:cNvPr id="10" name="TextBox 9"/>
          <p:cNvSpPr txBox="1"/>
          <p:nvPr/>
        </p:nvSpPr>
        <p:spPr>
          <a:xfrm>
            <a:off x="7909560" y="2331720"/>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(official split, no training)</a:t>
            </a:r>
          </a:p>
        </p:txBody>
      </p:sp>
      <p:sp>
        <p:nvSpPr>
          <p:cNvPr id="11" name="Rounded Rectangle 10"/>
          <p:cNvSpPr/>
          <p:nvPr/>
        </p:nvSpPr>
        <p:spPr>
          <a:xfrm>
            <a:off x="7680960" y="2971800"/>
            <a:ext cx="3977639" cy="1261872"/>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09560" y="3108960"/>
            <a:ext cx="3566160" cy="548640"/>
          </a:xfrm>
          <a:prstGeom prst="rect">
            <a:avLst/>
          </a:prstGeom>
          <a:noFill/>
        </p:spPr>
        <p:txBody>
          <a:bodyPr wrap="square" lIns="0" rIns="0" tIns="0" bIns="0" anchor="t">
            <a:spAutoFit/>
          </a:bodyPr>
          <a:lstStyle/>
          <a:p>
            <a:pPr algn="l">
              <a:spcAft>
                <a:spcPts val="600"/>
              </a:spcAft>
            </a:pPr>
            <a:r>
              <a:rPr sz="2800" b="1" i="0">
                <a:solidFill>
                  <a:srgbClr val="0E8782"/>
                </a:solidFill>
                <a:latin typeface="Aptos Display"/>
              </a:rPr>
              <a:t>81.6%</a:t>
            </a:r>
          </a:p>
        </p:txBody>
      </p:sp>
      <p:sp>
        <p:nvSpPr>
          <p:cNvPr id="13" name="TextBox 12"/>
          <p:cNvSpPr txBox="1"/>
          <p:nvPr/>
        </p:nvSpPr>
        <p:spPr>
          <a:xfrm>
            <a:off x="7909560" y="374903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mAP</a:t>
            </a:r>
          </a:p>
        </p:txBody>
      </p:sp>
      <p:sp>
        <p:nvSpPr>
          <p:cNvPr id="14" name="Rounded Rectangle 13"/>
          <p:cNvSpPr/>
          <p:nvPr/>
        </p:nvSpPr>
        <p:spPr>
          <a:xfrm>
            <a:off x="7680960" y="4389120"/>
            <a:ext cx="3977639" cy="1261872"/>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9560" y="4526280"/>
            <a:ext cx="3566160" cy="548640"/>
          </a:xfrm>
          <a:prstGeom prst="rect">
            <a:avLst/>
          </a:prstGeom>
          <a:noFill/>
        </p:spPr>
        <p:txBody>
          <a:bodyPr wrap="square" lIns="0" rIns="0" tIns="0" bIns="0" anchor="t">
            <a:spAutoFit/>
          </a:bodyPr>
          <a:lstStyle/>
          <a:p>
            <a:pPr algn="l">
              <a:spcAft>
                <a:spcPts val="600"/>
              </a:spcAft>
            </a:pPr>
            <a:r>
              <a:rPr sz="2800" b="1" i="0">
                <a:solidFill>
                  <a:srgbClr val="D08A55"/>
                </a:solidFill>
                <a:latin typeface="Aptos Display"/>
              </a:rPr>
              <a:t>0.62 vs 0.38</a:t>
            </a:r>
          </a:p>
        </p:txBody>
      </p:sp>
      <p:sp>
        <p:nvSpPr>
          <p:cNvPr id="16" name="TextBox 15"/>
          <p:cNvSpPr txBox="1"/>
          <p:nvPr/>
        </p:nvSpPr>
        <p:spPr>
          <a:xfrm>
            <a:off x="7909560" y="5166359"/>
            <a:ext cx="3566160" cy="41148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median same-vehicle vs 99th pct different-vehicle similarity</a:t>
            </a:r>
          </a:p>
        </p:txBody>
      </p:sp>
      <p:sp>
        <p:nvSpPr>
          <p:cNvPr id="17" name="Rounded Rectangle 16"/>
          <p:cNvSpPr/>
          <p:nvPr/>
        </p:nvSpPr>
        <p:spPr>
          <a:xfrm>
            <a:off x="548640" y="5943600"/>
            <a:ext cx="11109960" cy="5029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Aptos Display"/>
              </a:rPr>
              <a:t>THRESHOLD 0.40: 89% OF TRUE PAIRS PASS, 0.8% OF WRONG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Results: Multi-Camera Demo Footage</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Real street footage is harder than the benchmark – a cautious rule keeps reported cameras mostly correct.</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10</a:t>
            </a:r>
          </a:p>
        </p:txBody>
      </p:sp>
      <p:sp>
        <p:nvSpPr>
          <p:cNvPr id="7" name="Rounded Rectangle 6"/>
          <p:cNvSpPr/>
          <p:nvPr/>
        </p:nvSpPr>
        <p:spPr>
          <a:xfrm>
            <a:off x="548640" y="1554480"/>
            <a:ext cx="3291840" cy="96012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664207"/>
            <a:ext cx="2926080" cy="457200"/>
          </a:xfrm>
          <a:prstGeom prst="rect">
            <a:avLst/>
          </a:prstGeom>
          <a:noFill/>
        </p:spPr>
        <p:txBody>
          <a:bodyPr wrap="square" lIns="0" rIns="0" tIns="0" bIns="0" anchor="t">
            <a:spAutoFit/>
          </a:bodyPr>
          <a:lstStyle/>
          <a:p>
            <a:pPr algn="l">
              <a:spcAft>
                <a:spcPts val="600"/>
              </a:spcAft>
            </a:pPr>
            <a:r>
              <a:rPr sz="2600" b="1" i="0">
                <a:solidFill>
                  <a:srgbClr val="4FA5B5"/>
                </a:solidFill>
                <a:latin typeface="Aptos Display"/>
              </a:rPr>
              <a:t>36% / 58%</a:t>
            </a:r>
          </a:p>
        </p:txBody>
      </p:sp>
      <p:sp>
        <p:nvSpPr>
          <p:cNvPr id="9" name="TextBox 8"/>
          <p:cNvSpPr txBox="1"/>
          <p:nvPr/>
        </p:nvSpPr>
        <p:spPr>
          <a:xfrm>
            <a:off x="749808" y="2148840"/>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Rank-1 / Rank-5, other cameras</a:t>
            </a:r>
          </a:p>
        </p:txBody>
      </p:sp>
      <p:sp>
        <p:nvSpPr>
          <p:cNvPr id="10" name="Rounded Rectangle 9"/>
          <p:cNvSpPr/>
          <p:nvPr/>
        </p:nvSpPr>
        <p:spPr>
          <a:xfrm>
            <a:off x="548640" y="2670048"/>
            <a:ext cx="3291840" cy="960120"/>
          </a:xfrm>
          <a:prstGeom prst="roundRect">
            <a:avLst>
              <a:gd name="adj" fmla="val 3500"/>
            </a:avLst>
          </a:prstGeom>
          <a:solidFill>
            <a:srgbClr val="E9F5F3"/>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779776"/>
            <a:ext cx="2926080" cy="457200"/>
          </a:xfrm>
          <a:prstGeom prst="rect">
            <a:avLst/>
          </a:prstGeom>
          <a:noFill/>
        </p:spPr>
        <p:txBody>
          <a:bodyPr wrap="square" lIns="0" rIns="0" tIns="0" bIns="0" anchor="t">
            <a:spAutoFit/>
          </a:bodyPr>
          <a:lstStyle/>
          <a:p>
            <a:pPr algn="l">
              <a:spcAft>
                <a:spcPts val="600"/>
              </a:spcAft>
            </a:pPr>
            <a:r>
              <a:rPr sz="2600" b="1" i="0">
                <a:solidFill>
                  <a:srgbClr val="0E8782"/>
                </a:solidFill>
                <a:latin typeface="Aptos Display"/>
              </a:rPr>
              <a:t>71%</a:t>
            </a:r>
          </a:p>
        </p:txBody>
      </p:sp>
      <p:sp>
        <p:nvSpPr>
          <p:cNvPr id="12" name="TextBox 11"/>
          <p:cNvSpPr txBox="1"/>
          <p:nvPr/>
        </p:nvSpPr>
        <p:spPr>
          <a:xfrm>
            <a:off x="749808" y="3264408"/>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reported cameras correct (no time window: 53%)</a:t>
            </a:r>
          </a:p>
        </p:txBody>
      </p:sp>
      <p:sp>
        <p:nvSpPr>
          <p:cNvPr id="13" name="Rounded Rectangle 12"/>
          <p:cNvSpPr/>
          <p:nvPr/>
        </p:nvSpPr>
        <p:spPr>
          <a:xfrm>
            <a:off x="548640" y="3785615"/>
            <a:ext cx="3291840" cy="960120"/>
          </a:xfrm>
          <a:prstGeom prst="roundRect">
            <a:avLst>
              <a:gd name="adj" fmla="val 3500"/>
            </a:avLst>
          </a:prstGeom>
          <a:solidFill>
            <a:srgbClr val="EFF5E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895344"/>
            <a:ext cx="2926080" cy="457200"/>
          </a:xfrm>
          <a:prstGeom prst="rect">
            <a:avLst/>
          </a:prstGeom>
          <a:noFill/>
        </p:spPr>
        <p:txBody>
          <a:bodyPr wrap="square" lIns="0" rIns="0" tIns="0" bIns="0" anchor="t">
            <a:spAutoFit/>
          </a:bodyPr>
          <a:lstStyle/>
          <a:p>
            <a:pPr algn="l">
              <a:spcAft>
                <a:spcPts val="600"/>
              </a:spcAft>
            </a:pPr>
            <a:r>
              <a:rPr sz="2600" b="1" i="0">
                <a:solidFill>
                  <a:srgbClr val="3E8E3A"/>
                </a:solidFill>
                <a:latin typeface="Aptos Display"/>
              </a:rPr>
              <a:t>32%</a:t>
            </a:r>
          </a:p>
        </p:txBody>
      </p:sp>
      <p:sp>
        <p:nvSpPr>
          <p:cNvPr id="15" name="TextBox 14"/>
          <p:cNvSpPr txBox="1"/>
          <p:nvPr/>
        </p:nvSpPr>
        <p:spPr>
          <a:xfrm>
            <a:off x="749808" y="4379976"/>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of true cameras reported</a:t>
            </a:r>
          </a:p>
        </p:txBody>
      </p:sp>
      <p:sp>
        <p:nvSpPr>
          <p:cNvPr id="16" name="Rounded Rectangle 15"/>
          <p:cNvSpPr/>
          <p:nvPr/>
        </p:nvSpPr>
        <p:spPr>
          <a:xfrm>
            <a:off x="548640" y="4901184"/>
            <a:ext cx="3291840" cy="96012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10912"/>
            <a:ext cx="2926080" cy="457200"/>
          </a:xfrm>
          <a:prstGeom prst="rect">
            <a:avLst/>
          </a:prstGeom>
          <a:noFill/>
        </p:spPr>
        <p:txBody>
          <a:bodyPr wrap="square" lIns="0" rIns="0" tIns="0" bIns="0" anchor="t">
            <a:spAutoFit/>
          </a:bodyPr>
          <a:lstStyle/>
          <a:p>
            <a:pPr algn="l">
              <a:spcAft>
                <a:spcPts val="600"/>
              </a:spcAft>
            </a:pPr>
            <a:r>
              <a:rPr sz="2600" b="1" i="0">
                <a:solidFill>
                  <a:srgbClr val="D08A55"/>
                </a:solidFill>
                <a:latin typeface="Aptos Display"/>
              </a:rPr>
              <a:t>7%</a:t>
            </a:r>
          </a:p>
        </p:txBody>
      </p:sp>
      <p:sp>
        <p:nvSpPr>
          <p:cNvPr id="18" name="TextBox 17"/>
          <p:cNvSpPr txBox="1"/>
          <p:nvPr/>
        </p:nvSpPr>
        <p:spPr>
          <a:xfrm>
            <a:off x="749808" y="5495544"/>
            <a:ext cx="2926080" cy="32004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queries wrongly placed on the other road</a:t>
            </a:r>
          </a:p>
        </p:txBody>
      </p:sp>
      <p:pic>
        <p:nvPicPr>
          <p:cNvPr id="19" name="Picture 18" descr="seen.png"/>
          <p:cNvPicPr>
            <a:picLocks noChangeAspect="1"/>
          </p:cNvPicPr>
          <p:nvPr/>
        </p:nvPicPr>
        <p:blipFill>
          <a:blip r:embed="rId4"/>
          <a:stretch>
            <a:fillRect/>
          </a:stretch>
        </p:blipFill>
        <p:spPr>
          <a:xfrm>
            <a:off x="4160520" y="1565910"/>
            <a:ext cx="7498079" cy="468629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Live Demo</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Describe → best matches → select → where this vehicle was seen.</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11</a:t>
            </a:r>
          </a:p>
        </p:txBody>
      </p:sp>
      <p:sp>
        <p:nvSpPr>
          <p:cNvPr id="7" name="Rounded Rectangle 6"/>
          <p:cNvSpPr/>
          <p:nvPr/>
        </p:nvSpPr>
        <p:spPr>
          <a:xfrm>
            <a:off x="54864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earch.png"/>
          <p:cNvPicPr>
            <a:picLocks noChangeAspect="1"/>
          </p:cNvPicPr>
          <p:nvPr/>
        </p:nvPicPr>
        <p:blipFill>
          <a:blip r:embed="rId4"/>
          <a:stretch>
            <a:fillRect/>
          </a:stretch>
        </p:blipFill>
        <p:spPr>
          <a:xfrm>
            <a:off x="685800" y="1974532"/>
            <a:ext cx="5166360" cy="3228975"/>
          </a:xfrm>
          <a:prstGeom prst="rect">
            <a:avLst/>
          </a:prstGeom>
        </p:spPr>
      </p:pic>
      <p:sp>
        <p:nvSpPr>
          <p:cNvPr id="9" name="TextBox 8"/>
          <p:cNvSpPr txBox="1"/>
          <p:nvPr/>
        </p:nvSpPr>
        <p:spPr>
          <a:xfrm>
            <a:off x="54864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“red + suv” → ranked best matches → Select</a:t>
            </a:r>
          </a:p>
        </p:txBody>
      </p:sp>
      <p:sp>
        <p:nvSpPr>
          <p:cNvPr id="10" name="Rounded Rectangle 9"/>
          <p:cNvSpPr/>
          <p:nvPr/>
        </p:nvSpPr>
        <p:spPr>
          <a:xfrm>
            <a:off x="6217920" y="1554480"/>
            <a:ext cx="5440680" cy="4069080"/>
          </a:xfrm>
          <a:prstGeom prst="roundRect">
            <a:avLst>
              <a:gd name="adj" fmla="val 3500"/>
            </a:avLst>
          </a:prstGeom>
          <a:solidFill>
            <a:srgbClr val="F3F5F7"/>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en.png"/>
          <p:cNvPicPr>
            <a:picLocks noChangeAspect="1"/>
          </p:cNvPicPr>
          <p:nvPr/>
        </p:nvPicPr>
        <p:blipFill>
          <a:blip r:embed="rId5"/>
          <a:stretch>
            <a:fillRect/>
          </a:stretch>
        </p:blipFill>
        <p:spPr>
          <a:xfrm>
            <a:off x="6355080" y="1974532"/>
            <a:ext cx="5166360" cy="3228975"/>
          </a:xfrm>
          <a:prstGeom prst="rect">
            <a:avLst/>
          </a:prstGeom>
        </p:spPr>
      </p:pic>
      <p:sp>
        <p:nvSpPr>
          <p:cNvPr id="12" name="TextBox 11"/>
          <p:cNvSpPr txBox="1"/>
          <p:nvPr/>
        </p:nvSpPr>
        <p:spPr>
          <a:xfrm>
            <a:off x="6217920" y="5760720"/>
            <a:ext cx="5440680" cy="320040"/>
          </a:xfrm>
          <a:prstGeom prst="rect">
            <a:avLst/>
          </a:prstGeom>
          <a:noFill/>
        </p:spPr>
        <p:txBody>
          <a:bodyPr wrap="square" lIns="0" rIns="0" tIns="0" bIns="0" anchor="t">
            <a:spAutoFit/>
          </a:bodyPr>
          <a:lstStyle/>
          <a:p>
            <a:pPr algn="ctr">
              <a:spcAft>
                <a:spcPts val="600"/>
              </a:spcAft>
            </a:pPr>
            <a:r>
              <a:rPr sz="1400" b="1" i="0">
                <a:solidFill>
                  <a:srgbClr val="161B22"/>
                </a:solidFill>
                <a:latin typeface="Aptos Display"/>
              </a:rPr>
              <a:t>Route camA → camB → camC with time spans and frames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Lessons Learned</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Use what exists, verify it, and measure it on your own data.</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12</a:t>
            </a:r>
          </a:p>
        </p:txBody>
      </p:sp>
      <p:sp>
        <p:nvSpPr>
          <p:cNvPr id="7" name="Rounded Rectangle 6"/>
          <p:cNvSpPr/>
          <p:nvPr/>
        </p:nvSpPr>
        <p:spPr>
          <a:xfrm>
            <a:off x="548640" y="1554480"/>
            <a:ext cx="3520440" cy="3657600"/>
          </a:xfrm>
          <a:prstGeom prst="roundRect">
            <a:avLst>
              <a:gd name="adj" fmla="val 3500"/>
            </a:avLst>
          </a:prstGeom>
          <a:solidFill>
            <a:srgbClr val="EAF1F8"/>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3108960" cy="411480"/>
          </a:xfrm>
          <a:prstGeom prst="rect">
            <a:avLst/>
          </a:prstGeom>
          <a:noFill/>
        </p:spPr>
        <p:txBody>
          <a:bodyPr wrap="square" lIns="0" rIns="0" tIns="0" bIns="0" anchor="t">
            <a:spAutoFit/>
          </a:bodyPr>
          <a:lstStyle/>
          <a:p>
            <a:pPr algn="l">
              <a:spcAft>
                <a:spcPts val="600"/>
              </a:spcAft>
            </a:pPr>
            <a:r>
              <a:rPr sz="2000" b="1" i="0">
                <a:solidFill>
                  <a:srgbClr val="4FA5B5"/>
                </a:solidFill>
                <a:latin typeface="Aptos Display"/>
              </a:rPr>
              <a:t>01</a:t>
            </a:r>
          </a:p>
        </p:txBody>
      </p:sp>
      <p:sp>
        <p:nvSpPr>
          <p:cNvPr id="9" name="TextBox 8"/>
          <p:cNvSpPr txBox="1"/>
          <p:nvPr/>
        </p:nvSpPr>
        <p:spPr>
          <a:xfrm>
            <a:off x="77724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USE WHAT EXISTS – AND CHECK IT</a:t>
            </a:r>
          </a:p>
        </p:txBody>
      </p:sp>
      <p:sp>
        <p:nvSpPr>
          <p:cNvPr id="10" name="TextBox 9"/>
          <p:cNvSpPr txBox="1"/>
          <p:nvPr/>
        </p:nvSpPr>
        <p:spPr>
          <a:xfrm>
            <a:off x="777240" y="3063240"/>
            <a:ext cx="3108960" cy="2103120"/>
          </a:xfrm>
          <a:prstGeom prst="rect">
            <a:avLst/>
          </a:prstGeom>
          <a:noFill/>
        </p:spPr>
        <p:txBody>
          <a:bodyPr wrap="square" lIns="0" rIns="0" tIns="0" bIns="0" anchor="t">
            <a:spAutoFit/>
          </a:bodyPr>
          <a:lstStyle/>
          <a:p>
            <a:pPr algn="l">
              <a:spcAft>
                <a:spcPts val="400"/>
              </a:spcAft>
            </a:pPr>
            <a:r>
              <a:rPr sz="1400" b="1" i="0">
                <a:solidFill>
                  <a:srgbClr val="4FA5B5"/>
                </a:solidFill>
                <a:latin typeface="Aptos"/>
              </a:rPr>
              <a:t>Why  </a:t>
            </a:r>
            <a:r>
              <a:rPr sz="1400" b="0" i="0">
                <a:solidFill>
                  <a:srgbClr val="2B333C"/>
                </a:solidFill>
                <a:latin typeface="Aptos"/>
              </a:rPr>
              <a:t>FastReID's VeRi-776 model is far stronger than a model trained in ten days.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Re-run the official benchmark first</a:t>
            </a:r>
          </a:p>
        </p:txBody>
      </p:sp>
      <p:sp>
        <p:nvSpPr>
          <p:cNvPr id="11" name="Rounded Rectangle 10"/>
          <p:cNvSpPr/>
          <p:nvPr/>
        </p:nvSpPr>
        <p:spPr>
          <a:xfrm>
            <a:off x="54864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97.0% · mAP 81.6%</a:t>
            </a:r>
          </a:p>
        </p:txBody>
      </p:sp>
      <p:sp>
        <p:nvSpPr>
          <p:cNvPr id="12" name="Rounded Rectangle 11"/>
          <p:cNvSpPr/>
          <p:nvPr/>
        </p:nvSpPr>
        <p:spPr>
          <a:xfrm>
            <a:off x="4343400" y="1554480"/>
            <a:ext cx="3520440" cy="3657600"/>
          </a:xfrm>
          <a:prstGeom prst="roundRect">
            <a:avLst>
              <a:gd name="adj" fmla="val 3500"/>
            </a:avLst>
          </a:prstGeom>
          <a:solidFill>
            <a:srgbClr val="F4E9E0"/>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737360"/>
            <a:ext cx="3108960" cy="411480"/>
          </a:xfrm>
          <a:prstGeom prst="rect">
            <a:avLst/>
          </a:prstGeom>
          <a:noFill/>
        </p:spPr>
        <p:txBody>
          <a:bodyPr wrap="square" lIns="0" rIns="0" tIns="0" bIns="0" anchor="t">
            <a:spAutoFit/>
          </a:bodyPr>
          <a:lstStyle/>
          <a:p>
            <a:pPr algn="l">
              <a:spcAft>
                <a:spcPts val="600"/>
              </a:spcAft>
            </a:pPr>
            <a:r>
              <a:rPr sz="2000" b="1" i="0">
                <a:solidFill>
                  <a:srgbClr val="D08A55"/>
                </a:solidFill>
                <a:latin typeface="Aptos Display"/>
              </a:rPr>
              <a:t>02</a:t>
            </a:r>
          </a:p>
        </p:txBody>
      </p:sp>
      <p:sp>
        <p:nvSpPr>
          <p:cNvPr id="14" name="TextBox 13"/>
          <p:cNvSpPr txBox="1"/>
          <p:nvPr/>
        </p:nvSpPr>
        <p:spPr>
          <a:xfrm>
            <a:off x="457200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BENCHMARKS DON'T TRANSFER</a:t>
            </a:r>
          </a:p>
        </p:txBody>
      </p:sp>
      <p:sp>
        <p:nvSpPr>
          <p:cNvPr id="15" name="TextBox 14"/>
          <p:cNvSpPr txBox="1"/>
          <p:nvPr/>
        </p:nvSpPr>
        <p:spPr>
          <a:xfrm>
            <a:off x="4572000" y="3063240"/>
            <a:ext cx="3108960" cy="2103120"/>
          </a:xfrm>
          <a:prstGeom prst="rect">
            <a:avLst/>
          </a:prstGeom>
          <a:noFill/>
        </p:spPr>
        <p:txBody>
          <a:bodyPr wrap="square" lIns="0" rIns="0" tIns="0" bIns="0" anchor="t">
            <a:spAutoFit/>
          </a:bodyPr>
          <a:lstStyle/>
          <a:p>
            <a:pPr algn="l">
              <a:spcAft>
                <a:spcPts val="400"/>
              </a:spcAft>
            </a:pPr>
            <a:r>
              <a:rPr sz="1400" b="1" i="0">
                <a:solidFill>
                  <a:srgbClr val="D08A55"/>
                </a:solidFill>
                <a:latin typeface="Aptos"/>
              </a:rPr>
              <a:t>Why  </a:t>
            </a:r>
            <a:r>
              <a:rPr sz="1400" b="0" i="0">
                <a:solidFill>
                  <a:srgbClr val="2B333C"/>
                </a:solidFill>
                <a:latin typeface="Aptos"/>
              </a:rPr>
              <a:t>Small, distant vehicles and new angles in street footage.</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Measure on your own data (pseudo ground truth)</a:t>
            </a:r>
          </a:p>
        </p:txBody>
      </p:sp>
      <p:sp>
        <p:nvSpPr>
          <p:cNvPr id="16" name="Rounded Rectangle 15"/>
          <p:cNvSpPr/>
          <p:nvPr/>
        </p:nvSpPr>
        <p:spPr>
          <a:xfrm>
            <a:off x="434340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Rank-1 97% → 36%</a:t>
            </a:r>
          </a:p>
        </p:txBody>
      </p:sp>
      <p:sp>
        <p:nvSpPr>
          <p:cNvPr id="17" name="Rounded Rectangle 16"/>
          <p:cNvSpPr/>
          <p:nvPr/>
        </p:nvSpPr>
        <p:spPr>
          <a:xfrm>
            <a:off x="8138160" y="1554480"/>
            <a:ext cx="3520440" cy="3657600"/>
          </a:xfrm>
          <a:prstGeom prst="roundRect">
            <a:avLst>
              <a:gd name="adj" fmla="val 3500"/>
            </a:avLst>
          </a:prstGeom>
          <a:solidFill>
            <a:srgbClr val="E9E7F5"/>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66760" y="1737360"/>
            <a:ext cx="3108960" cy="411480"/>
          </a:xfrm>
          <a:prstGeom prst="rect">
            <a:avLst/>
          </a:prstGeom>
          <a:noFill/>
        </p:spPr>
        <p:txBody>
          <a:bodyPr wrap="square" lIns="0" rIns="0" tIns="0" bIns="0" anchor="t">
            <a:spAutoFit/>
          </a:bodyPr>
          <a:lstStyle/>
          <a:p>
            <a:pPr algn="l">
              <a:spcAft>
                <a:spcPts val="600"/>
              </a:spcAft>
            </a:pPr>
            <a:r>
              <a:rPr sz="2000" b="1" i="0">
                <a:solidFill>
                  <a:srgbClr val="7E6DB8"/>
                </a:solidFill>
                <a:latin typeface="Aptos Display"/>
              </a:rPr>
              <a:t>03</a:t>
            </a:r>
          </a:p>
        </p:txBody>
      </p:sp>
      <p:sp>
        <p:nvSpPr>
          <p:cNvPr id="19" name="TextBox 18"/>
          <p:cNvSpPr txBox="1"/>
          <p:nvPr/>
        </p:nvSpPr>
        <p:spPr>
          <a:xfrm>
            <a:off x="8366760" y="2240280"/>
            <a:ext cx="3108960" cy="731520"/>
          </a:xfrm>
          <a:prstGeom prst="rect">
            <a:avLst/>
          </a:prstGeom>
          <a:noFill/>
        </p:spPr>
        <p:txBody>
          <a:bodyPr wrap="square" lIns="0" rIns="0" tIns="0" bIns="0" anchor="t">
            <a:spAutoFit/>
          </a:bodyPr>
          <a:lstStyle/>
          <a:p>
            <a:pPr algn="l">
              <a:spcAft>
                <a:spcPts val="600"/>
              </a:spcAft>
            </a:pPr>
            <a:r>
              <a:rPr sz="1700" b="1" i="0">
                <a:solidFill>
                  <a:srgbClr val="161B22"/>
                </a:solidFill>
                <a:latin typeface="Aptos Display"/>
              </a:rPr>
              <a:t>DECISION RULES MATTER</a:t>
            </a:r>
          </a:p>
        </p:txBody>
      </p:sp>
      <p:sp>
        <p:nvSpPr>
          <p:cNvPr id="20" name="TextBox 19"/>
          <p:cNvSpPr txBox="1"/>
          <p:nvPr/>
        </p:nvSpPr>
        <p:spPr>
          <a:xfrm>
            <a:off x="8366760" y="3063240"/>
            <a:ext cx="3108960" cy="2103120"/>
          </a:xfrm>
          <a:prstGeom prst="rect">
            <a:avLst/>
          </a:prstGeom>
          <a:noFill/>
        </p:spPr>
        <p:txBody>
          <a:bodyPr wrap="square" lIns="0" rIns="0" tIns="0" bIns="0" anchor="t">
            <a:spAutoFit/>
          </a:bodyPr>
          <a:lstStyle/>
          <a:p>
            <a:pPr algn="l">
              <a:spcAft>
                <a:spcPts val="400"/>
              </a:spcAft>
            </a:pPr>
            <a:r>
              <a:rPr sz="1400" b="1" i="0">
                <a:solidFill>
                  <a:srgbClr val="7E6DB8"/>
                </a:solidFill>
                <a:latin typeface="Aptos"/>
              </a:rPr>
              <a:t>Why  </a:t>
            </a:r>
            <a:r>
              <a:rPr sz="1400" b="0" i="0">
                <a:solidFill>
                  <a:srgbClr val="2B333C"/>
                </a:solidFill>
                <a:latin typeface="Aptos"/>
              </a:rPr>
              <a:t>A threshold alone reports many look-alikes.</a:t>
            </a:r>
          </a:p>
          <a:p>
            <a:pPr algn="l">
              <a:spcAft>
                <a:spcPts val="400"/>
              </a:spcAft>
            </a:pPr>
            <a:r>
              <a:rPr sz="1400" b="0" i="0">
                <a:solidFill>
                  <a:srgbClr val="2B333C"/>
                </a:solidFill>
                <a:latin typeface="Aptos"/>
              </a:rPr>
              <a:t/>
            </a:r>
          </a:p>
          <a:p>
            <a:pPr algn="l">
              <a:spcAft>
                <a:spcPts val="400"/>
              </a:spcAft>
            </a:pPr>
            <a:r>
              <a:rPr sz="1400" b="1" i="0">
                <a:solidFill>
                  <a:srgbClr val="0E8782"/>
                </a:solidFill>
                <a:latin typeface="Aptos"/>
              </a:rPr>
              <a:t>So  </a:t>
            </a:r>
            <a:r>
              <a:rPr sz="1400" b="0" i="0">
                <a:solidFill>
                  <a:srgbClr val="2B333C"/>
                </a:solidFill>
                <a:latin typeface="Aptos"/>
              </a:rPr>
              <a:t>Ratio test + time window; show candidates when unsure</a:t>
            </a:r>
          </a:p>
        </p:txBody>
      </p:sp>
      <p:sp>
        <p:nvSpPr>
          <p:cNvPr id="21" name="Rounded Rectangle 20"/>
          <p:cNvSpPr/>
          <p:nvPr/>
        </p:nvSpPr>
        <p:spPr>
          <a:xfrm>
            <a:off x="8138160" y="5394960"/>
            <a:ext cx="3520440" cy="73152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latin typeface="Aptos Display"/>
              </a:rPr>
              <a:t>Precision ~40% → 71%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411480" y="274320"/>
            <a:ext cx="9692640" cy="640080"/>
          </a:xfrm>
          <a:prstGeom prst="rect">
            <a:avLst/>
          </a:prstGeom>
          <a:noFill/>
        </p:spPr>
        <p:txBody>
          <a:bodyPr wrap="square" lIns="0" rIns="0" tIns="0" bIns="0" anchor="t">
            <a:spAutoFit/>
          </a:bodyPr>
          <a:lstStyle/>
          <a:p>
            <a:pPr algn="l">
              <a:spcAft>
                <a:spcPts val="600"/>
              </a:spcAft>
            </a:pPr>
            <a:r>
              <a:rPr sz="3000" b="1" i="0">
                <a:solidFill>
                  <a:srgbClr val="161B22"/>
                </a:solidFill>
                <a:latin typeface="Aptos Display"/>
              </a:rPr>
              <a:t>Limitations &amp; Next Steps</a:t>
            </a:r>
          </a:p>
        </p:txBody>
      </p:sp>
      <p:sp>
        <p:nvSpPr>
          <p:cNvPr id="3" name="Subtitle"/>
          <p:cNvSpPr txBox="1"/>
          <p:nvPr/>
        </p:nvSpPr>
        <p:spPr>
          <a:xfrm>
            <a:off x="429768" y="896112"/>
            <a:ext cx="10058400" cy="274320"/>
          </a:xfrm>
          <a:prstGeom prst="rect">
            <a:avLst/>
          </a:prstGeom>
          <a:noFill/>
        </p:spPr>
        <p:txBody>
          <a:bodyPr wrap="square" lIns="0" rIns="0" tIns="0" bIns="0" anchor="t">
            <a:spAutoFit/>
          </a:bodyPr>
          <a:lstStyle/>
          <a:p>
            <a:pPr algn="l">
              <a:spcAft>
                <a:spcPts val="600"/>
              </a:spcAft>
            </a:pPr>
            <a:r>
              <a:rPr sz="1200" b="0" i="0">
                <a:solidFill>
                  <a:srgbClr val="2B333C"/>
                </a:solidFill>
                <a:latin typeface="Aptos"/>
              </a:rPr>
              <a:t>A focused proof of concept – the clearest next steps follow from the results.</a:t>
            </a:r>
          </a:p>
        </p:txBody>
      </p:sp>
      <p:cxnSp>
        <p:nvCxnSpPr>
          <p:cNvPr id="4" name="Connector 3"/>
          <p:cNvCxnSpPr/>
          <p:nvPr/>
        </p:nvCxnSpPr>
        <p:spPr>
          <a:xfrm>
            <a:off x="411480" y="1216152"/>
            <a:ext cx="11475720" cy="0"/>
          </a:xfrm>
          <a:prstGeom prst="line">
            <a:avLst/>
          </a:prstGeom>
          <a:ln w="9525">
            <a:solidFill>
              <a:srgbClr val="4FB3AE"/>
            </a:solidFill>
          </a:ln>
        </p:spPr>
        <p:style>
          <a:lnRef idx="2">
            <a:schemeClr val="accent1"/>
          </a:lnRef>
          <a:fillRef idx="0">
            <a:schemeClr val="accent1"/>
          </a:fillRef>
          <a:effectRef idx="1">
            <a:schemeClr val="accent1"/>
          </a:effectRef>
          <a:fontRef idx="minor">
            <a:schemeClr val="tx1"/>
          </a:fontRef>
        </p:style>
      </p:cxnSp>
      <p:pic>
        <p:nvPicPr>
          <p:cNvPr id="5" name="Picture 4" descr="nus_iss_logo.png"/>
          <p:cNvPicPr>
            <a:picLocks noChangeAspect="1"/>
          </p:cNvPicPr>
          <p:nvPr/>
        </p:nvPicPr>
        <p:blipFill>
          <a:blip r:embed="rId2"/>
          <a:stretch>
            <a:fillRect/>
          </a:stretch>
        </p:blipFill>
        <p:spPr>
          <a:xfrm>
            <a:off x="10424160" y="146304"/>
            <a:ext cx="1691640" cy="744860"/>
          </a:xfrm>
          <a:prstGeom prst="rect">
            <a:avLst/>
          </a:prstGeom>
        </p:spPr>
      </p:pic>
      <p:sp>
        <p:nvSpPr>
          <p:cNvPr id="6" name="Slide number"/>
          <p:cNvSpPr txBox="1"/>
          <p:nvPr/>
        </p:nvSpPr>
        <p:spPr>
          <a:xfrm>
            <a:off x="11475720" y="6446520"/>
            <a:ext cx="411480" cy="228600"/>
          </a:xfrm>
          <a:prstGeom prst="rect">
            <a:avLst/>
          </a:prstGeom>
          <a:noFill/>
        </p:spPr>
        <p:txBody>
          <a:bodyPr wrap="square" lIns="0" rIns="0" tIns="0" bIns="0" anchor="t">
            <a:spAutoFit/>
          </a:bodyPr>
          <a:lstStyle/>
          <a:p>
            <a:pPr algn="r">
              <a:spcAft>
                <a:spcPts val="600"/>
              </a:spcAft>
            </a:pPr>
            <a:r>
              <a:rPr sz="900" b="0" i="0">
                <a:solidFill>
                  <a:srgbClr val="2B333C"/>
                </a:solidFill>
                <a:latin typeface="Aptos"/>
              </a:rPr>
              <a:t>13</a:t>
            </a:r>
          </a:p>
        </p:txBody>
      </p:sp>
      <p:sp>
        <p:nvSpPr>
          <p:cNvPr id="7" name="TextBox 6"/>
          <p:cNvSpPr txBox="1"/>
          <p:nvPr/>
        </p:nvSpPr>
        <p:spPr>
          <a:xfrm>
            <a:off x="685800" y="1508760"/>
            <a:ext cx="5029200" cy="457200"/>
          </a:xfrm>
          <a:prstGeom prst="rect">
            <a:avLst/>
          </a:prstGeom>
          <a:noFill/>
        </p:spPr>
        <p:txBody>
          <a:bodyPr wrap="square" lIns="0" rIns="0" tIns="0" bIns="0" anchor="t">
            <a:spAutoFit/>
          </a:bodyPr>
          <a:lstStyle/>
          <a:p>
            <a:pPr algn="l">
              <a:spcAft>
                <a:spcPts val="600"/>
              </a:spcAft>
            </a:pPr>
            <a:r>
              <a:rPr sz="2000" b="1" i="0">
                <a:solidFill>
                  <a:srgbClr val="D45F5F"/>
                </a:solidFill>
                <a:latin typeface="Aptos Display"/>
              </a:rPr>
              <a:t>LIMITATIONS</a:t>
            </a:r>
          </a:p>
        </p:txBody>
      </p:sp>
      <p:sp>
        <p:nvSpPr>
          <p:cNvPr id="8" name="TextBox 7"/>
          <p:cNvSpPr txBox="1"/>
          <p:nvPr/>
        </p:nvSpPr>
        <p:spPr>
          <a:xfrm>
            <a:off x="6446520" y="1508760"/>
            <a:ext cx="5029200" cy="457200"/>
          </a:xfrm>
          <a:prstGeom prst="rect">
            <a:avLst/>
          </a:prstGeom>
          <a:noFill/>
        </p:spPr>
        <p:txBody>
          <a:bodyPr wrap="square" lIns="0" rIns="0" tIns="0" bIns="0" anchor="t">
            <a:spAutoFit/>
          </a:bodyPr>
          <a:lstStyle/>
          <a:p>
            <a:pPr algn="l">
              <a:spcAft>
                <a:spcPts val="600"/>
              </a:spcAft>
            </a:pPr>
            <a:r>
              <a:rPr sz="2000" b="1" i="0">
                <a:solidFill>
                  <a:srgbClr val="5DC55B"/>
                </a:solidFill>
                <a:latin typeface="Aptos Display"/>
              </a:rPr>
              <a:t>NEXT</a:t>
            </a:r>
          </a:p>
        </p:txBody>
      </p:sp>
      <p:sp>
        <p:nvSpPr>
          <p:cNvPr id="9" name="TextBox 8"/>
          <p:cNvSpPr txBox="1"/>
          <p:nvPr/>
        </p:nvSpPr>
        <p:spPr>
          <a:xfrm>
            <a:off x="685800" y="2103120"/>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Re-ID weaker on small, distant vehicles</a:t>
            </a:r>
          </a:p>
        </p:txBody>
      </p:sp>
      <p:sp>
        <p:nvSpPr>
          <p:cNvPr id="10" name="Rounded Rectangle 9"/>
          <p:cNvSpPr/>
          <p:nvPr/>
        </p:nvSpPr>
        <p:spPr>
          <a:xfrm>
            <a:off x="6446520" y="2103120"/>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higher-resolution cameras · larger crops</a:t>
            </a:r>
          </a:p>
        </p:txBody>
      </p:sp>
      <p:sp>
        <p:nvSpPr>
          <p:cNvPr id="11" name="TextBox 10"/>
          <p:cNvSpPr txBox="1"/>
          <p:nvPr/>
        </p:nvSpPr>
        <p:spPr>
          <a:xfrm>
            <a:off x="685800" y="2852927"/>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Plates unreadable at street distance</a:t>
            </a:r>
          </a:p>
        </p:txBody>
      </p:sp>
      <p:sp>
        <p:nvSpPr>
          <p:cNvPr id="12" name="Rounded Rectangle 11"/>
          <p:cNvSpPr/>
          <p:nvPr/>
        </p:nvSpPr>
        <p:spPr>
          <a:xfrm>
            <a:off x="6446520" y="2852927"/>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dedicated plate detector before OCR</a:t>
            </a:r>
          </a:p>
        </p:txBody>
      </p:sp>
      <p:sp>
        <p:nvSpPr>
          <p:cNvPr id="13" name="TextBox 12"/>
          <p:cNvSpPr txBox="1"/>
          <p:nvPr/>
        </p:nvSpPr>
        <p:spPr>
          <a:xfrm>
            <a:off x="685800" y="3602735"/>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Zero-shot colour / type confusions</a:t>
            </a:r>
          </a:p>
        </p:txBody>
      </p:sp>
      <p:sp>
        <p:nvSpPr>
          <p:cNvPr id="14" name="Rounded Rectangle 13"/>
          <p:cNvSpPr/>
          <p:nvPr/>
        </p:nvSpPr>
        <p:spPr>
          <a:xfrm>
            <a:off x="6446520" y="3602735"/>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richer prompts · per-colour checks</a:t>
            </a:r>
          </a:p>
        </p:txBody>
      </p:sp>
      <p:sp>
        <p:nvSpPr>
          <p:cNvPr id="15" name="TextBox 14"/>
          <p:cNvSpPr txBox="1"/>
          <p:nvPr/>
        </p:nvSpPr>
        <p:spPr>
          <a:xfrm>
            <a:off x="685800" y="4352544"/>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Demo cameras = zones of one recording</a:t>
            </a:r>
          </a:p>
        </p:txBody>
      </p:sp>
      <p:sp>
        <p:nvSpPr>
          <p:cNvPr id="16" name="Rounded Rectangle 15"/>
          <p:cNvSpPr/>
          <p:nvPr/>
        </p:nvSpPr>
        <p:spPr>
          <a:xfrm>
            <a:off x="6446520" y="4352544"/>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separate physical cameras (e.g. CityFlow) · travel-time limits</a:t>
            </a:r>
          </a:p>
        </p:txBody>
      </p:sp>
      <p:sp>
        <p:nvSpPr>
          <p:cNvPr id="17" name="TextBox 16"/>
          <p:cNvSpPr txBox="1"/>
          <p:nvPr/>
        </p:nvSpPr>
        <p:spPr>
          <a:xfrm>
            <a:off x="685800" y="5102352"/>
            <a:ext cx="5120640" cy="548640"/>
          </a:xfrm>
          <a:prstGeom prst="rect">
            <a:avLst/>
          </a:prstGeom>
          <a:noFill/>
        </p:spPr>
        <p:txBody>
          <a:bodyPr wrap="square" lIns="0" rIns="0" tIns="0" bIns="0" anchor="ctr">
            <a:spAutoFit/>
          </a:bodyPr>
          <a:lstStyle/>
          <a:p>
            <a:pPr algn="l">
              <a:spcAft>
                <a:spcPts val="600"/>
              </a:spcAft>
            </a:pPr>
            <a:r>
              <a:rPr sz="1700" b="0" i="0">
                <a:solidFill>
                  <a:srgbClr val="2B333C"/>
                </a:solidFill>
                <a:latin typeface="Aptos"/>
              </a:rPr>
              <a:t>×  Recorded videos only</a:t>
            </a:r>
          </a:p>
        </p:txBody>
      </p:sp>
      <p:sp>
        <p:nvSpPr>
          <p:cNvPr id="18" name="Rounded Rectangle 17"/>
          <p:cNvSpPr/>
          <p:nvPr/>
        </p:nvSpPr>
        <p:spPr>
          <a:xfrm>
            <a:off x="6446520" y="5102352"/>
            <a:ext cx="5212080" cy="548640"/>
          </a:xfrm>
          <a:prstGeom prst="roundRect">
            <a:avLst>
              <a:gd name="adj" fmla="val 3500"/>
            </a:avLst>
          </a:prstGeom>
          <a:solidFill>
            <a:srgbClr val="EFF7F6"/>
          </a:solidFill>
          <a:ln w="9525">
            <a:solidFill>
              <a:srgbClr val="D6DEE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r>
              <a:rPr sz="1400" b="0">
                <a:solidFill>
                  <a:srgbClr val="161B22"/>
                </a:solidFill>
                <a:latin typeface="Aptos"/>
              </a:rPr>
              <a:t>live RTSP camera streams</a:t>
            </a:r>
          </a:p>
        </p:txBody>
      </p:sp>
      <p:sp>
        <p:nvSpPr>
          <p:cNvPr id="19" name="Rounded Rectangle 18"/>
          <p:cNvSpPr/>
          <p:nvPr/>
        </p:nvSpPr>
        <p:spPr>
          <a:xfrm>
            <a:off x="2103120" y="5989320"/>
            <a:ext cx="8001000" cy="457200"/>
          </a:xfrm>
          <a:prstGeom prst="roundRect">
            <a:avLst>
              <a:gd name="adj" fmla="val 12000"/>
            </a:avLst>
          </a:prstGeom>
          <a:solidFill>
            <a:srgbClr val="1532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Aptos Display"/>
              </a:rPr>
              <a:t>MVP: recorded-video proof of concept  →  future extension: live camera streams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end.png"/>
          <p:cNvPicPr>
            <a:picLocks noChangeAspect="1"/>
          </p:cNvPicPr>
          <p:nvPr/>
        </p:nvPicPr>
        <p:blipFill>
          <a:blip r:embed="rId2"/>
          <a:stretch>
            <a:fillRect/>
          </a:stretch>
        </p:blipFill>
        <p:spPr>
          <a:xfrm>
            <a:off x="0" y="0"/>
            <a:ext cx="12191695" cy="6858000"/>
          </a:xfrm>
          <a:prstGeom prst="rect">
            <a:avLst/>
          </a:prstGeom>
        </p:spPr>
      </p:pic>
      <p:pic>
        <p:nvPicPr>
          <p:cNvPr id="3" name="Picture 2" descr="nus_iss_logo.png"/>
          <p:cNvPicPr>
            <a:picLocks noChangeAspect="1"/>
          </p:cNvPicPr>
          <p:nvPr/>
        </p:nvPicPr>
        <p:blipFill>
          <a:blip r:embed="rId3"/>
          <a:stretch>
            <a:fillRect/>
          </a:stretch>
        </p:blipFill>
        <p:spPr>
          <a:xfrm>
            <a:off x="10424160" y="146304"/>
            <a:ext cx="1691640" cy="744860"/>
          </a:xfrm>
          <a:prstGeom prst="rect">
            <a:avLst/>
          </a:prstGeom>
        </p:spPr>
      </p:pic>
      <p:pic>
        <p:nvPicPr>
          <p:cNvPr id="4" name="Picture 3" descr="vtrace_logo_dark.png"/>
          <p:cNvPicPr>
            <a:picLocks noChangeAspect="1"/>
          </p:cNvPicPr>
          <p:nvPr/>
        </p:nvPicPr>
        <p:blipFill>
          <a:blip r:embed="rId5"/>
          <a:stretch>
            <a:fillRect/>
          </a:stretch>
        </p:blipFill>
        <p:spPr>
          <a:xfrm>
            <a:off x="548640" y="411480"/>
            <a:ext cx="3840480" cy="1057365"/>
          </a:xfrm>
          <a:prstGeom prst="rect">
            <a:avLst/>
          </a:prstGeom>
        </p:spPr>
      </p:pic>
      <p:sp>
        <p:nvSpPr>
          <p:cNvPr id="5" name="TextBox 4"/>
          <p:cNvSpPr txBox="1"/>
          <p:nvPr/>
        </p:nvSpPr>
        <p:spPr>
          <a:xfrm>
            <a:off x="68580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81.6%</a:t>
            </a:r>
          </a:p>
        </p:txBody>
      </p:sp>
      <p:sp>
        <p:nvSpPr>
          <p:cNvPr id="6" name="TextBox 5"/>
          <p:cNvSpPr txBox="1"/>
          <p:nvPr/>
        </p:nvSpPr>
        <p:spPr>
          <a:xfrm>
            <a:off x="68580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Re-ID mAP on VeRi-776, pretrained model as published</a:t>
            </a:r>
          </a:p>
        </p:txBody>
      </p:sp>
      <p:sp>
        <p:nvSpPr>
          <p:cNvPr id="7" name="TextBox 6"/>
          <p:cNvSpPr txBox="1"/>
          <p:nvPr/>
        </p:nvSpPr>
        <p:spPr>
          <a:xfrm>
            <a:off x="4251960" y="1828800"/>
            <a:ext cx="3291840" cy="640080"/>
          </a:xfrm>
          <a:prstGeom prst="rect">
            <a:avLst/>
          </a:prstGeom>
          <a:noFill/>
        </p:spPr>
        <p:txBody>
          <a:bodyPr wrap="square" lIns="0" rIns="0" tIns="0" bIns="0" anchor="t">
            <a:spAutoFit/>
          </a:bodyPr>
          <a:lstStyle/>
          <a:p>
            <a:pPr algn="l">
              <a:spcAft>
                <a:spcPts val="600"/>
              </a:spcAft>
            </a:pPr>
            <a:r>
              <a:rPr sz="3400" b="1" i="0">
                <a:solidFill>
                  <a:srgbClr val="E39B57"/>
                </a:solidFill>
                <a:latin typeface="Aptos Display"/>
              </a:rPr>
              <a:t>0 models trained</a:t>
            </a:r>
          </a:p>
        </p:txBody>
      </p:sp>
      <p:sp>
        <p:nvSpPr>
          <p:cNvPr id="8" name="TextBox 7"/>
          <p:cNvSpPr txBox="1"/>
          <p:nvPr/>
        </p:nvSpPr>
        <p:spPr>
          <a:xfrm>
            <a:off x="425196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YOLO11 · ByteTrack · CLIP · EasyOCR · FastReID</a:t>
            </a:r>
          </a:p>
        </p:txBody>
      </p:sp>
      <p:sp>
        <p:nvSpPr>
          <p:cNvPr id="9" name="TextBox 8"/>
          <p:cNvSpPr txBox="1"/>
          <p:nvPr/>
        </p:nvSpPr>
        <p:spPr>
          <a:xfrm>
            <a:off x="7818120" y="1828800"/>
            <a:ext cx="3291840" cy="640080"/>
          </a:xfrm>
          <a:prstGeom prst="rect">
            <a:avLst/>
          </a:prstGeom>
          <a:noFill/>
        </p:spPr>
        <p:txBody>
          <a:bodyPr wrap="square" lIns="0" rIns="0" tIns="0" bIns="0" anchor="t">
            <a:spAutoFit/>
          </a:bodyPr>
          <a:lstStyle/>
          <a:p>
            <a:pPr algn="l">
              <a:spcAft>
                <a:spcPts val="600"/>
              </a:spcAft>
            </a:pPr>
            <a:r>
              <a:rPr sz="3400" b="1" i="0">
                <a:solidFill>
                  <a:srgbClr val="5DC55B"/>
                </a:solidFill>
                <a:latin typeface="Aptos Display"/>
              </a:rPr>
              <a:t>71%</a:t>
            </a:r>
          </a:p>
        </p:txBody>
      </p:sp>
      <p:sp>
        <p:nvSpPr>
          <p:cNvPr id="10" name="TextBox 9"/>
          <p:cNvSpPr txBox="1"/>
          <p:nvPr/>
        </p:nvSpPr>
        <p:spPr>
          <a:xfrm>
            <a:off x="7818120" y="2560320"/>
            <a:ext cx="3108960" cy="731520"/>
          </a:xfrm>
          <a:prstGeom prst="rect">
            <a:avLst/>
          </a:prstGeom>
          <a:noFill/>
        </p:spPr>
        <p:txBody>
          <a:bodyPr wrap="square" lIns="0" rIns="0" tIns="0" bIns="0" anchor="t">
            <a:spAutoFit/>
          </a:bodyPr>
          <a:lstStyle/>
          <a:p>
            <a:pPr algn="l">
              <a:spcAft>
                <a:spcPts val="600"/>
              </a:spcAft>
            </a:pPr>
            <a:r>
              <a:rPr sz="1400" b="0" i="0">
                <a:solidFill>
                  <a:srgbClr val="D9E2E8"/>
                </a:solidFill>
                <a:latin typeface="Aptos"/>
              </a:rPr>
              <a:t>of reported cameras correct on real street footage</a:t>
            </a:r>
          </a:p>
        </p:txBody>
      </p:sp>
      <p:sp>
        <p:nvSpPr>
          <p:cNvPr id="11" name="TextBox 10"/>
          <p:cNvSpPr txBox="1"/>
          <p:nvPr/>
        </p:nvSpPr>
        <p:spPr>
          <a:xfrm>
            <a:off x="0" y="3429000"/>
            <a:ext cx="12191695" cy="1097280"/>
          </a:xfrm>
          <a:prstGeom prst="rect">
            <a:avLst/>
          </a:prstGeom>
          <a:noFill/>
        </p:spPr>
        <p:txBody>
          <a:bodyPr wrap="square" lIns="0" rIns="0" tIns="0" bIns="0" anchor="t">
            <a:spAutoFit/>
          </a:bodyPr>
          <a:lstStyle/>
          <a:p>
            <a:pPr algn="ctr">
              <a:spcAft>
                <a:spcPts val="600"/>
              </a:spcAft>
            </a:pPr>
            <a:r>
              <a:rPr sz="7200" b="1" i="0">
                <a:solidFill>
                  <a:srgbClr val="12A7A1"/>
                </a:solidFill>
                <a:latin typeface="Aptos Display"/>
              </a:rPr>
              <a:t>Thank you!</a:t>
            </a:r>
          </a:p>
        </p:txBody>
      </p:sp>
      <p:sp>
        <p:nvSpPr>
          <p:cNvPr id="12" name="TextBox 11"/>
          <p:cNvSpPr txBox="1"/>
          <p:nvPr/>
        </p:nvSpPr>
        <p:spPr>
          <a:xfrm>
            <a:off x="502920" y="5715000"/>
            <a:ext cx="11201400" cy="914400"/>
          </a:xfrm>
          <a:prstGeom prst="rect">
            <a:avLst/>
          </a:prstGeom>
          <a:noFill/>
        </p:spPr>
        <p:txBody>
          <a:bodyPr wrap="square" lIns="0" rIns="0" tIns="0" bIns="0" anchor="t">
            <a:spAutoFit/>
          </a:bodyPr>
          <a:lstStyle/>
          <a:p>
            <a:pPr algn="l">
              <a:spcAft>
                <a:spcPts val="600"/>
              </a:spcAft>
            </a:pPr>
            <a:r>
              <a:rPr sz="1100" b="1" i="0">
                <a:solidFill>
                  <a:srgbClr val="FFFFFF"/>
                </a:solidFill>
                <a:latin typeface="Aptos"/>
              </a:rPr>
              <a:t>In the preparation of this project, AI-based tools including Claude, ChatGPT and Gemini were used in a supporting capacity to assist with tasks such as drafting and refining text, organising content, implementation and general research support. All ideas, analysis, technical design decisions and conclusions are the work of the project team.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