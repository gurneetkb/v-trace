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Our run</c:v>
                </c:pt>
              </c:strCache>
            </c:strRef>
          </c:tx>
          <c:spPr>
            <a:solidFill>
              <a:srgbClr val="12A7A1"/>
            </a:solidFill>
          </c:spPr>
          <c:cat>
            <c:strRef>
              <c:f>Sheet1!$A$2:$A$3</c:f>
              <c:strCache>
                <c:ptCount val="2"/>
                <c:pt idx="0">
                  <c:v>Rank-1</c:v>
                </c:pt>
                <c:pt idx="1">
                  <c:v>mAP</c:v>
                </c:pt>
              </c:strCache>
            </c:strRef>
          </c:cat>
          <c:val>
            <c:numRef>
              <c:f>Sheet1!$B$2:$B$3</c:f>
              <c:numCache>
                <c:formatCode>General</c:formatCode>
                <c:ptCount val="2"/>
                <c:pt idx="0">
                  <c:v>97.0</c:v>
                </c:pt>
                <c:pt idx="1">
                  <c:v>81.6</c:v>
                </c:pt>
              </c:numCache>
            </c:numRef>
          </c:val>
        </c:ser>
        <c:ser>
          <c:idx val="1"/>
          <c:order val="1"/>
          <c:tx>
            <c:strRef>
              <c:f>Sheet1!$C$1</c:f>
              <c:strCache>
                <c:ptCount val="1"/>
                <c:pt idx="0">
                  <c:v>FastReID model zoo</c:v>
                </c:pt>
              </c:strCache>
            </c:strRef>
          </c:tx>
          <c:spPr>
            <a:solidFill>
              <a:srgbClr val="B9C3CC"/>
            </a:solidFill>
          </c:spPr>
          <c:cat>
            <c:strRef>
              <c:f>Sheet1!$A$2:$A$3</c:f>
              <c:strCache>
                <c:ptCount val="2"/>
                <c:pt idx="0">
                  <c:v>Rank-1</c:v>
                </c:pt>
                <c:pt idx="1">
                  <c:v>mAP</c:v>
                </c:pt>
              </c:strCache>
            </c:strRef>
          </c:cat>
          <c:val>
            <c:numRef>
              <c:f>Sheet1!$C$2:$C$3</c:f>
              <c:numCache>
                <c:formatCode>General</c:formatCode>
                <c:ptCount val="2"/>
                <c:pt idx="0">
                  <c:v>97.0</c:v>
                </c:pt>
                <c:pt idx="1">
                  <c:v>81.9</c:v>
                </c:pt>
              </c:numCache>
            </c:numRef>
          </c:val>
        </c:ser>
        <c:dLbls>
          <c:numFmt formatCode="0.0" sourceLinked="0"/>
          <c:txPr>
            <a:bodyPr/>
            <a:lstStyle/>
            <a:p>
              <a:pPr>
                <a:defRPr sz="1100">
                  <a:solidFill>
                    <a:srgbClr val="2B333C"/>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6DEE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6EBE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B333C"/>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I'm Gurneet Kaur Bhuller from Group 21. This is V-Trace, a vehicle search and re-identification platform. As in my proposal, the problem is finding one vehicle across several cameras when the plate is unreadable and the search starts from a description. Today I'll show what I built – V-Trace, using only pretrained, published models – how it performs on the VeRi-776 benchmark and on multi-camera street footage, what I learned, and then the live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system. YOLO11 detects vehicles and ByteTrack follows each one; one track is one sighting, with four good crops and one full frame. Each sighting is described by three pretrained models: the FastReID re-identification model trained on VeRi-776, CLIP for colour, type and distinctive features, and EasyOCR for plates. The description search ranks sightings; after the user selects one, Re-ID similarity finds it in the other cameras.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pretrained components. YOLO11 nano detects cars, motorcycles, buses and trucks. ByteTrack links detections over time. CLIP compares each vehicle with text such as 'a photo of a red car' or 'a car with a rear spoiler', zero-shot. EasyOCR reads plates when they are large enough. And the key one: FastReID, the framework released by the VeRi-776 authors' team, with their model trained on VeRi-776. I load its published checkpoint and use it unchanged to turn every vehicle crop into a 2048-number signature.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scoring steps. For the description, every field the user fills in gives each sighting a score between zero and one, and the final score is the weighted mean over only those fields, so leaving a field empty never hurts. For re-identification, the similarity of two sightings is the cosine of their FastReID signatures. A camera counts as 'seen' only if its best sighting is above 0.40, beats the camera's second-best by 0.08 – a ratio test, so look-alike cars are left to the user – and is within ten seconds in real-world time, which is each camera's recording start plus the position in its video.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does the model work as published? On the official VeRi-776 split it reaches 97.0 percent rank-one and 81.6 percent mean average precision; the FastReID model zoo reports 97.0 and 81.9. So the weights load and behave correctly. The score distributions set the threshold: same-vehicle pairs from different cameras have a median similarity of 0.62, while 99 percent of different-vehicle pairs score below 0.38. At 0.40, 89 percent of true pairs pass and only 0.8 percent of wrong ones.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footage is an openly licensed street recording cut into three camera zones along one road, so the same cars really pass all three, plus a fourth camera on another road; tracking the full frame once gives a pseudo ground truth. On this real street video the same model is much weaker: vehicles are small and seen from very different angles. The correct sighting is ranked first for 36 percent of queries. That is why the decision rule matters. With the ratio test and a ten-second real-world time window, 81 percent of the cameras V-Trace reports are correct. Part of that comes from the curated clocks: the other road was recorded minutes later, so the window rules it out. Without the window, the model and ratio test alone reach 53 percent, with 16 percent of queries wrongly placed on the other road. It finds 32 percent of the cameras – for the rest it shows the closest vehicles so the user can decide.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app. After the admin signs in, the four demo cameras are already processed. I describe the target: colour red, type SUV, and search. The ranked matches show red cars; number three is a red Citroën in camera B at 42 seconds past 8:15. I select it, and V-Trace shows where it was seen: Orchard Road west of Scotts Road at 8:15:40.8, at the Scotts Road junction at 8:15:42.0 and east of it at 8:15:43.5, each with location, date and time, a crop and the full frame, plus a map. The other road, recorded minutes later, is listed as not seen. On the Cameras page each camera's location and recording start can be edited, and the route updates.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lessons. First, a published model trained by the dataset's own authors beat anything I could train in ten days, but I verified it by re-running the official benchmark before trusting it. Second, benchmark accuracy does not transfer: on my street footage rank-one dropped to about 36 percent. Third, decision rules matter as much as scores: a ratio test and a time window raised the share of correct cameras from 26 to 81 percent without any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The model was trained on VeRi images and is weaker on small, distant vehicles. Plates are rarely readable at street distance. Colour and type from zero-shot CLIP confuse similar classes. The demo cameras are zones of one recording, not separate physical cameras. And V-Trace reads recorded files, though it works frame by frame, so live streams are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V-Trace turns camera videos into searchable sightings, ranks them against a description, and once the user selects the right vehicle, shows every camera it was seen in with times and frames. It is built entirely from published pretrained models; the Re-ID model reproduces its benchmark accuracy, and on real street footage the cameras it reports are correct 81 percent of the time.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 Id="rId4" Type="http://schemas.openxmlformats.org/officeDocument/2006/relationships/image" Target="../media/image5.png"/><Relationship Id="rId5"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title.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02920" y="1051560"/>
            <a:ext cx="7863840" cy="2165080"/>
          </a:xfrm>
          <a:prstGeom prst="rect">
            <a:avLst/>
          </a:prstGeom>
        </p:spPr>
      </p:pic>
      <p:sp>
        <p:nvSpPr>
          <p:cNvPr id="5" name="TextBox 4"/>
          <p:cNvSpPr txBox="1"/>
          <p:nvPr/>
        </p:nvSpPr>
        <p:spPr>
          <a:xfrm>
            <a:off x="685800" y="3886200"/>
            <a:ext cx="8229600" cy="457200"/>
          </a:xfrm>
          <a:prstGeom prst="rect">
            <a:avLst/>
          </a:prstGeom>
          <a:noFill/>
        </p:spPr>
        <p:txBody>
          <a:bodyPr wrap="square" lIns="0" rIns="0" tIns="0" bIns="0" anchor="t">
            <a:spAutoFit/>
          </a:bodyPr>
          <a:lstStyle/>
          <a:p>
            <a:pPr algn="l">
              <a:spcAft>
                <a:spcPts val="600"/>
              </a:spcAft>
            </a:pPr>
            <a:r>
              <a:rPr sz="2200" b="1" i="0">
                <a:solidFill>
                  <a:srgbClr val="5DC55B"/>
                </a:solidFill>
                <a:latin typeface="Aptos Display"/>
              </a:rPr>
              <a:t>DESCRIBE  →  RANK  →  SELECT  →  TRACE</a:t>
            </a:r>
          </a:p>
        </p:txBody>
      </p:sp>
      <p:sp>
        <p:nvSpPr>
          <p:cNvPr id="6" name="TextBox 5"/>
          <p:cNvSpPr txBox="1"/>
          <p:nvPr/>
        </p:nvSpPr>
        <p:spPr>
          <a:xfrm>
            <a:off x="685800" y="4617720"/>
            <a:ext cx="8229600" cy="457200"/>
          </a:xfrm>
          <a:prstGeom prst="rect">
            <a:avLst/>
          </a:prstGeom>
          <a:noFill/>
        </p:spPr>
        <p:txBody>
          <a:bodyPr wrap="square" lIns="0" rIns="0" tIns="0" bIns="0" anchor="t">
            <a:spAutoFit/>
          </a:bodyPr>
          <a:lstStyle/>
          <a:p>
            <a:pPr algn="l">
              <a:spcAft>
                <a:spcPts val="600"/>
              </a:spcAft>
            </a:pPr>
            <a:r>
              <a:rPr sz="2600" b="0" i="0">
                <a:solidFill>
                  <a:srgbClr val="B8E9E6"/>
                </a:solidFill>
                <a:latin typeface="Aptos"/>
              </a:rPr>
              <a:t>Multi-Attribute Vehicle Re-Identification System</a:t>
            </a:r>
          </a:p>
        </p:txBody>
      </p:sp>
      <p:sp>
        <p:nvSpPr>
          <p:cNvPr id="7" name="TextBox 6"/>
          <p:cNvSpPr txBox="1"/>
          <p:nvPr/>
        </p:nvSpPr>
        <p:spPr>
          <a:xfrm>
            <a:off x="685800" y="5440680"/>
            <a:ext cx="8229600" cy="365760"/>
          </a:xfrm>
          <a:prstGeom prst="rect">
            <a:avLst/>
          </a:prstGeom>
          <a:noFill/>
        </p:spPr>
        <p:txBody>
          <a:bodyPr wrap="square" lIns="0" rIns="0" tIns="0" bIns="0" anchor="t">
            <a:spAutoFit/>
          </a:bodyPr>
          <a:lstStyle/>
          <a:p>
            <a:pPr algn="l">
              <a:spcAft>
                <a:spcPts val="600"/>
              </a:spcAft>
            </a:pPr>
            <a:r>
              <a:rPr sz="1700" b="0" i="0">
                <a:solidFill>
                  <a:srgbClr val="FFFFFF"/>
                </a:solidFill>
                <a:latin typeface="Aptos"/>
              </a:rPr>
              <a:t>Gurneet Kaur Bhuller  |  Group 21</a:t>
            </a:r>
          </a:p>
        </p:txBody>
      </p:sp>
      <p:sp>
        <p:nvSpPr>
          <p:cNvPr id="8" name="TextBox 7"/>
          <p:cNvSpPr txBox="1"/>
          <p:nvPr/>
        </p:nvSpPr>
        <p:spPr>
          <a:xfrm>
            <a:off x="685800" y="5897880"/>
            <a:ext cx="8229600" cy="274320"/>
          </a:xfrm>
          <a:prstGeom prst="rect">
            <a:avLst/>
          </a:prstGeom>
          <a:noFill/>
        </p:spPr>
        <p:txBody>
          <a:bodyPr wrap="square" lIns="0" rIns="0" tIns="0" bIns="0" anchor="t">
            <a:spAutoFit/>
          </a:bodyPr>
          <a:lstStyle/>
          <a:p>
            <a:pPr algn="l">
              <a:spcAft>
                <a:spcPts val="600"/>
              </a:spcAft>
            </a:pPr>
            <a:r>
              <a:rPr sz="1200" b="0" i="0">
                <a:solidFill>
                  <a:srgbClr val="AEB8C2"/>
                </a:solidFill>
                <a:latin typeface="Aptos"/>
              </a:rPr>
              <a:t>Pattern Recognition Systems · Final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System Design</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Every step uses a published, pretrained model – nothing is trained for this project.</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2</a:t>
            </a:r>
          </a:p>
        </p:txBody>
      </p:sp>
      <p:sp>
        <p:nvSpPr>
          <p:cNvPr id="7" name="Rounded Rectangle 6"/>
          <p:cNvSpPr/>
          <p:nvPr/>
        </p:nvSpPr>
        <p:spPr>
          <a:xfrm>
            <a:off x="365760"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VIDEOS</a:t>
            </a:r>
          </a:p>
        </p:txBody>
      </p:sp>
      <p:sp>
        <p:nvSpPr>
          <p:cNvPr id="9" name="TextBox 8"/>
          <p:cNvSpPr txBox="1"/>
          <p:nvPr/>
        </p:nvSpPr>
        <p:spPr>
          <a:xfrm>
            <a:off x="50292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Demo or uploaded</a:t>
            </a:r>
          </a:p>
          <a:p>
            <a:pPr algn="l">
              <a:spcAft>
                <a:spcPts val="300"/>
              </a:spcAft>
            </a:pPr>
            <a:r>
              <a:rPr sz="1300" b="0" i="0">
                <a:solidFill>
                  <a:srgbClr val="2B333C"/>
                </a:solidFill>
                <a:latin typeface="Aptos"/>
              </a:rPr>
              <a:t>(one video = one camera)</a:t>
            </a:r>
          </a:p>
        </p:txBody>
      </p:sp>
      <p:sp>
        <p:nvSpPr>
          <p:cNvPr id="10" name="Chevron 9"/>
          <p:cNvSpPr/>
          <p:nvPr/>
        </p:nvSpPr>
        <p:spPr>
          <a:xfrm>
            <a:off x="1856231"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048256"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DETECT + TRACK</a:t>
            </a:r>
          </a:p>
        </p:txBody>
      </p:sp>
      <p:sp>
        <p:nvSpPr>
          <p:cNvPr id="13" name="TextBox 12"/>
          <p:cNvSpPr txBox="1"/>
          <p:nvPr/>
        </p:nvSpPr>
        <p:spPr>
          <a:xfrm>
            <a:off x="218541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YOLO11n + ByteTrack</a:t>
            </a:r>
          </a:p>
          <a:p>
            <a:pPr algn="l">
              <a:spcAft>
                <a:spcPts val="300"/>
              </a:spcAft>
            </a:pPr>
            <a:r>
              <a:rPr sz="1300" b="0" i="0">
                <a:solidFill>
                  <a:srgbClr val="2B333C"/>
                </a:solidFill>
                <a:latin typeface="Aptos"/>
              </a:rPr>
              <a:t>→ sightings</a:t>
            </a:r>
          </a:p>
        </p:txBody>
      </p:sp>
      <p:sp>
        <p:nvSpPr>
          <p:cNvPr id="14" name="Chevron 13"/>
          <p:cNvSpPr/>
          <p:nvPr/>
        </p:nvSpPr>
        <p:spPr>
          <a:xfrm>
            <a:off x="3538728"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30752" y="1600200"/>
            <a:ext cx="1463040" cy="356616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7912"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DESCRIBE</a:t>
            </a:r>
          </a:p>
        </p:txBody>
      </p:sp>
      <p:sp>
        <p:nvSpPr>
          <p:cNvPr id="17" name="TextBox 16"/>
          <p:cNvSpPr txBox="1"/>
          <p:nvPr/>
        </p:nvSpPr>
        <p:spPr>
          <a:xfrm>
            <a:off x="3867912"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FastReID (VeRi-776)</a:t>
            </a:r>
          </a:p>
          <a:p>
            <a:pPr algn="l">
              <a:spcAft>
                <a:spcPts val="300"/>
              </a:spcAft>
            </a:pPr>
            <a:r>
              <a:rPr sz="1300" b="0" i="0">
                <a:solidFill>
                  <a:srgbClr val="2B333C"/>
                </a:solidFill>
                <a:latin typeface="Aptos"/>
              </a:rPr>
              <a:t>CLIP zero-shot</a:t>
            </a:r>
          </a:p>
          <a:p>
            <a:pPr algn="l">
              <a:spcAft>
                <a:spcPts val="300"/>
              </a:spcAft>
            </a:pPr>
            <a:r>
              <a:rPr sz="1300" b="0" i="0">
                <a:solidFill>
                  <a:srgbClr val="2B333C"/>
                </a:solidFill>
                <a:latin typeface="Aptos"/>
              </a:rPr>
              <a:t>EasyOCR</a:t>
            </a:r>
          </a:p>
        </p:txBody>
      </p:sp>
      <p:sp>
        <p:nvSpPr>
          <p:cNvPr id="18" name="Chevron 17"/>
          <p:cNvSpPr/>
          <p:nvPr/>
        </p:nvSpPr>
        <p:spPr>
          <a:xfrm>
            <a:off x="5221224"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3248" y="1600200"/>
            <a:ext cx="1463040" cy="3566160"/>
          </a:xfrm>
          <a:prstGeom prst="roundRect">
            <a:avLst>
              <a:gd name="adj" fmla="val 3500"/>
            </a:avLst>
          </a:prstGeom>
          <a:solidFill>
            <a:srgbClr val="E6F2E9"/>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SEARCH</a:t>
            </a:r>
          </a:p>
        </p:txBody>
      </p:sp>
      <p:sp>
        <p:nvSpPr>
          <p:cNvPr id="21" name="TextBox 20"/>
          <p:cNvSpPr txBox="1"/>
          <p:nvPr/>
        </p:nvSpPr>
        <p:spPr>
          <a:xfrm>
            <a:off x="5550408"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description</a:t>
            </a:r>
          </a:p>
          <a:p>
            <a:pPr algn="l">
              <a:spcAft>
                <a:spcPts val="300"/>
              </a:spcAft>
            </a:pPr>
            <a:r>
              <a:rPr sz="1300" b="0" i="0">
                <a:solidFill>
                  <a:srgbClr val="2B333C"/>
                </a:solidFill>
                <a:latin typeface="Aptos"/>
              </a:rPr>
              <a:t>→ ranked matches</a:t>
            </a:r>
          </a:p>
        </p:txBody>
      </p:sp>
      <p:sp>
        <p:nvSpPr>
          <p:cNvPr id="22" name="Chevron 21"/>
          <p:cNvSpPr/>
          <p:nvPr/>
        </p:nvSpPr>
        <p:spPr>
          <a:xfrm>
            <a:off x="6903720"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95744" y="1600200"/>
            <a:ext cx="1463040" cy="356616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SELECT</a:t>
            </a:r>
          </a:p>
        </p:txBody>
      </p:sp>
      <p:sp>
        <p:nvSpPr>
          <p:cNvPr id="25" name="TextBox 24"/>
          <p:cNvSpPr txBox="1"/>
          <p:nvPr/>
        </p:nvSpPr>
        <p:spPr>
          <a:xfrm>
            <a:off x="7232904"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picks the right vehicle</a:t>
            </a:r>
          </a:p>
        </p:txBody>
      </p:sp>
      <p:sp>
        <p:nvSpPr>
          <p:cNvPr id="26" name="Chevron 25"/>
          <p:cNvSpPr/>
          <p:nvPr/>
        </p:nvSpPr>
        <p:spPr>
          <a:xfrm>
            <a:off x="8586216"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78240" y="1600200"/>
            <a:ext cx="1463040" cy="3566160"/>
          </a:xfrm>
          <a:prstGeom prst="roundRect">
            <a:avLst>
              <a:gd name="adj" fmla="val 3500"/>
            </a:avLst>
          </a:prstGeom>
          <a:solidFill>
            <a:srgbClr val="DDE7EC"/>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Re-ID</a:t>
            </a:r>
          </a:p>
        </p:txBody>
      </p:sp>
      <p:sp>
        <p:nvSpPr>
          <p:cNvPr id="29" name="TextBox 28"/>
          <p:cNvSpPr txBox="1"/>
          <p:nvPr/>
        </p:nvSpPr>
        <p:spPr>
          <a:xfrm>
            <a:off x="891540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FastReID similarity</a:t>
            </a:r>
          </a:p>
          <a:p>
            <a:pPr algn="l">
              <a:spcAft>
                <a:spcPts val="300"/>
              </a:spcAft>
            </a:pPr>
            <a:r>
              <a:rPr sz="1300" b="0" i="0">
                <a:solidFill>
                  <a:srgbClr val="2B333C"/>
                </a:solidFill>
                <a:latin typeface="Aptos"/>
              </a:rPr>
              <a:t>threshold + ratio test</a:t>
            </a:r>
          </a:p>
          <a:p>
            <a:pPr algn="l">
              <a:spcAft>
                <a:spcPts val="300"/>
              </a:spcAft>
            </a:pPr>
            <a:r>
              <a:rPr sz="1300" b="0" i="0">
                <a:solidFill>
                  <a:srgbClr val="2B333C"/>
                </a:solidFill>
                <a:latin typeface="Aptos"/>
              </a:rPr>
              <a:t>+ time window</a:t>
            </a:r>
          </a:p>
        </p:txBody>
      </p:sp>
      <p:sp>
        <p:nvSpPr>
          <p:cNvPr id="30" name="Chevron 29"/>
          <p:cNvSpPr/>
          <p:nvPr/>
        </p:nvSpPr>
        <p:spPr>
          <a:xfrm>
            <a:off x="10268712"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460736" y="1600200"/>
            <a:ext cx="1463040" cy="356616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789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WHERE SEEN</a:t>
            </a:r>
          </a:p>
        </p:txBody>
      </p:sp>
      <p:sp>
        <p:nvSpPr>
          <p:cNvPr id="33" name="TextBox 32"/>
          <p:cNvSpPr txBox="1"/>
          <p:nvPr/>
        </p:nvSpPr>
        <p:spPr>
          <a:xfrm>
            <a:off x="1059789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Location · real-world</a:t>
            </a:r>
          </a:p>
          <a:p>
            <a:pPr algn="l">
              <a:spcAft>
                <a:spcPts val="300"/>
              </a:spcAft>
            </a:pPr>
            <a:r>
              <a:rPr sz="1300" b="0" i="0">
                <a:solidFill>
                  <a:srgbClr val="2B333C"/>
                </a:solidFill>
                <a:latin typeface="Aptos"/>
              </a:rPr>
              <a:t>time · frame per</a:t>
            </a:r>
          </a:p>
          <a:p>
            <a:pPr algn="l">
              <a:spcAft>
                <a:spcPts val="300"/>
              </a:spcAft>
            </a:pPr>
            <a:r>
              <a:rPr sz="1300" b="0" i="0">
                <a:solidFill>
                  <a:srgbClr val="2B333C"/>
                </a:solidFill>
                <a:latin typeface="Aptos"/>
              </a:rPr>
              <a:t>sighting · map</a:t>
            </a:r>
          </a:p>
        </p:txBody>
      </p:sp>
      <p:sp>
        <p:nvSpPr>
          <p:cNvPr id="34" name="TextBox 33"/>
          <p:cNvSpPr txBox="1"/>
          <p:nvPr/>
        </p:nvSpPr>
        <p:spPr>
          <a:xfrm>
            <a:off x="411480" y="5532120"/>
            <a:ext cx="11338560" cy="5486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a:rPr>
              <a:t>Sighting = one vehicle seen continuously in one camera · real-world time = camera recording start + position in video</a:t>
            </a:r>
          </a:p>
        </p:txBody>
      </p:sp>
      <p:sp>
        <p:nvSpPr>
          <p:cNvPr id="35" name="TextBox 34"/>
          <p:cNvSpPr txBox="1"/>
          <p:nvPr/>
        </p:nvSpPr>
        <p:spPr>
          <a:xfrm>
            <a:off x="411480" y="5897880"/>
            <a:ext cx="11338560" cy="365760"/>
          </a:xfrm>
          <a:prstGeom prst="rect">
            <a:avLst/>
          </a:prstGeom>
          <a:noFill/>
        </p:spPr>
        <p:txBody>
          <a:bodyPr wrap="square" lIns="0" rIns="0" tIns="0" bIns="0" anchor="t">
            <a:spAutoFit/>
          </a:bodyPr>
          <a:lstStyle/>
          <a:p>
            <a:pPr algn="ctr">
              <a:spcAft>
                <a:spcPts val="600"/>
              </a:spcAft>
            </a:pPr>
            <a:r>
              <a:rPr sz="1200" b="0" i="0">
                <a:solidFill>
                  <a:srgbClr val="5C6670"/>
                </a:solidFill>
                <a:latin typeface="Aptos"/>
              </a:rPr>
              <a:t>Streamlit app with admin sign-in: Search (describe → best matches → where seen) · Cameras (location + recording start) · How it works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Pretrained Models Used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Each model is used exactly as published; V-Trace connects them into one workflow.</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3</a:t>
            </a:r>
          </a:p>
        </p:txBody>
      </p:sp>
      <p:sp>
        <p:nvSpPr>
          <p:cNvPr id="7" name="Rounded Rectangle 6"/>
          <p:cNvSpPr/>
          <p:nvPr/>
        </p:nvSpPr>
        <p:spPr>
          <a:xfrm>
            <a:off x="548640" y="1554480"/>
            <a:ext cx="3520440" cy="2103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YOLO11n</a:t>
            </a:r>
          </a:p>
        </p:txBody>
      </p:sp>
      <p:sp>
        <p:nvSpPr>
          <p:cNvPr id="9" name="TextBox 8"/>
          <p:cNvSpPr txBox="1"/>
          <p:nvPr/>
        </p:nvSpPr>
        <p:spPr>
          <a:xfrm>
            <a:off x="77724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Vehicle detection</a:t>
            </a:r>
          </a:p>
          <a:p>
            <a:pPr algn="l">
              <a:spcAft>
                <a:spcPts val="200"/>
              </a:spcAft>
            </a:pPr>
            <a:r>
              <a:rPr sz="1400" b="0" i="0">
                <a:solidFill>
                  <a:srgbClr val="2B333C"/>
                </a:solidFill>
                <a:latin typeface="Aptos"/>
              </a:rPr>
              <a:t>(COCO: car · motorcycle · bus · truck)</a:t>
            </a:r>
          </a:p>
        </p:txBody>
      </p:sp>
      <p:sp>
        <p:nvSpPr>
          <p:cNvPr id="10" name="TextBox 9"/>
          <p:cNvSpPr txBox="1"/>
          <p:nvPr/>
        </p:nvSpPr>
        <p:spPr>
          <a:xfrm>
            <a:off x="777240" y="3200400"/>
            <a:ext cx="3108960" cy="320040"/>
          </a:xfrm>
          <a:prstGeom prst="rect">
            <a:avLst/>
          </a:prstGeom>
          <a:noFill/>
        </p:spPr>
        <p:txBody>
          <a:bodyPr wrap="square" lIns="0" rIns="0" tIns="0" bIns="0" anchor="t">
            <a:spAutoFit/>
          </a:bodyPr>
          <a:lstStyle/>
          <a:p>
            <a:pPr algn="l">
              <a:spcAft>
                <a:spcPts val="600"/>
              </a:spcAft>
            </a:pPr>
            <a:r>
              <a:rPr sz="1200" b="1" i="0">
                <a:solidFill>
                  <a:srgbClr val="4FA5B5"/>
                </a:solidFill>
                <a:latin typeface="Aptos"/>
              </a:rPr>
              <a:t>Ultralytics</a:t>
            </a:r>
          </a:p>
        </p:txBody>
      </p:sp>
      <p:sp>
        <p:nvSpPr>
          <p:cNvPr id="11" name="Rounded Rectangle 10"/>
          <p:cNvSpPr/>
          <p:nvPr/>
        </p:nvSpPr>
        <p:spPr>
          <a:xfrm>
            <a:off x="4343400" y="1554480"/>
            <a:ext cx="3520440" cy="2103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ByteTrack</a:t>
            </a:r>
          </a:p>
        </p:txBody>
      </p:sp>
      <p:sp>
        <p:nvSpPr>
          <p:cNvPr id="13" name="TextBox 12"/>
          <p:cNvSpPr txBox="1"/>
          <p:nvPr/>
        </p:nvSpPr>
        <p:spPr>
          <a:xfrm>
            <a:off x="457200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Follows each vehicle while in view</a:t>
            </a:r>
          </a:p>
          <a:p>
            <a:pPr algn="l">
              <a:spcAft>
                <a:spcPts val="200"/>
              </a:spcAft>
            </a:pPr>
            <a:r>
              <a:rPr sz="1400" b="0" i="0">
                <a:solidFill>
                  <a:srgbClr val="2B333C"/>
                </a:solidFill>
                <a:latin typeface="Aptos"/>
              </a:rPr>
              <a:t>→ one sighting per vehicle</a:t>
            </a:r>
          </a:p>
        </p:txBody>
      </p:sp>
      <p:sp>
        <p:nvSpPr>
          <p:cNvPr id="14" name="TextBox 13"/>
          <p:cNvSpPr txBox="1"/>
          <p:nvPr/>
        </p:nvSpPr>
        <p:spPr>
          <a:xfrm>
            <a:off x="4572000" y="3200400"/>
            <a:ext cx="3108960" cy="320040"/>
          </a:xfrm>
          <a:prstGeom prst="rect">
            <a:avLst/>
          </a:prstGeom>
          <a:noFill/>
        </p:spPr>
        <p:txBody>
          <a:bodyPr wrap="square" lIns="0" rIns="0" tIns="0" bIns="0" anchor="t">
            <a:spAutoFit/>
          </a:bodyPr>
          <a:lstStyle/>
          <a:p>
            <a:pPr algn="l">
              <a:spcAft>
                <a:spcPts val="600"/>
              </a:spcAft>
            </a:pPr>
            <a:r>
              <a:rPr sz="1200" b="1" i="0">
                <a:solidFill>
                  <a:srgbClr val="4FA5B5"/>
                </a:solidFill>
                <a:latin typeface="Aptos"/>
              </a:rPr>
              <a:t>Ultralytics</a:t>
            </a:r>
          </a:p>
        </p:txBody>
      </p:sp>
      <p:sp>
        <p:nvSpPr>
          <p:cNvPr id="15" name="Rounded Rectangle 14"/>
          <p:cNvSpPr/>
          <p:nvPr/>
        </p:nvSpPr>
        <p:spPr>
          <a:xfrm>
            <a:off x="8138160" y="1554480"/>
            <a:ext cx="3520440" cy="2103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CLIP ViT-B/32</a:t>
            </a:r>
          </a:p>
        </p:txBody>
      </p:sp>
      <p:sp>
        <p:nvSpPr>
          <p:cNvPr id="17" name="TextBox 16"/>
          <p:cNvSpPr txBox="1"/>
          <p:nvPr/>
        </p:nvSpPr>
        <p:spPr>
          <a:xfrm>
            <a:off x="836676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Zero-shot colour · type · features · free text</a:t>
            </a:r>
          </a:p>
        </p:txBody>
      </p:sp>
      <p:sp>
        <p:nvSpPr>
          <p:cNvPr id="18" name="TextBox 17"/>
          <p:cNvSpPr txBox="1"/>
          <p:nvPr/>
        </p:nvSpPr>
        <p:spPr>
          <a:xfrm>
            <a:off x="8366760" y="3200400"/>
            <a:ext cx="3108960" cy="320040"/>
          </a:xfrm>
          <a:prstGeom prst="rect">
            <a:avLst/>
          </a:prstGeom>
          <a:noFill/>
        </p:spPr>
        <p:txBody>
          <a:bodyPr wrap="square" lIns="0" rIns="0" tIns="0" bIns="0" anchor="t">
            <a:spAutoFit/>
          </a:bodyPr>
          <a:lstStyle/>
          <a:p>
            <a:pPr algn="l">
              <a:spcAft>
                <a:spcPts val="600"/>
              </a:spcAft>
            </a:pPr>
            <a:r>
              <a:rPr sz="1200" b="1" i="0">
                <a:solidFill>
                  <a:srgbClr val="D08A55"/>
                </a:solidFill>
                <a:latin typeface="Aptos"/>
              </a:rPr>
              <a:t>OpenAI / open_clip</a:t>
            </a:r>
          </a:p>
        </p:txBody>
      </p:sp>
      <p:sp>
        <p:nvSpPr>
          <p:cNvPr id="19" name="Rounded Rectangle 18"/>
          <p:cNvSpPr/>
          <p:nvPr/>
        </p:nvSpPr>
        <p:spPr>
          <a:xfrm>
            <a:off x="2446020" y="3840480"/>
            <a:ext cx="3520440" cy="2103120"/>
          </a:xfrm>
          <a:prstGeom prst="roundRect">
            <a:avLst>
              <a:gd name="adj" fmla="val 3500"/>
            </a:avLst>
          </a:prstGeom>
          <a:solidFill>
            <a:srgbClr val="FDF4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74620" y="4023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EasyOCR</a:t>
            </a:r>
          </a:p>
        </p:txBody>
      </p:sp>
      <p:sp>
        <p:nvSpPr>
          <p:cNvPr id="21" name="TextBox 20"/>
          <p:cNvSpPr txBox="1"/>
          <p:nvPr/>
        </p:nvSpPr>
        <p:spPr>
          <a:xfrm>
            <a:off x="2674620" y="4526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Licence-plate text, wildcard matching (?)</a:t>
            </a:r>
          </a:p>
        </p:txBody>
      </p:sp>
      <p:sp>
        <p:nvSpPr>
          <p:cNvPr id="22" name="TextBox 21"/>
          <p:cNvSpPr txBox="1"/>
          <p:nvPr/>
        </p:nvSpPr>
        <p:spPr>
          <a:xfrm>
            <a:off x="2674620" y="5486400"/>
            <a:ext cx="3108960" cy="320040"/>
          </a:xfrm>
          <a:prstGeom prst="rect">
            <a:avLst/>
          </a:prstGeom>
          <a:noFill/>
        </p:spPr>
        <p:txBody>
          <a:bodyPr wrap="square" lIns="0" rIns="0" tIns="0" bIns="0" anchor="t">
            <a:spAutoFit/>
          </a:bodyPr>
          <a:lstStyle/>
          <a:p>
            <a:pPr algn="l">
              <a:spcAft>
                <a:spcPts val="600"/>
              </a:spcAft>
            </a:pPr>
            <a:r>
              <a:rPr sz="1200" b="1" i="0">
                <a:solidFill>
                  <a:srgbClr val="D08A55"/>
                </a:solidFill>
                <a:latin typeface="Aptos"/>
              </a:rPr>
              <a:t>JaidedAI</a:t>
            </a:r>
          </a:p>
        </p:txBody>
      </p:sp>
      <p:sp>
        <p:nvSpPr>
          <p:cNvPr id="23" name="Rounded Rectangle 22"/>
          <p:cNvSpPr/>
          <p:nvPr/>
        </p:nvSpPr>
        <p:spPr>
          <a:xfrm>
            <a:off x="6240780" y="3840480"/>
            <a:ext cx="3520440" cy="210312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69380" y="4023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FastReID SBS(R50-ibn)</a:t>
            </a:r>
          </a:p>
        </p:txBody>
      </p:sp>
      <p:sp>
        <p:nvSpPr>
          <p:cNvPr id="25" name="TextBox 24"/>
          <p:cNvSpPr txBox="1"/>
          <p:nvPr/>
        </p:nvSpPr>
        <p:spPr>
          <a:xfrm>
            <a:off x="6469380" y="4526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Vehicle Re-ID, trained on VeRi-776</a:t>
            </a:r>
          </a:p>
          <a:p>
            <a:pPr algn="l">
              <a:spcAft>
                <a:spcPts val="200"/>
              </a:spcAft>
            </a:pPr>
            <a:r>
              <a:rPr sz="1400" b="0" i="0">
                <a:solidFill>
                  <a:srgbClr val="2B333C"/>
                </a:solidFill>
                <a:latin typeface="Aptos"/>
              </a:rPr>
              <a:t>2048-d signature per vehicle</a:t>
            </a:r>
          </a:p>
        </p:txBody>
      </p:sp>
      <p:sp>
        <p:nvSpPr>
          <p:cNvPr id="26" name="TextBox 25"/>
          <p:cNvSpPr txBox="1"/>
          <p:nvPr/>
        </p:nvSpPr>
        <p:spPr>
          <a:xfrm>
            <a:off x="6469380" y="5486400"/>
            <a:ext cx="3108960" cy="320040"/>
          </a:xfrm>
          <a:prstGeom prst="rect">
            <a:avLst/>
          </a:prstGeom>
          <a:noFill/>
        </p:spPr>
        <p:txBody>
          <a:bodyPr wrap="square" lIns="0" rIns="0" tIns="0" bIns="0" anchor="t">
            <a:spAutoFit/>
          </a:bodyPr>
          <a:lstStyle/>
          <a:p>
            <a:pPr algn="l">
              <a:spcAft>
                <a:spcPts val="600"/>
              </a:spcAft>
            </a:pPr>
            <a:r>
              <a:rPr sz="1200" b="1" i="0">
                <a:solidFill>
                  <a:srgbClr val="7E6DB8"/>
                </a:solidFill>
                <a:latin typeface="Aptos"/>
              </a:rPr>
              <a:t>JDAI-CV · VeRi authors' team</a:t>
            </a:r>
          </a:p>
        </p:txBody>
      </p:sp>
      <p:sp>
        <p:nvSpPr>
          <p:cNvPr id="27" name="Rounded Rectangle 26"/>
          <p:cNvSpPr/>
          <p:nvPr/>
        </p:nvSpPr>
        <p:spPr>
          <a:xfrm>
            <a:off x="548640" y="6080760"/>
            <a:ext cx="1110996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NO TRAINING: PUBLISHED WEIGHTS, USED AS-IS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Search &amp; Matching</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description score for step one; a cautious same-vehicle rule for step two.</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4</a:t>
            </a:r>
          </a:p>
        </p:txBody>
      </p:sp>
      <p:sp>
        <p:nvSpPr>
          <p:cNvPr id="7" name="Rounded Rectangle 6"/>
          <p:cNvSpPr/>
          <p:nvPr/>
        </p:nvSpPr>
        <p:spPr>
          <a:xfrm>
            <a:off x="548640" y="1554480"/>
            <a:ext cx="5120640" cy="420624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6634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1  DESCRIPTION → RANKED MATCHES</a:t>
            </a:r>
          </a:p>
        </p:txBody>
      </p:sp>
      <p:sp>
        <p:nvSpPr>
          <p:cNvPr id="9" name="Rounded Rectangle 8"/>
          <p:cNvSpPr/>
          <p:nvPr/>
        </p:nvSpPr>
        <p:spPr>
          <a:xfrm>
            <a:off x="777240" y="224028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plate (wildcards)</a:t>
            </a:r>
          </a:p>
        </p:txBody>
      </p:sp>
      <p:sp>
        <p:nvSpPr>
          <p:cNvPr id="10" name="TextBox 9"/>
          <p:cNvSpPr txBox="1"/>
          <p:nvPr/>
        </p:nvSpPr>
        <p:spPr>
          <a:xfrm>
            <a:off x="4206240" y="230428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0.35</a:t>
            </a:r>
          </a:p>
        </p:txBody>
      </p:sp>
      <p:sp>
        <p:nvSpPr>
          <p:cNvPr id="11" name="Rounded Rectangle 10"/>
          <p:cNvSpPr/>
          <p:nvPr/>
        </p:nvSpPr>
        <p:spPr>
          <a:xfrm>
            <a:off x="777240" y="274320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colour (CLIP)</a:t>
            </a:r>
          </a:p>
        </p:txBody>
      </p:sp>
      <p:sp>
        <p:nvSpPr>
          <p:cNvPr id="12" name="TextBox 11"/>
          <p:cNvSpPr txBox="1"/>
          <p:nvPr/>
        </p:nvSpPr>
        <p:spPr>
          <a:xfrm>
            <a:off x="4206240" y="280720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0.30</a:t>
            </a:r>
          </a:p>
        </p:txBody>
      </p:sp>
      <p:sp>
        <p:nvSpPr>
          <p:cNvPr id="13" name="Rounded Rectangle 12"/>
          <p:cNvSpPr/>
          <p:nvPr/>
        </p:nvSpPr>
        <p:spPr>
          <a:xfrm>
            <a:off x="777240" y="324612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type (CLIP)</a:t>
            </a:r>
          </a:p>
        </p:txBody>
      </p:sp>
      <p:sp>
        <p:nvSpPr>
          <p:cNvPr id="14" name="TextBox 13"/>
          <p:cNvSpPr txBox="1"/>
          <p:nvPr/>
        </p:nvSpPr>
        <p:spPr>
          <a:xfrm>
            <a:off x="4206240" y="331012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0.25</a:t>
            </a:r>
          </a:p>
        </p:txBody>
      </p:sp>
      <p:sp>
        <p:nvSpPr>
          <p:cNvPr id="15" name="Rounded Rectangle 14"/>
          <p:cNvSpPr/>
          <p:nvPr/>
        </p:nvSpPr>
        <p:spPr>
          <a:xfrm>
            <a:off x="777240" y="374904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distinctive features</a:t>
            </a:r>
          </a:p>
        </p:txBody>
      </p:sp>
      <p:sp>
        <p:nvSpPr>
          <p:cNvPr id="16" name="TextBox 15"/>
          <p:cNvSpPr txBox="1"/>
          <p:nvPr/>
        </p:nvSpPr>
        <p:spPr>
          <a:xfrm>
            <a:off x="4206240" y="381304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0.10</a:t>
            </a:r>
          </a:p>
        </p:txBody>
      </p:sp>
      <p:sp>
        <p:nvSpPr>
          <p:cNvPr id="17" name="Rounded Rectangle 16"/>
          <p:cNvSpPr/>
          <p:nvPr/>
        </p:nvSpPr>
        <p:spPr>
          <a:xfrm>
            <a:off x="777240" y="425196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free text</a:t>
            </a:r>
          </a:p>
        </p:txBody>
      </p:sp>
      <p:sp>
        <p:nvSpPr>
          <p:cNvPr id="18" name="TextBox 17"/>
          <p:cNvSpPr txBox="1"/>
          <p:nvPr/>
        </p:nvSpPr>
        <p:spPr>
          <a:xfrm>
            <a:off x="4206240" y="431596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0.10</a:t>
            </a:r>
          </a:p>
        </p:txBody>
      </p:sp>
      <p:sp>
        <p:nvSpPr>
          <p:cNvPr id="19" name="TextBox 18"/>
          <p:cNvSpPr txBox="1"/>
          <p:nvPr/>
        </p:nvSpPr>
        <p:spPr>
          <a:xfrm>
            <a:off x="777240" y="4846320"/>
            <a:ext cx="4663440" cy="822960"/>
          </a:xfrm>
          <a:prstGeom prst="rect">
            <a:avLst/>
          </a:prstGeom>
          <a:noFill/>
        </p:spPr>
        <p:txBody>
          <a:bodyPr wrap="square" lIns="0" rIns="0" tIns="0" bIns="0" anchor="t">
            <a:spAutoFit/>
          </a:bodyPr>
          <a:lstStyle/>
          <a:p>
            <a:pPr algn="l">
              <a:spcAft>
                <a:spcPts val="600"/>
              </a:spcAft>
            </a:pPr>
            <a:r>
              <a:rPr sz="1300" b="0" i="0">
                <a:solidFill>
                  <a:srgbClr val="2B333C"/>
                </a:solidFill>
                <a:latin typeface="Aptos"/>
              </a:rPr>
              <a:t>Only the fields the user gives are scored – a missing field never counts against a vehicle.</a:t>
            </a:r>
          </a:p>
        </p:txBody>
      </p:sp>
      <p:sp>
        <p:nvSpPr>
          <p:cNvPr id="20" name="Rounded Rectangle 19"/>
          <p:cNvSpPr/>
          <p:nvPr/>
        </p:nvSpPr>
        <p:spPr>
          <a:xfrm>
            <a:off x="6035040" y="1554480"/>
            <a:ext cx="5623560" cy="42062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737360"/>
            <a:ext cx="51206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2  SELECTED → OTHER CAMERAS</a:t>
            </a:r>
          </a:p>
        </p:txBody>
      </p:sp>
      <p:sp>
        <p:nvSpPr>
          <p:cNvPr id="22" name="TextBox 21"/>
          <p:cNvSpPr txBox="1"/>
          <p:nvPr/>
        </p:nvSpPr>
        <p:spPr>
          <a:xfrm>
            <a:off x="6263640" y="2240280"/>
            <a:ext cx="5212080" cy="3474720"/>
          </a:xfrm>
          <a:prstGeom prst="rect">
            <a:avLst/>
          </a:prstGeom>
          <a:noFill/>
        </p:spPr>
        <p:txBody>
          <a:bodyPr wrap="square" lIns="0" rIns="0" tIns="0" bIns="0" anchor="t">
            <a:spAutoFit/>
          </a:bodyPr>
          <a:lstStyle/>
          <a:p>
            <a:pPr algn="l">
              <a:spcAft>
                <a:spcPts val="800"/>
              </a:spcAft>
            </a:pPr>
            <a:r>
              <a:rPr sz="1500" b="1" i="0">
                <a:solidFill>
                  <a:srgbClr val="2B333C"/>
                </a:solidFill>
                <a:latin typeface="Aptos"/>
              </a:rPr>
              <a:t>•  Similarity </a:t>
            </a:r>
            <a:r>
              <a:rPr sz="1500" b="0" i="0">
                <a:solidFill>
                  <a:srgbClr val="2B333C"/>
                </a:solidFill>
                <a:latin typeface="Aptos"/>
              </a:rPr>
              <a:t>= cosine of the FastReID signatures</a:t>
            </a:r>
          </a:p>
          <a:p>
            <a:pPr algn="l">
              <a:spcAft>
                <a:spcPts val="800"/>
              </a:spcAft>
            </a:pPr>
            <a:r>
              <a:rPr sz="1500" b="1" i="0">
                <a:solidFill>
                  <a:srgbClr val="2B333C"/>
                </a:solidFill>
                <a:latin typeface="Aptos"/>
              </a:rPr>
              <a:t>•  Threshold ≥ 0.40 </a:t>
            </a:r>
            <a:r>
              <a:rPr sz="1500" b="0" i="0">
                <a:solidFill>
                  <a:srgbClr val="2B333C"/>
                </a:solidFill>
                <a:latin typeface="Aptos"/>
              </a:rPr>
              <a:t>– chosen from VeRi-776 score distributions</a:t>
            </a:r>
          </a:p>
          <a:p>
            <a:pPr algn="l">
              <a:spcAft>
                <a:spcPts val="800"/>
              </a:spcAft>
            </a:pPr>
            <a:r>
              <a:rPr sz="1500" b="1" i="0">
                <a:solidFill>
                  <a:srgbClr val="2B333C"/>
                </a:solidFill>
                <a:latin typeface="Aptos"/>
              </a:rPr>
              <a:t>•  Ratio test: </a:t>
            </a:r>
            <a:r>
              <a:rPr sz="1500" b="0" i="0">
                <a:solidFill>
                  <a:srgbClr val="2B333C"/>
                </a:solidFill>
                <a:latin typeface="Aptos"/>
              </a:rPr>
              <a:t>best must beat the camera's 2nd best by 0.08 – look-alikes are left to the user</a:t>
            </a:r>
          </a:p>
          <a:p>
            <a:pPr algn="l">
              <a:spcAft>
                <a:spcPts val="800"/>
              </a:spcAft>
            </a:pPr>
            <a:r>
              <a:rPr sz="1500" b="1" i="0">
                <a:solidFill>
                  <a:srgbClr val="2B333C"/>
                </a:solidFill>
                <a:latin typeface="Aptos"/>
              </a:rPr>
              <a:t>•  Real-world time: </a:t>
            </a:r>
            <a:r>
              <a:rPr sz="1500" b="0" i="0">
                <a:solidFill>
                  <a:srgbClr val="2B333C"/>
                </a:solidFill>
                <a:latin typeface="Aptos"/>
              </a:rPr>
              <a:t>camera recording start + position in the video; limit ≤ 10 s (5 s – 12 h)</a:t>
            </a:r>
          </a:p>
          <a:p>
            <a:pPr algn="l">
              <a:spcAft>
                <a:spcPts val="800"/>
              </a:spcAft>
            </a:pPr>
            <a:r>
              <a:rPr sz="1500" b="0" i="0">
                <a:solidFill>
                  <a:srgbClr val="2B333C"/>
                </a:solidFill>
                <a:latin typeface="Aptos"/>
              </a:rPr>
              <a:t>•  No confident match → show the 3 closest vehicles instead</a:t>
            </a:r>
          </a:p>
        </p:txBody>
      </p:sp>
      <p:sp>
        <p:nvSpPr>
          <p:cNvPr id="23" name="Rounded Rectangle 22"/>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EVERY RESULT COMES WITH ITS EVIDENCE: LOCATION · REAL-WORLD TIME · CROP · FRAME · SCORE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Re-ID Model on VeRi-776</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The published model reproduces its reported accuracy – and tells us where to set the threshold.</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5</a:t>
            </a:r>
          </a:p>
        </p:txBody>
      </p:sp>
      <p:graphicFrame>
        <p:nvGraphicFramePr>
          <p:cNvPr id="7" name="Chart 6"/>
          <p:cNvGraphicFramePr>
            <a:graphicFrameLocks noGrp="1"/>
          </p:cNvGraphicFramePr>
          <p:nvPr/>
        </p:nvGraphicFramePr>
        <p:xfrm>
          <a:off x="548640" y="1463040"/>
          <a:ext cx="6766560" cy="4389120"/>
        </p:xfrm>
        <a:graphic>
          <a:graphicData uri="http://schemas.openxmlformats.org/drawingml/2006/chart">
            <c:chart xmlns:c="http://schemas.openxmlformats.org/drawingml/2006/chart" r:id="rId4"/>
          </a:graphicData>
        </a:graphic>
      </p:graphicFrame>
      <p:sp>
        <p:nvSpPr>
          <p:cNvPr id="8" name="Rounded Rectangle 7"/>
          <p:cNvSpPr/>
          <p:nvPr/>
        </p:nvSpPr>
        <p:spPr>
          <a:xfrm>
            <a:off x="7680960" y="1554480"/>
            <a:ext cx="3977639" cy="1261872"/>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60" y="1691639"/>
            <a:ext cx="3566160" cy="548640"/>
          </a:xfrm>
          <a:prstGeom prst="rect">
            <a:avLst/>
          </a:prstGeom>
          <a:noFill/>
        </p:spPr>
        <p:txBody>
          <a:bodyPr wrap="square" lIns="0" rIns="0" tIns="0" bIns="0" anchor="t">
            <a:spAutoFit/>
          </a:bodyPr>
          <a:lstStyle/>
          <a:p>
            <a:pPr algn="l">
              <a:spcAft>
                <a:spcPts val="600"/>
              </a:spcAft>
            </a:pPr>
            <a:r>
              <a:rPr sz="2800" b="1" i="0">
                <a:solidFill>
                  <a:srgbClr val="4FA5B5"/>
                </a:solidFill>
                <a:latin typeface="Aptos Display"/>
              </a:rPr>
              <a:t>97.0%</a:t>
            </a:r>
          </a:p>
        </p:txBody>
      </p:sp>
      <p:sp>
        <p:nvSpPr>
          <p:cNvPr id="10" name="TextBox 9"/>
          <p:cNvSpPr txBox="1"/>
          <p:nvPr/>
        </p:nvSpPr>
        <p:spPr>
          <a:xfrm>
            <a:off x="7909560" y="2331720"/>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(official split, no training)</a:t>
            </a:r>
          </a:p>
        </p:txBody>
      </p:sp>
      <p:sp>
        <p:nvSpPr>
          <p:cNvPr id="11" name="Rounded Rectangle 10"/>
          <p:cNvSpPr/>
          <p:nvPr/>
        </p:nvSpPr>
        <p:spPr>
          <a:xfrm>
            <a:off x="7680960" y="2971800"/>
            <a:ext cx="3977639" cy="1261872"/>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9560" y="3108960"/>
            <a:ext cx="3566160" cy="548640"/>
          </a:xfrm>
          <a:prstGeom prst="rect">
            <a:avLst/>
          </a:prstGeom>
          <a:noFill/>
        </p:spPr>
        <p:txBody>
          <a:bodyPr wrap="square" lIns="0" rIns="0" tIns="0" bIns="0" anchor="t">
            <a:spAutoFit/>
          </a:bodyPr>
          <a:lstStyle/>
          <a:p>
            <a:pPr algn="l">
              <a:spcAft>
                <a:spcPts val="600"/>
              </a:spcAft>
            </a:pPr>
            <a:r>
              <a:rPr sz="2800" b="1" i="0">
                <a:solidFill>
                  <a:srgbClr val="0E8782"/>
                </a:solidFill>
                <a:latin typeface="Aptos Display"/>
              </a:rPr>
              <a:t>81.6%</a:t>
            </a:r>
          </a:p>
        </p:txBody>
      </p:sp>
      <p:sp>
        <p:nvSpPr>
          <p:cNvPr id="13" name="TextBox 12"/>
          <p:cNvSpPr txBox="1"/>
          <p:nvPr/>
        </p:nvSpPr>
        <p:spPr>
          <a:xfrm>
            <a:off x="7909560" y="3749039"/>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mAP</a:t>
            </a:r>
          </a:p>
        </p:txBody>
      </p:sp>
      <p:sp>
        <p:nvSpPr>
          <p:cNvPr id="14" name="Rounded Rectangle 13"/>
          <p:cNvSpPr/>
          <p:nvPr/>
        </p:nvSpPr>
        <p:spPr>
          <a:xfrm>
            <a:off x="7680960" y="4389120"/>
            <a:ext cx="3977639" cy="1261872"/>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4526280"/>
            <a:ext cx="3566160" cy="548640"/>
          </a:xfrm>
          <a:prstGeom prst="rect">
            <a:avLst/>
          </a:prstGeom>
          <a:noFill/>
        </p:spPr>
        <p:txBody>
          <a:bodyPr wrap="square" lIns="0" rIns="0" tIns="0" bIns="0" anchor="t">
            <a:spAutoFit/>
          </a:bodyPr>
          <a:lstStyle/>
          <a:p>
            <a:pPr algn="l">
              <a:spcAft>
                <a:spcPts val="600"/>
              </a:spcAft>
            </a:pPr>
            <a:r>
              <a:rPr sz="2800" b="1" i="0">
                <a:solidFill>
                  <a:srgbClr val="D08A55"/>
                </a:solidFill>
                <a:latin typeface="Aptos Display"/>
              </a:rPr>
              <a:t>0.62 vs 0.38</a:t>
            </a:r>
          </a:p>
        </p:txBody>
      </p:sp>
      <p:sp>
        <p:nvSpPr>
          <p:cNvPr id="16" name="TextBox 15"/>
          <p:cNvSpPr txBox="1"/>
          <p:nvPr/>
        </p:nvSpPr>
        <p:spPr>
          <a:xfrm>
            <a:off x="7909560" y="5166359"/>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median same-vehicle vs 99th pct different-vehicle similarity</a:t>
            </a:r>
          </a:p>
        </p:txBody>
      </p:sp>
      <p:sp>
        <p:nvSpPr>
          <p:cNvPr id="17" name="Rounded Rectangle 16"/>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THRESHOLD 0.40: 89% OF TRUE PAIRS PASS, 0.8% OF WRONG PAIRS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Multi-Camera Demo Footage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Real street footage is harder than the benchmark – a cautious rule keeps reported cameras mostly correct.</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6</a:t>
            </a:r>
          </a:p>
        </p:txBody>
      </p:sp>
      <p:sp>
        <p:nvSpPr>
          <p:cNvPr id="7" name="Rounded Rectangle 6"/>
          <p:cNvSpPr/>
          <p:nvPr/>
        </p:nvSpPr>
        <p:spPr>
          <a:xfrm>
            <a:off x="548640" y="1554480"/>
            <a:ext cx="3291840" cy="960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64207"/>
            <a:ext cx="2926080" cy="457200"/>
          </a:xfrm>
          <a:prstGeom prst="rect">
            <a:avLst/>
          </a:prstGeom>
          <a:noFill/>
        </p:spPr>
        <p:txBody>
          <a:bodyPr wrap="square" lIns="0" rIns="0" tIns="0" bIns="0" anchor="t">
            <a:spAutoFit/>
          </a:bodyPr>
          <a:lstStyle/>
          <a:p>
            <a:pPr algn="l">
              <a:spcAft>
                <a:spcPts val="600"/>
              </a:spcAft>
            </a:pPr>
            <a:r>
              <a:rPr sz="2600" b="1" i="0">
                <a:solidFill>
                  <a:srgbClr val="4FA5B5"/>
                </a:solidFill>
                <a:latin typeface="Aptos Display"/>
              </a:rPr>
              <a:t>36% / 58%</a:t>
            </a:r>
          </a:p>
        </p:txBody>
      </p:sp>
      <p:sp>
        <p:nvSpPr>
          <p:cNvPr id="9" name="TextBox 8"/>
          <p:cNvSpPr txBox="1"/>
          <p:nvPr/>
        </p:nvSpPr>
        <p:spPr>
          <a:xfrm>
            <a:off x="749808" y="2148840"/>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 Rank-5, other cameras</a:t>
            </a:r>
          </a:p>
        </p:txBody>
      </p:sp>
      <p:sp>
        <p:nvSpPr>
          <p:cNvPr id="10" name="Rounded Rectangle 9"/>
          <p:cNvSpPr/>
          <p:nvPr/>
        </p:nvSpPr>
        <p:spPr>
          <a:xfrm>
            <a:off x="548640" y="2670048"/>
            <a:ext cx="3291840" cy="960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79776"/>
            <a:ext cx="2926080" cy="457200"/>
          </a:xfrm>
          <a:prstGeom prst="rect">
            <a:avLst/>
          </a:prstGeom>
          <a:noFill/>
        </p:spPr>
        <p:txBody>
          <a:bodyPr wrap="square" lIns="0" rIns="0" tIns="0" bIns="0" anchor="t">
            <a:spAutoFit/>
          </a:bodyPr>
          <a:lstStyle/>
          <a:p>
            <a:pPr algn="l">
              <a:spcAft>
                <a:spcPts val="600"/>
              </a:spcAft>
            </a:pPr>
            <a:r>
              <a:rPr sz="2600" b="1" i="0">
                <a:solidFill>
                  <a:srgbClr val="0E8782"/>
                </a:solidFill>
                <a:latin typeface="Aptos Display"/>
              </a:rPr>
              <a:t>81%</a:t>
            </a:r>
          </a:p>
        </p:txBody>
      </p:sp>
      <p:sp>
        <p:nvSpPr>
          <p:cNvPr id="12" name="TextBox 11"/>
          <p:cNvSpPr txBox="1"/>
          <p:nvPr/>
        </p:nvSpPr>
        <p:spPr>
          <a:xfrm>
            <a:off x="749808" y="3264408"/>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reported cameras correct, 10 s real-time window (none: 53%)</a:t>
            </a:r>
          </a:p>
        </p:txBody>
      </p:sp>
      <p:sp>
        <p:nvSpPr>
          <p:cNvPr id="13" name="Rounded Rectangle 12"/>
          <p:cNvSpPr/>
          <p:nvPr/>
        </p:nvSpPr>
        <p:spPr>
          <a:xfrm>
            <a:off x="548640" y="3785615"/>
            <a:ext cx="3291840" cy="96012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895344"/>
            <a:ext cx="2926080" cy="457200"/>
          </a:xfrm>
          <a:prstGeom prst="rect">
            <a:avLst/>
          </a:prstGeom>
          <a:noFill/>
        </p:spPr>
        <p:txBody>
          <a:bodyPr wrap="square" lIns="0" rIns="0" tIns="0" bIns="0" anchor="t">
            <a:spAutoFit/>
          </a:bodyPr>
          <a:lstStyle/>
          <a:p>
            <a:pPr algn="l">
              <a:spcAft>
                <a:spcPts val="600"/>
              </a:spcAft>
            </a:pPr>
            <a:r>
              <a:rPr sz="2600" b="1" i="0">
                <a:solidFill>
                  <a:srgbClr val="3E8E3A"/>
                </a:solidFill>
                <a:latin typeface="Aptos Display"/>
              </a:rPr>
              <a:t>32%</a:t>
            </a:r>
          </a:p>
        </p:txBody>
      </p:sp>
      <p:sp>
        <p:nvSpPr>
          <p:cNvPr id="15" name="TextBox 14"/>
          <p:cNvSpPr txBox="1"/>
          <p:nvPr/>
        </p:nvSpPr>
        <p:spPr>
          <a:xfrm>
            <a:off x="749808" y="4379976"/>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of true cameras reported</a:t>
            </a:r>
          </a:p>
        </p:txBody>
      </p:sp>
      <p:sp>
        <p:nvSpPr>
          <p:cNvPr id="16" name="Rounded Rectangle 15"/>
          <p:cNvSpPr/>
          <p:nvPr/>
        </p:nvSpPr>
        <p:spPr>
          <a:xfrm>
            <a:off x="548640" y="4901184"/>
            <a:ext cx="3291840" cy="960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10912"/>
            <a:ext cx="2926080" cy="457200"/>
          </a:xfrm>
          <a:prstGeom prst="rect">
            <a:avLst/>
          </a:prstGeom>
          <a:noFill/>
        </p:spPr>
        <p:txBody>
          <a:bodyPr wrap="square" lIns="0" rIns="0" tIns="0" bIns="0" anchor="t">
            <a:spAutoFit/>
          </a:bodyPr>
          <a:lstStyle/>
          <a:p>
            <a:pPr algn="l">
              <a:spcAft>
                <a:spcPts val="600"/>
              </a:spcAft>
            </a:pPr>
            <a:r>
              <a:rPr sz="2600" b="1" i="0">
                <a:solidFill>
                  <a:srgbClr val="D08A55"/>
                </a:solidFill>
                <a:latin typeface="Aptos Display"/>
              </a:rPr>
              <a:t>0% / 16%</a:t>
            </a:r>
          </a:p>
        </p:txBody>
      </p:sp>
      <p:sp>
        <p:nvSpPr>
          <p:cNvPr id="18" name="TextBox 17"/>
          <p:cNvSpPr txBox="1"/>
          <p:nvPr/>
        </p:nvSpPr>
        <p:spPr>
          <a:xfrm>
            <a:off x="749808" y="5495544"/>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placed on the other road, with / without window</a:t>
            </a:r>
          </a:p>
        </p:txBody>
      </p:sp>
      <p:pic>
        <p:nvPicPr>
          <p:cNvPr id="19" name="Picture 18" descr="seen.png"/>
          <p:cNvPicPr>
            <a:picLocks noChangeAspect="1"/>
          </p:cNvPicPr>
          <p:nvPr/>
        </p:nvPicPr>
        <p:blipFill>
          <a:blip r:embed="rId4"/>
          <a:stretch>
            <a:fillRect/>
          </a:stretch>
        </p:blipFill>
        <p:spPr>
          <a:xfrm>
            <a:off x="4160520" y="1565910"/>
            <a:ext cx="7498079" cy="468629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Live Demo</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Describe → best matches → select → where this vehicle was seen.</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7</a:t>
            </a:r>
          </a:p>
        </p:txBody>
      </p:sp>
      <p:sp>
        <p:nvSpPr>
          <p:cNvPr id="7" name="Rounded Rectangle 6"/>
          <p:cNvSpPr/>
          <p:nvPr/>
        </p:nvSpPr>
        <p:spPr>
          <a:xfrm>
            <a:off x="54864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earch.png"/>
          <p:cNvPicPr>
            <a:picLocks noChangeAspect="1"/>
          </p:cNvPicPr>
          <p:nvPr/>
        </p:nvPicPr>
        <p:blipFill>
          <a:blip r:embed="rId4"/>
          <a:stretch>
            <a:fillRect/>
          </a:stretch>
        </p:blipFill>
        <p:spPr>
          <a:xfrm>
            <a:off x="685800" y="1974532"/>
            <a:ext cx="5166360" cy="3228975"/>
          </a:xfrm>
          <a:prstGeom prst="rect">
            <a:avLst/>
          </a:prstGeom>
        </p:spPr>
      </p:pic>
      <p:sp>
        <p:nvSpPr>
          <p:cNvPr id="9" name="TextBox 8"/>
          <p:cNvSpPr txBox="1"/>
          <p:nvPr/>
        </p:nvSpPr>
        <p:spPr>
          <a:xfrm>
            <a:off x="54864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“red + suv” → ranked best matches → Select</a:t>
            </a:r>
          </a:p>
        </p:txBody>
      </p:sp>
      <p:sp>
        <p:nvSpPr>
          <p:cNvPr id="10" name="Rounded Rectangle 9"/>
          <p:cNvSpPr/>
          <p:nvPr/>
        </p:nvSpPr>
        <p:spPr>
          <a:xfrm>
            <a:off x="621792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en.png"/>
          <p:cNvPicPr>
            <a:picLocks noChangeAspect="1"/>
          </p:cNvPicPr>
          <p:nvPr/>
        </p:nvPicPr>
        <p:blipFill>
          <a:blip r:embed="rId5"/>
          <a:stretch>
            <a:fillRect/>
          </a:stretch>
        </p:blipFill>
        <p:spPr>
          <a:xfrm>
            <a:off x="6355080" y="1974532"/>
            <a:ext cx="5166360" cy="3228975"/>
          </a:xfrm>
          <a:prstGeom prst="rect">
            <a:avLst/>
          </a:prstGeom>
        </p:spPr>
      </p:pic>
      <p:sp>
        <p:nvSpPr>
          <p:cNvPr id="12" name="TextBox 11"/>
          <p:cNvSpPr txBox="1"/>
          <p:nvPr/>
        </p:nvSpPr>
        <p:spPr>
          <a:xfrm>
            <a:off x="621792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Route with location, real-world time and a frame per camera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Lessons Learned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Use what exists, verify it, and measure it on your own data.</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8</a:t>
            </a:r>
          </a:p>
        </p:txBody>
      </p:sp>
      <p:sp>
        <p:nvSpPr>
          <p:cNvPr id="7" name="Rounded Rectangle 6"/>
          <p:cNvSpPr/>
          <p:nvPr/>
        </p:nvSpPr>
        <p:spPr>
          <a:xfrm>
            <a:off x="548640" y="1554480"/>
            <a:ext cx="3520440" cy="365760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411480"/>
          </a:xfrm>
          <a:prstGeom prst="rect">
            <a:avLst/>
          </a:prstGeom>
          <a:noFill/>
        </p:spPr>
        <p:txBody>
          <a:bodyPr wrap="square" lIns="0" rIns="0" tIns="0" bIns="0" anchor="t">
            <a:spAutoFit/>
          </a:bodyPr>
          <a:lstStyle/>
          <a:p>
            <a:pPr algn="l">
              <a:spcAft>
                <a:spcPts val="600"/>
              </a:spcAft>
            </a:pPr>
            <a:r>
              <a:rPr sz="2000" b="1" i="0">
                <a:solidFill>
                  <a:srgbClr val="4FA5B5"/>
                </a:solidFill>
                <a:latin typeface="Aptos Display"/>
              </a:rPr>
              <a:t>01</a:t>
            </a:r>
          </a:p>
        </p:txBody>
      </p:sp>
      <p:sp>
        <p:nvSpPr>
          <p:cNvPr id="9" name="TextBox 8"/>
          <p:cNvSpPr txBox="1"/>
          <p:nvPr/>
        </p:nvSpPr>
        <p:spPr>
          <a:xfrm>
            <a:off x="77724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USE WHAT EXISTS – AND CHECK IT</a:t>
            </a:r>
          </a:p>
        </p:txBody>
      </p:sp>
      <p:sp>
        <p:nvSpPr>
          <p:cNvPr id="10" name="TextBox 9"/>
          <p:cNvSpPr txBox="1"/>
          <p:nvPr/>
        </p:nvSpPr>
        <p:spPr>
          <a:xfrm>
            <a:off x="777240" y="3063240"/>
            <a:ext cx="3108960" cy="2103120"/>
          </a:xfrm>
          <a:prstGeom prst="rect">
            <a:avLst/>
          </a:prstGeom>
          <a:noFill/>
        </p:spPr>
        <p:txBody>
          <a:bodyPr wrap="square" lIns="0" rIns="0" tIns="0" bIns="0" anchor="t">
            <a:spAutoFit/>
          </a:bodyPr>
          <a:lstStyle/>
          <a:p>
            <a:pPr algn="l">
              <a:spcAft>
                <a:spcPts val="400"/>
              </a:spcAft>
            </a:pPr>
            <a:r>
              <a:rPr sz="1400" b="1" i="0">
                <a:solidFill>
                  <a:srgbClr val="4FA5B5"/>
                </a:solidFill>
                <a:latin typeface="Aptos"/>
              </a:rPr>
              <a:t>Why  </a:t>
            </a:r>
            <a:r>
              <a:rPr sz="1400" b="0" i="0">
                <a:solidFill>
                  <a:srgbClr val="2B333C"/>
                </a:solidFill>
                <a:latin typeface="Aptos"/>
              </a:rPr>
              <a:t>FastReID's VeRi-776 model is far stronger than a model trained in ten days.</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Re-run the official benchmark first</a:t>
            </a:r>
          </a:p>
        </p:txBody>
      </p:sp>
      <p:sp>
        <p:nvSpPr>
          <p:cNvPr id="11" name="Rounded Rectangle 10"/>
          <p:cNvSpPr/>
          <p:nvPr/>
        </p:nvSpPr>
        <p:spPr>
          <a:xfrm>
            <a:off x="54864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Rank-1 97.0% · mAP 81.6%</a:t>
            </a:r>
          </a:p>
        </p:txBody>
      </p:sp>
      <p:sp>
        <p:nvSpPr>
          <p:cNvPr id="12" name="Rounded Rectangle 11"/>
          <p:cNvSpPr/>
          <p:nvPr/>
        </p:nvSpPr>
        <p:spPr>
          <a:xfrm>
            <a:off x="4343400" y="1554480"/>
            <a:ext cx="3520440" cy="365760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37360"/>
            <a:ext cx="310896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02</a:t>
            </a:r>
          </a:p>
        </p:txBody>
      </p:sp>
      <p:sp>
        <p:nvSpPr>
          <p:cNvPr id="14" name="TextBox 13"/>
          <p:cNvSpPr txBox="1"/>
          <p:nvPr/>
        </p:nvSpPr>
        <p:spPr>
          <a:xfrm>
            <a:off x="457200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BENCHMARKS DON'T TRANSFER</a:t>
            </a:r>
          </a:p>
        </p:txBody>
      </p:sp>
      <p:sp>
        <p:nvSpPr>
          <p:cNvPr id="15" name="TextBox 14"/>
          <p:cNvSpPr txBox="1"/>
          <p:nvPr/>
        </p:nvSpPr>
        <p:spPr>
          <a:xfrm>
            <a:off x="4572000" y="3063240"/>
            <a:ext cx="3108960" cy="2103120"/>
          </a:xfrm>
          <a:prstGeom prst="rect">
            <a:avLst/>
          </a:prstGeom>
          <a:noFill/>
        </p:spPr>
        <p:txBody>
          <a:bodyPr wrap="square" lIns="0" rIns="0" tIns="0" bIns="0" anchor="t">
            <a:spAutoFit/>
          </a:bodyPr>
          <a:lstStyle/>
          <a:p>
            <a:pPr algn="l">
              <a:spcAft>
                <a:spcPts val="400"/>
              </a:spcAft>
            </a:pPr>
            <a:r>
              <a:rPr sz="1400" b="1" i="0">
                <a:solidFill>
                  <a:srgbClr val="D08A55"/>
                </a:solidFill>
                <a:latin typeface="Aptos"/>
              </a:rPr>
              <a:t>Why  </a:t>
            </a:r>
            <a:r>
              <a:rPr sz="1400" b="0" i="0">
                <a:solidFill>
                  <a:srgbClr val="2B333C"/>
                </a:solidFill>
                <a:latin typeface="Aptos"/>
              </a:rPr>
              <a:t>Small, distant vehicles and new angles in street footage.</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Measure on your own data (pseudo ground truth)</a:t>
            </a:r>
          </a:p>
        </p:txBody>
      </p:sp>
      <p:sp>
        <p:nvSpPr>
          <p:cNvPr id="16" name="Rounded Rectangle 15"/>
          <p:cNvSpPr/>
          <p:nvPr/>
        </p:nvSpPr>
        <p:spPr>
          <a:xfrm>
            <a:off x="434340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Rank-1 97% → 36%</a:t>
            </a:r>
          </a:p>
        </p:txBody>
      </p:sp>
      <p:sp>
        <p:nvSpPr>
          <p:cNvPr id="17" name="Rounded Rectangle 16"/>
          <p:cNvSpPr/>
          <p:nvPr/>
        </p:nvSpPr>
        <p:spPr>
          <a:xfrm>
            <a:off x="8138160" y="1554480"/>
            <a:ext cx="3520440" cy="365760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66760" y="1737360"/>
            <a:ext cx="310896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03</a:t>
            </a:r>
          </a:p>
        </p:txBody>
      </p:sp>
      <p:sp>
        <p:nvSpPr>
          <p:cNvPr id="19" name="TextBox 18"/>
          <p:cNvSpPr txBox="1"/>
          <p:nvPr/>
        </p:nvSpPr>
        <p:spPr>
          <a:xfrm>
            <a:off x="836676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DECISION RULES MATTER</a:t>
            </a:r>
          </a:p>
        </p:txBody>
      </p:sp>
      <p:sp>
        <p:nvSpPr>
          <p:cNvPr id="20" name="TextBox 19"/>
          <p:cNvSpPr txBox="1"/>
          <p:nvPr/>
        </p:nvSpPr>
        <p:spPr>
          <a:xfrm>
            <a:off x="8366760" y="3063240"/>
            <a:ext cx="3108960" cy="2103120"/>
          </a:xfrm>
          <a:prstGeom prst="rect">
            <a:avLst/>
          </a:prstGeom>
          <a:noFill/>
        </p:spPr>
        <p:txBody>
          <a:bodyPr wrap="square" lIns="0" rIns="0" tIns="0" bIns="0" anchor="t">
            <a:spAutoFit/>
          </a:bodyPr>
          <a:lstStyle/>
          <a:p>
            <a:pPr algn="l">
              <a:spcAft>
                <a:spcPts val="400"/>
              </a:spcAft>
            </a:pPr>
            <a:r>
              <a:rPr sz="1400" b="1" i="0">
                <a:solidFill>
                  <a:srgbClr val="7E6DB8"/>
                </a:solidFill>
                <a:latin typeface="Aptos"/>
              </a:rPr>
              <a:t>Why  </a:t>
            </a:r>
            <a:r>
              <a:rPr sz="1400" b="0" i="0">
                <a:solidFill>
                  <a:srgbClr val="2B333C"/>
                </a:solidFill>
                <a:latin typeface="Aptos"/>
              </a:rPr>
              <a:t>A threshold alone reports many look-alikes.</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Ratio test + time window; show candidates when unsure</a:t>
            </a:r>
          </a:p>
        </p:txBody>
      </p:sp>
      <p:sp>
        <p:nvSpPr>
          <p:cNvPr id="21" name="Rounded Rectangle 20"/>
          <p:cNvSpPr/>
          <p:nvPr/>
        </p:nvSpPr>
        <p:spPr>
          <a:xfrm>
            <a:off x="813816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Precision 26% → 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Limitations &amp; Next Steps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focused proof of concept – the clearest next steps follow from the results.</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9</a:t>
            </a:r>
          </a:p>
        </p:txBody>
      </p:sp>
      <p:sp>
        <p:nvSpPr>
          <p:cNvPr id="7" name="TextBox 6"/>
          <p:cNvSpPr txBox="1"/>
          <p:nvPr/>
        </p:nvSpPr>
        <p:spPr>
          <a:xfrm>
            <a:off x="685800" y="1508760"/>
            <a:ext cx="5029200" cy="457200"/>
          </a:xfrm>
          <a:prstGeom prst="rect">
            <a:avLst/>
          </a:prstGeom>
          <a:noFill/>
        </p:spPr>
        <p:txBody>
          <a:bodyPr wrap="square" lIns="0" rIns="0" tIns="0" bIns="0" anchor="t">
            <a:spAutoFit/>
          </a:bodyPr>
          <a:lstStyle/>
          <a:p>
            <a:pPr algn="l">
              <a:spcAft>
                <a:spcPts val="600"/>
              </a:spcAft>
            </a:pPr>
            <a:r>
              <a:rPr sz="2000" b="1" i="0">
                <a:solidFill>
                  <a:srgbClr val="D45F5F"/>
                </a:solidFill>
                <a:latin typeface="Aptos Display"/>
              </a:rPr>
              <a:t>LIMITATIONS</a:t>
            </a:r>
          </a:p>
        </p:txBody>
      </p:sp>
      <p:sp>
        <p:nvSpPr>
          <p:cNvPr id="8" name="TextBox 7"/>
          <p:cNvSpPr txBox="1"/>
          <p:nvPr/>
        </p:nvSpPr>
        <p:spPr>
          <a:xfrm>
            <a:off x="6446520" y="1508760"/>
            <a:ext cx="5029200" cy="457200"/>
          </a:xfrm>
          <a:prstGeom prst="rect">
            <a:avLst/>
          </a:prstGeom>
          <a:noFill/>
        </p:spPr>
        <p:txBody>
          <a:bodyPr wrap="square" lIns="0" rIns="0" tIns="0" bIns="0" anchor="t">
            <a:spAutoFit/>
          </a:bodyPr>
          <a:lstStyle/>
          <a:p>
            <a:pPr algn="l">
              <a:spcAft>
                <a:spcPts val="600"/>
              </a:spcAft>
            </a:pPr>
            <a:r>
              <a:rPr sz="2000" b="1" i="0">
                <a:solidFill>
                  <a:srgbClr val="5DC55B"/>
                </a:solidFill>
                <a:latin typeface="Aptos Display"/>
              </a:rPr>
              <a:t>NEXT</a:t>
            </a:r>
          </a:p>
        </p:txBody>
      </p:sp>
      <p:sp>
        <p:nvSpPr>
          <p:cNvPr id="9" name="TextBox 8"/>
          <p:cNvSpPr txBox="1"/>
          <p:nvPr/>
        </p:nvSpPr>
        <p:spPr>
          <a:xfrm>
            <a:off x="685800" y="2103120"/>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Re-ID weaker on small, distant vehicles</a:t>
            </a:r>
          </a:p>
        </p:txBody>
      </p:sp>
      <p:sp>
        <p:nvSpPr>
          <p:cNvPr id="10" name="Rounded Rectangle 9"/>
          <p:cNvSpPr/>
          <p:nvPr/>
        </p:nvSpPr>
        <p:spPr>
          <a:xfrm>
            <a:off x="6446520" y="2103120"/>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higher-resolution cameras · larger crops</a:t>
            </a:r>
          </a:p>
        </p:txBody>
      </p:sp>
      <p:sp>
        <p:nvSpPr>
          <p:cNvPr id="11" name="TextBox 10"/>
          <p:cNvSpPr txBox="1"/>
          <p:nvPr/>
        </p:nvSpPr>
        <p:spPr>
          <a:xfrm>
            <a:off x="685800" y="2852927"/>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Plates unreadable at street distance</a:t>
            </a:r>
          </a:p>
        </p:txBody>
      </p:sp>
      <p:sp>
        <p:nvSpPr>
          <p:cNvPr id="12" name="Rounded Rectangle 11"/>
          <p:cNvSpPr/>
          <p:nvPr/>
        </p:nvSpPr>
        <p:spPr>
          <a:xfrm>
            <a:off x="6446520" y="2852927"/>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dedicated plate detector before OCR</a:t>
            </a:r>
          </a:p>
        </p:txBody>
      </p:sp>
      <p:sp>
        <p:nvSpPr>
          <p:cNvPr id="13" name="TextBox 12"/>
          <p:cNvSpPr txBox="1"/>
          <p:nvPr/>
        </p:nvSpPr>
        <p:spPr>
          <a:xfrm>
            <a:off x="685800" y="3602735"/>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Zero-shot colour / type confusions</a:t>
            </a:r>
          </a:p>
        </p:txBody>
      </p:sp>
      <p:sp>
        <p:nvSpPr>
          <p:cNvPr id="14" name="Rounded Rectangle 13"/>
          <p:cNvSpPr/>
          <p:nvPr/>
        </p:nvSpPr>
        <p:spPr>
          <a:xfrm>
            <a:off x="6446520" y="3602735"/>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richer prompts · per-colour checks</a:t>
            </a:r>
          </a:p>
        </p:txBody>
      </p:sp>
      <p:sp>
        <p:nvSpPr>
          <p:cNvPr id="15" name="TextBox 14"/>
          <p:cNvSpPr txBox="1"/>
          <p:nvPr/>
        </p:nvSpPr>
        <p:spPr>
          <a:xfrm>
            <a:off x="685800" y="4352544"/>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Demo cameras = zones of one recording</a:t>
            </a:r>
          </a:p>
        </p:txBody>
      </p:sp>
      <p:sp>
        <p:nvSpPr>
          <p:cNvPr id="16" name="Rounded Rectangle 15"/>
          <p:cNvSpPr/>
          <p:nvPr/>
        </p:nvSpPr>
        <p:spPr>
          <a:xfrm>
            <a:off x="6446520" y="4352544"/>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separate physical cameras (e.g. CityFlow) · travel-time limits</a:t>
            </a:r>
          </a:p>
        </p:txBody>
      </p:sp>
      <p:sp>
        <p:nvSpPr>
          <p:cNvPr id="17" name="TextBox 16"/>
          <p:cNvSpPr txBox="1"/>
          <p:nvPr/>
        </p:nvSpPr>
        <p:spPr>
          <a:xfrm>
            <a:off x="685800" y="5102352"/>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Recorded videos only</a:t>
            </a:r>
          </a:p>
        </p:txBody>
      </p:sp>
      <p:sp>
        <p:nvSpPr>
          <p:cNvPr id="18" name="Rounded Rectangle 17"/>
          <p:cNvSpPr/>
          <p:nvPr/>
        </p:nvSpPr>
        <p:spPr>
          <a:xfrm>
            <a:off x="6446520" y="5102352"/>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live RTSP camera streams</a:t>
            </a:r>
          </a:p>
        </p:txBody>
      </p:sp>
      <p:sp>
        <p:nvSpPr>
          <p:cNvPr id="19" name="Rounded Rectangle 18"/>
          <p:cNvSpPr/>
          <p:nvPr/>
        </p:nvSpPr>
        <p:spPr>
          <a:xfrm>
            <a:off x="2103120" y="5989320"/>
            <a:ext cx="800100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ptos Display"/>
              </a:rPr>
              <a:t>MVP: recorded-video proof of concept  →  future extension: live camera streams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end.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48640" y="411480"/>
            <a:ext cx="3840480" cy="1057365"/>
          </a:xfrm>
          <a:prstGeom prst="rect">
            <a:avLst/>
          </a:prstGeom>
        </p:spPr>
      </p:pic>
      <p:sp>
        <p:nvSpPr>
          <p:cNvPr id="5" name="TextBox 4"/>
          <p:cNvSpPr txBox="1"/>
          <p:nvPr/>
        </p:nvSpPr>
        <p:spPr>
          <a:xfrm>
            <a:off x="68580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81.6%</a:t>
            </a:r>
          </a:p>
        </p:txBody>
      </p:sp>
      <p:sp>
        <p:nvSpPr>
          <p:cNvPr id="6" name="TextBox 5"/>
          <p:cNvSpPr txBox="1"/>
          <p:nvPr/>
        </p:nvSpPr>
        <p:spPr>
          <a:xfrm>
            <a:off x="68580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Re-ID mAP on VeRi-776, pretrained model as published</a:t>
            </a:r>
          </a:p>
        </p:txBody>
      </p:sp>
      <p:sp>
        <p:nvSpPr>
          <p:cNvPr id="7" name="TextBox 6"/>
          <p:cNvSpPr txBox="1"/>
          <p:nvPr/>
        </p:nvSpPr>
        <p:spPr>
          <a:xfrm>
            <a:off x="4251960" y="1828800"/>
            <a:ext cx="3291840" cy="640080"/>
          </a:xfrm>
          <a:prstGeom prst="rect">
            <a:avLst/>
          </a:prstGeom>
          <a:noFill/>
        </p:spPr>
        <p:txBody>
          <a:bodyPr wrap="square" lIns="0" rIns="0" tIns="0" bIns="0" anchor="t">
            <a:spAutoFit/>
          </a:bodyPr>
          <a:lstStyle/>
          <a:p>
            <a:pPr algn="l">
              <a:spcAft>
                <a:spcPts val="600"/>
              </a:spcAft>
            </a:pPr>
            <a:r>
              <a:rPr sz="3400" b="1" i="0">
                <a:solidFill>
                  <a:srgbClr val="E39B57"/>
                </a:solidFill>
                <a:latin typeface="Aptos Display"/>
              </a:rPr>
              <a:t>0 models trained</a:t>
            </a:r>
          </a:p>
        </p:txBody>
      </p:sp>
      <p:sp>
        <p:nvSpPr>
          <p:cNvPr id="8" name="TextBox 7"/>
          <p:cNvSpPr txBox="1"/>
          <p:nvPr/>
        </p:nvSpPr>
        <p:spPr>
          <a:xfrm>
            <a:off x="425196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YOLO11 · ByteTrack · CLIP · EasyOCR · FastReID</a:t>
            </a:r>
          </a:p>
        </p:txBody>
      </p:sp>
      <p:sp>
        <p:nvSpPr>
          <p:cNvPr id="9" name="TextBox 8"/>
          <p:cNvSpPr txBox="1"/>
          <p:nvPr/>
        </p:nvSpPr>
        <p:spPr>
          <a:xfrm>
            <a:off x="781812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81%</a:t>
            </a:r>
          </a:p>
        </p:txBody>
      </p:sp>
      <p:sp>
        <p:nvSpPr>
          <p:cNvPr id="10" name="TextBox 9"/>
          <p:cNvSpPr txBox="1"/>
          <p:nvPr/>
        </p:nvSpPr>
        <p:spPr>
          <a:xfrm>
            <a:off x="781812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of reported cameras correct on real street footage</a:t>
            </a:r>
          </a:p>
        </p:txBody>
      </p:sp>
      <p:sp>
        <p:nvSpPr>
          <p:cNvPr id="11" name="TextBox 10"/>
          <p:cNvSpPr txBox="1"/>
          <p:nvPr/>
        </p:nvSpPr>
        <p:spPr>
          <a:xfrm>
            <a:off x="0" y="3429000"/>
            <a:ext cx="12191695" cy="1097280"/>
          </a:xfrm>
          <a:prstGeom prst="rect">
            <a:avLst/>
          </a:prstGeom>
          <a:noFill/>
        </p:spPr>
        <p:txBody>
          <a:bodyPr wrap="square" lIns="0" rIns="0" tIns="0" bIns="0" anchor="t">
            <a:spAutoFit/>
          </a:bodyPr>
          <a:lstStyle/>
          <a:p>
            <a:pPr algn="ctr">
              <a:spcAft>
                <a:spcPts val="600"/>
              </a:spcAft>
            </a:pPr>
            <a:r>
              <a:rPr sz="7200" b="1" i="0">
                <a:solidFill>
                  <a:srgbClr val="12A7A1"/>
                </a:solidFill>
                <a:latin typeface="Aptos Display"/>
              </a:rPr>
              <a:t>Thank you!</a:t>
            </a:r>
          </a:p>
        </p:txBody>
      </p:sp>
      <p:sp>
        <p:nvSpPr>
          <p:cNvPr id="12" name="TextBox 11"/>
          <p:cNvSpPr txBox="1"/>
          <p:nvPr/>
        </p:nvSpPr>
        <p:spPr>
          <a:xfrm>
            <a:off x="502920" y="5715000"/>
            <a:ext cx="11201400" cy="914400"/>
          </a:xfrm>
          <a:prstGeom prst="rect">
            <a:avLst/>
          </a:prstGeom>
          <a:noFill/>
        </p:spPr>
        <p:txBody>
          <a:bodyPr wrap="square" lIns="0" rIns="0" tIns="0" bIns="0" anchor="t">
            <a:spAutoFit/>
          </a:bodyPr>
          <a:lstStyle/>
          <a:p>
            <a:pPr algn="l">
              <a:spcAft>
                <a:spcPts val="600"/>
              </a:spcAft>
            </a:pPr>
            <a:r>
              <a:rPr sz="1100" b="1" i="0">
                <a:solidFill>
                  <a:srgbClr val="FFFFFF"/>
                </a:solidFill>
                <a:latin typeface="Aptos"/>
              </a:rPr>
              <a:t>In the preparation of this project, AI-based tools including Claude, ChatGPT and Gemini were used in a supporting capacity to assist with tasks such as drafting and refining text, organising content, implementation and general research support. All ideas, analysis, technical design decisions and conclusions are the work of the project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