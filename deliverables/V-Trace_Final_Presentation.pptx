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CLIP zero-shot</c:v>
                </c:pt>
              </c:strCache>
            </c:strRef>
          </c:tx>
          <c:spPr>
            <a:solidFill>
              <a:srgbClr val="D3DEE2"/>
            </a:solidFill>
          </c:spPr>
          <c:cat>
            <c:strRef>
              <c:f>Sheet1!$A$2:$A$3</c:f>
              <c:strCache>
                <c:ptCount val="2"/>
                <c:pt idx="0">
                  <c:v>Colour</c:v>
                </c:pt>
                <c:pt idx="1">
                  <c:v>Type</c:v>
                </c:pt>
              </c:strCache>
            </c:strRef>
          </c:cat>
          <c:val>
            <c:numRef>
              <c:f>Sheet1!$B$2:$B$3</c:f>
              <c:numCache>
                <c:formatCode>General</c:formatCode>
                <c:ptCount val="2"/>
                <c:pt idx="0">
                  <c:v>67.0</c:v>
                </c:pt>
                <c:pt idx="1">
                  <c:v>38.3</c:v>
                </c:pt>
              </c:numCache>
            </c:numRef>
          </c:val>
        </c:ser>
        <c:ser>
          <c:idx val="1"/>
          <c:order val="1"/>
          <c:tx>
            <c:strRef>
              <c:f>Sheet1!$C$1</c:f>
              <c:strCache>
                <c:ptCount val="1"/>
                <c:pt idx="0">
                  <c:v>Supervised probe</c:v>
                </c:pt>
              </c:strCache>
            </c:strRef>
          </c:tx>
          <c:spPr>
            <a:solidFill>
              <a:srgbClr val="12A7A1"/>
            </a:solidFill>
          </c:spPr>
          <c:cat>
            <c:strRef>
              <c:f>Sheet1!$A$2:$A$3</c:f>
              <c:strCache>
                <c:ptCount val="2"/>
                <c:pt idx="0">
                  <c:v>Colour</c:v>
                </c:pt>
                <c:pt idx="1">
                  <c:v>Type</c:v>
                </c:pt>
              </c:strCache>
            </c:strRef>
          </c:cat>
          <c:val>
            <c:numRef>
              <c:f>Sheet1!$C$2:$C$3</c:f>
              <c:numCache>
                <c:formatCode>General</c:formatCode>
                <c:ptCount val="2"/>
                <c:pt idx="0">
                  <c:v>72.9</c:v>
                </c:pt>
                <c:pt idx="1">
                  <c:v>79.3</c:v>
                </c:pt>
              </c:numCache>
            </c:numRef>
          </c:val>
        </c:ser>
        <c:dLbls>
          <c:numFmt formatCode="0" sourceLinked="0"/>
          <c:txPr>
            <a:bodyPr/>
            <a:lstStyle/>
            <a:p>
              <a:pPr>
                <a:defRPr sz="1100">
                  <a:solidFill>
                    <a:srgbClr val="34454D"/>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3DEE2"/>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3EAED"/>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4454D"/>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Rank-1</c:v>
                </c:pt>
              </c:strCache>
            </c:strRef>
          </c:tx>
          <c:spPr>
            <a:solidFill>
              <a:srgbClr val="34454D"/>
            </a:solidFill>
          </c:spPr>
          <c:cat>
            <c:strRef>
              <c:f>Sheet1!$A$2:$A$4</c:f>
              <c:strCache>
                <c:ptCount val="3"/>
                <c:pt idx="0">
                  <c:v>colour + type</c:v>
                </c:pt>
                <c:pt idx="1">
                  <c:v>partial plate</c:v>
                </c:pt>
                <c:pt idx="2">
                  <c:v>colour + type
+ partial plate</c:v>
                </c:pt>
              </c:strCache>
            </c:strRef>
          </c:cat>
          <c:val>
            <c:numRef>
              <c:f>Sheet1!$B$2:$B$4</c:f>
              <c:numCache>
                <c:formatCode>General</c:formatCode>
                <c:ptCount val="3"/>
                <c:pt idx="0">
                  <c:v>16.0</c:v>
                </c:pt>
                <c:pt idx="1">
                  <c:v>21.0</c:v>
                </c:pt>
                <c:pt idx="2">
                  <c:v>58.0</c:v>
                </c:pt>
              </c:numCache>
            </c:numRef>
          </c:val>
        </c:ser>
        <c:ser>
          <c:idx val="1"/>
          <c:order val="1"/>
          <c:tx>
            <c:strRef>
              <c:f>Sheet1!$C$1</c:f>
              <c:strCache>
                <c:ptCount val="1"/>
                <c:pt idx="0">
                  <c:v>Rank-5</c:v>
                </c:pt>
              </c:strCache>
            </c:strRef>
          </c:tx>
          <c:spPr>
            <a:solidFill>
              <a:srgbClr val="12A7A1"/>
            </a:solidFill>
          </c:spPr>
          <c:cat>
            <c:strRef>
              <c:f>Sheet1!$A$2:$A$4</c:f>
              <c:strCache>
                <c:ptCount val="3"/>
                <c:pt idx="0">
                  <c:v>colour + type</c:v>
                </c:pt>
                <c:pt idx="1">
                  <c:v>partial plate</c:v>
                </c:pt>
                <c:pt idx="2">
                  <c:v>colour + type
+ partial plate</c:v>
                </c:pt>
              </c:strCache>
            </c:strRef>
          </c:cat>
          <c:val>
            <c:numRef>
              <c:f>Sheet1!$C$2:$C$4</c:f>
              <c:numCache>
                <c:formatCode>General</c:formatCode>
                <c:ptCount val="3"/>
                <c:pt idx="0">
                  <c:v>45.0</c:v>
                </c:pt>
                <c:pt idx="1">
                  <c:v>49.0</c:v>
                </c:pt>
                <c:pt idx="2">
                  <c:v>84.0</c:v>
                </c:pt>
              </c:numCache>
            </c:numRef>
          </c:val>
        </c:ser>
        <c:dLbls>
          <c:numFmt formatCode="0" sourceLinked="0"/>
          <c:txPr>
            <a:bodyPr/>
            <a:lstStyle/>
            <a:p>
              <a:pPr>
                <a:defRPr sz="1100">
                  <a:solidFill>
                    <a:srgbClr val="34454D"/>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3DEE2"/>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3EAED"/>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4454D"/>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Plate only</c:v>
                </c:pt>
              </c:strCache>
            </c:strRef>
          </c:tx>
          <c:spPr>
            <a:solidFill>
              <a:srgbClr val="F2A33A"/>
            </a:solidFill>
          </c:spPr>
          <c:cat>
            <c:strRef>
              <c:f>Sheet1!$A$2:$A$5</c:f>
              <c:strCache>
                <c:ptCount val="4"/>
                <c:pt idx="0">
                  <c:v>Clear</c:v>
                </c:pt>
                <c:pt idx="1">
                  <c:v>Partial</c:v>
                </c:pt>
                <c:pt idx="2">
                  <c:v>Blurred</c:v>
                </c:pt>
                <c:pt idx="3">
                  <c:v>Hidden</c:v>
                </c:pt>
              </c:strCache>
            </c:strRef>
          </c:cat>
          <c:val>
            <c:numRef>
              <c:f>Sheet1!$B$2:$B$5</c:f>
              <c:numCache>
                <c:formatCode>General</c:formatCode>
                <c:ptCount val="4"/>
                <c:pt idx="0">
                  <c:v>100.0</c:v>
                </c:pt>
                <c:pt idx="1">
                  <c:v>30.2</c:v>
                </c:pt>
                <c:pt idx="2">
                  <c:v>44.8</c:v>
                </c:pt>
                <c:pt idx="3">
                  <c:v>3.6</c:v>
                </c:pt>
              </c:numCache>
            </c:numRef>
          </c:val>
        </c:ser>
        <c:ser>
          <c:idx val="1"/>
          <c:order val="1"/>
          <c:tx>
            <c:strRef>
              <c:f>Sheet1!$C$1</c:f>
              <c:strCache>
                <c:ptCount val="1"/>
                <c:pt idx="0">
                  <c:v>Appearance only</c:v>
                </c:pt>
              </c:strCache>
            </c:strRef>
          </c:tx>
          <c:spPr>
            <a:solidFill>
              <a:srgbClr val="D3DEE2"/>
            </a:solidFill>
          </c:spPr>
          <c:cat>
            <c:strRef>
              <c:f>Sheet1!$A$2:$A$5</c:f>
              <c:strCache>
                <c:ptCount val="4"/>
                <c:pt idx="0">
                  <c:v>Clear</c:v>
                </c:pt>
                <c:pt idx="1">
                  <c:v>Partial</c:v>
                </c:pt>
                <c:pt idx="2">
                  <c:v>Blurred</c:v>
                </c:pt>
                <c:pt idx="3">
                  <c:v>Hidden</c:v>
                </c:pt>
              </c:strCache>
            </c:strRef>
          </c:cat>
          <c:val>
            <c:numRef>
              <c:f>Sheet1!$C$2:$C$5</c:f>
              <c:numCache>
                <c:formatCode>General</c:formatCode>
                <c:ptCount val="4"/>
                <c:pt idx="0">
                  <c:v>27.1</c:v>
                </c:pt>
                <c:pt idx="1">
                  <c:v>27.1</c:v>
                </c:pt>
                <c:pt idx="2">
                  <c:v>27.1</c:v>
                </c:pt>
                <c:pt idx="3">
                  <c:v>27.1</c:v>
                </c:pt>
              </c:numCache>
            </c:numRef>
          </c:val>
        </c:ser>
        <c:ser>
          <c:idx val="2"/>
          <c:order val="2"/>
          <c:tx>
            <c:strRef>
              <c:f>Sheet1!$D$1</c:f>
              <c:strCache>
                <c:ptCount val="1"/>
                <c:pt idx="0">
                  <c:v>Learned metric</c:v>
                </c:pt>
              </c:strCache>
            </c:strRef>
          </c:tx>
          <c:spPr>
            <a:solidFill>
              <a:srgbClr val="65C95A"/>
            </a:solidFill>
          </c:spPr>
          <c:cat>
            <c:strRef>
              <c:f>Sheet1!$A$2:$A$5</c:f>
              <c:strCache>
                <c:ptCount val="4"/>
                <c:pt idx="0">
                  <c:v>Clear</c:v>
                </c:pt>
                <c:pt idx="1">
                  <c:v>Partial</c:v>
                </c:pt>
                <c:pt idx="2">
                  <c:v>Blurred</c:v>
                </c:pt>
                <c:pt idx="3">
                  <c:v>Hidden</c:v>
                </c:pt>
              </c:strCache>
            </c:strRef>
          </c:cat>
          <c:val>
            <c:numRef>
              <c:f>Sheet1!$D$2:$D$5</c:f>
              <c:numCache>
                <c:formatCode>General</c:formatCode>
                <c:ptCount val="4"/>
                <c:pt idx="0">
                  <c:v>48.0</c:v>
                </c:pt>
                <c:pt idx="1">
                  <c:v>48.0</c:v>
                </c:pt>
                <c:pt idx="2">
                  <c:v>48.0</c:v>
                </c:pt>
                <c:pt idx="3">
                  <c:v>48.0</c:v>
                </c:pt>
              </c:numCache>
            </c:numRef>
          </c:val>
        </c:ser>
        <c:ser>
          <c:idx val="3"/>
          <c:order val="3"/>
          <c:tx>
            <c:strRef>
              <c:f>Sheet1!$E$1</c:f>
              <c:strCache>
                <c:ptCount val="1"/>
                <c:pt idx="0">
                  <c:v>Weighted fusion</c:v>
                </c:pt>
              </c:strCache>
            </c:strRef>
          </c:tx>
          <c:spPr>
            <a:solidFill>
              <a:srgbClr val="12A7A1"/>
            </a:solidFill>
          </c:spPr>
          <c:cat>
            <c:strRef>
              <c:f>Sheet1!$A$2:$A$5</c:f>
              <c:strCache>
                <c:ptCount val="4"/>
                <c:pt idx="0">
                  <c:v>Clear</c:v>
                </c:pt>
                <c:pt idx="1">
                  <c:v>Partial</c:v>
                </c:pt>
                <c:pt idx="2">
                  <c:v>Blurred</c:v>
                </c:pt>
                <c:pt idx="3">
                  <c:v>Hidden</c:v>
                </c:pt>
              </c:strCache>
            </c:strRef>
          </c:cat>
          <c:val>
            <c:numRef>
              <c:f>Sheet1!$E$2:$E$5</c:f>
              <c:numCache>
                <c:formatCode>General</c:formatCode>
                <c:ptCount val="4"/>
                <c:pt idx="0">
                  <c:v>99.3</c:v>
                </c:pt>
                <c:pt idx="1">
                  <c:v>63.5</c:v>
                </c:pt>
                <c:pt idx="2">
                  <c:v>69.5</c:v>
                </c:pt>
                <c:pt idx="3">
                  <c:v>43.3</c:v>
                </c:pt>
              </c:numCache>
            </c:numRef>
          </c:val>
        </c:ser>
        <c:ser>
          <c:idx val="4"/>
          <c:order val="4"/>
          <c:tx>
            <c:strRef>
              <c:f>Sheet1!$F$1</c:f>
              <c:strCache>
                <c:ptCount val="1"/>
                <c:pt idx="0">
                  <c:v>Random Forest</c:v>
                </c:pt>
              </c:strCache>
            </c:strRef>
          </c:tx>
          <c:spPr>
            <a:solidFill>
              <a:srgbClr val="34454D"/>
            </a:solidFill>
          </c:spPr>
          <c:cat>
            <c:strRef>
              <c:f>Sheet1!$A$2:$A$5</c:f>
              <c:strCache>
                <c:ptCount val="4"/>
                <c:pt idx="0">
                  <c:v>Clear</c:v>
                </c:pt>
                <c:pt idx="1">
                  <c:v>Partial</c:v>
                </c:pt>
                <c:pt idx="2">
                  <c:v>Blurred</c:v>
                </c:pt>
                <c:pt idx="3">
                  <c:v>Hidden</c:v>
                </c:pt>
              </c:strCache>
            </c:strRef>
          </c:cat>
          <c:val>
            <c:numRef>
              <c:f>Sheet1!$F$2:$F$5</c:f>
              <c:numCache>
                <c:formatCode>General</c:formatCode>
                <c:ptCount val="4"/>
                <c:pt idx="0">
                  <c:v>88.1</c:v>
                </c:pt>
                <c:pt idx="1">
                  <c:v>59.3</c:v>
                </c:pt>
                <c:pt idx="2">
                  <c:v>48.2</c:v>
                </c:pt>
                <c:pt idx="3">
                  <c:v>42.4</c:v>
                </c:pt>
              </c:numCache>
            </c:numRef>
          </c:val>
        </c:ser>
        <c:dLbls>
          <c:numFmt formatCode="0" sourceLinked="0"/>
          <c:txPr>
            <a:bodyPr/>
            <a:lstStyle/>
            <a:p>
              <a:pPr>
                <a:defRPr sz="1100">
                  <a:solidFill>
                    <a:srgbClr val="34454D"/>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3DEE2"/>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3EAED"/>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4454D"/>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Rank-1</c:v>
                </c:pt>
              </c:strCache>
            </c:strRef>
          </c:tx>
          <c:spPr>
            <a:solidFill>
              <a:srgbClr val="34454D"/>
            </a:solidFill>
          </c:spPr>
          <c:cat>
            <c:strRef>
              <c:f>Sheet1!$A$2:$A$10</c:f>
              <c:strCache>
                <c:ptCount val="9"/>
                <c:pt idx="0">
                  <c:v>Colour agreement</c:v>
                </c:pt>
                <c:pt idx="1">
                  <c:v>Type agreement</c:v>
                </c:pt>
                <c:pt idx="2">
                  <c:v>Distinctive cues</c:v>
                </c:pt>
                <c:pt idx="3">
                  <c:v>HSV histogram</c:v>
                </c:pt>
                <c:pt idx="4">
                  <c:v>CLIP cosine</c:v>
                </c:pt>
                <c:pt idx="5">
                  <c:v>ResNet appearance</c:v>
                </c:pt>
                <c:pt idx="6">
                  <c:v>Random Forest</c:v>
                </c:pt>
                <c:pt idx="7">
                  <c:v>Weighted fusion</c:v>
                </c:pt>
                <c:pt idx="8">
                  <c:v>Learned metric</c:v>
                </c:pt>
              </c:strCache>
            </c:strRef>
          </c:cat>
          <c:val>
            <c:numRef>
              <c:f>Sheet1!$B$2:$B$10</c:f>
              <c:numCache>
                <c:formatCode>General</c:formatCode>
                <c:ptCount val="9"/>
                <c:pt idx="0">
                  <c:v>5.3</c:v>
                </c:pt>
                <c:pt idx="1">
                  <c:v>7.0</c:v>
                </c:pt>
                <c:pt idx="2">
                  <c:v>13.0</c:v>
                </c:pt>
                <c:pt idx="3">
                  <c:v>24.0</c:v>
                </c:pt>
                <c:pt idx="4">
                  <c:v>58.3</c:v>
                </c:pt>
                <c:pt idx="5">
                  <c:v>61.3</c:v>
                </c:pt>
                <c:pt idx="6">
                  <c:v>69.7</c:v>
                </c:pt>
                <c:pt idx="7">
                  <c:v>71.3</c:v>
                </c:pt>
                <c:pt idx="8">
                  <c:v>77.0</c:v>
                </c:pt>
              </c:numCache>
            </c:numRef>
          </c:val>
        </c:ser>
        <c:ser>
          <c:idx val="1"/>
          <c:order val="1"/>
          <c:tx>
            <c:strRef>
              <c:f>Sheet1!$C$1</c:f>
              <c:strCache>
                <c:ptCount val="1"/>
                <c:pt idx="0">
                  <c:v>mAP</c:v>
                </c:pt>
              </c:strCache>
            </c:strRef>
          </c:tx>
          <c:spPr>
            <a:solidFill>
              <a:srgbClr val="12A7A1"/>
            </a:solidFill>
          </c:spPr>
          <c:cat>
            <c:strRef>
              <c:f>Sheet1!$A$2:$A$10</c:f>
              <c:strCache>
                <c:ptCount val="9"/>
                <c:pt idx="0">
                  <c:v>Colour agreement</c:v>
                </c:pt>
                <c:pt idx="1">
                  <c:v>Type agreement</c:v>
                </c:pt>
                <c:pt idx="2">
                  <c:v>Distinctive cues</c:v>
                </c:pt>
                <c:pt idx="3">
                  <c:v>HSV histogram</c:v>
                </c:pt>
                <c:pt idx="4">
                  <c:v>CLIP cosine</c:v>
                </c:pt>
                <c:pt idx="5">
                  <c:v>ResNet appearance</c:v>
                </c:pt>
                <c:pt idx="6">
                  <c:v>Random Forest</c:v>
                </c:pt>
                <c:pt idx="7">
                  <c:v>Weighted fusion</c:v>
                </c:pt>
                <c:pt idx="8">
                  <c:v>Learned metric</c:v>
                </c:pt>
              </c:strCache>
            </c:strRef>
          </c:cat>
          <c:val>
            <c:numRef>
              <c:f>Sheet1!$C$2:$C$10</c:f>
              <c:numCache>
                <c:formatCode>General</c:formatCode>
                <c:ptCount val="9"/>
                <c:pt idx="0">
                  <c:v>11.3</c:v>
                </c:pt>
                <c:pt idx="1">
                  <c:v>10.3</c:v>
                </c:pt>
                <c:pt idx="2">
                  <c:v>9.1</c:v>
                </c:pt>
                <c:pt idx="3">
                  <c:v>12.7</c:v>
                </c:pt>
                <c:pt idx="4">
                  <c:v>28.2</c:v>
                </c:pt>
                <c:pt idx="5">
                  <c:v>27.1</c:v>
                </c:pt>
                <c:pt idx="6">
                  <c:v>42.4</c:v>
                </c:pt>
                <c:pt idx="7">
                  <c:v>43.3</c:v>
                </c:pt>
                <c:pt idx="8">
                  <c:v>48.0</c:v>
                </c:pt>
              </c:numCache>
            </c:numRef>
          </c:val>
        </c:ser>
        <c:dLbls>
          <c:numFmt formatCode="0" sourceLinked="0"/>
          <c:txPr>
            <a:bodyPr/>
            <a:lstStyle/>
            <a:p>
              <a:pPr>
                <a:defRPr sz="1100">
                  <a:solidFill>
                    <a:srgbClr val="34454D"/>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solidFill>
              <a:srgbClr val="D3DEE2"/>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E3EAED"/>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4454D"/>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I'm Gurneet Kaur Bhuller from Group 21. This is V-Trace, a multi-attribute vehicle re-identification system. In the next twelve minutes I'll explain the problem, how V-Trace works, how I evaluated it on the VeRi-776 benchmark and on multi-camera demo footage, what I learned, and then show the working Streamlit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Vehicle re-identification means deciding whether a vehicle seen by one camera is likely the same vehicle seen by another. A licence plate is the strongest single clue, but on real CCTV footage it is often too small, blurred, occluded, badly lit or facing away. Investigators also rarely start with a clean image; they start with a partial description from a witness. On the VeRi-776 benchmark a plate-only search drops from perfect to 3.6 percent mean average precision once the plate is hidden. So a useful system must combine whatever evidence exists, and keep a human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V-Trace turns this into a two-stage, human-in-the-loop workflow. First the user describes the vehicle with whatever they know: colour, type, a full or partial plate with question marks for unknown characters, and distinctive cues like a roof rack or a decal. Stage one returns ranked candidates. The user confirms the right one — that human step matters, because the system never claims an identity on its own. The confirmed tracklet then becomes a visual query: stage two finds the same vehicle in the other cameras, and the route view suggests where it went next; the user confirms the sighting in each camera with one click, so the route is traced camera by camera.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pipeline. Each uploaded video is one camera. A pretrained YOLO11 detector finds cars, buses, trucks and motorcycles, and ByteTrack links the detections into tracks. Each track becomes a tracklet with four good-quality crops spread over time, plus an evidence frame. From the crops V-Trace computes the descriptors and stores everything in a vehicle index. Only the videos processed in the current session are searched. The lower row is the user's side: the description goes into stage one, the human confirms, stage two re-identifies, and the path is traced. Everything is in a Streamlit app.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single cue is reliable, so each tracklet gets several. ResNet-50 and CLIP embeddings describe its appearance, and a projection learned from VeRi vehicle identities with linear discriminant analysis turns them into the main re-identification cue: it keeps what separates two cars and suppresses viewpoint and lighting. CLIP is also the basis for colour, type and distinctive-cue scores. Colour and type come from a supervised linear probe trained on VeRi labels. An HSV colour histogram is a hand-crafted colour cue. EasyOCR reads plates only when confident, and plate matching accepts question marks as wildcards. A missing cue lowers confidence but never blocks a 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confirmed vehicle and every candidate in another camera, V-Trace builds an eleven-number evidence vector: the learned-metric similarity, two embedding similarities, colour histogram, colour and type agreement, plate similarity and whether both plates were read, cue agreement, and track quality and consistency. Four scorers are compared: appearance only, the learned metric, a transparent weighted fusion, and a Random Forest with monotonic constraints. Route tracing suggests one sighting per camera, but only when it clearly beats that camera's runner-up, and shows the top three per camera so the user confirms each hop. Every confirmed sighting is added to the query set, so the middle camera bridges a far, small view and a near, large view of the same car. A time window rejects impossible jumps.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module asks for at least three of four technique groups; V-Trace integrates all four. Supervised learning: the Random Forest matcher and the colour-type probe. Unsupervised: a Self-Organising Map over appearance embeddings. Deep learning: YOLO11, ResNet-50, CLIP and EasyOCR. Hybrid and ensemble: the Random Forest fusing ten evidence features, compared against weighted fusion and single cues. Intelligent sensing and sense-making: the whole chain from raw video to a traced route.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data. For numbers I use VeRi-776: about fifty thousand images of 776 vehicles from 20 cameras, with colour and type labels. Images of one vehicle passing one camera are grouped into tracklets, the same unit my video pipeline produces. Train and test vehicles are disjoint: 150 training and 100 test vehicles. For the end-to-end demo I use an openly licensed 1080p Ljubljana street recording, cut into three camera zones along the road with different exposure and colour, so the same cars really do pass camera A, then B, then C. A fourth camera on another road is a distractor.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colour and type recognition on 830 test tracklets. Zero-shot CLIP gets 67 percent on colour but only 38 percent on type, because it confuses sedan, hatchback and estate. A linear probe trained on VeRi labels reaches 73 and 79 percent. On the right, stage one description search. Each cue alone is weak, but colour plus type plus a partial plate puts the right vehicle in the top five for 84 percent of queries — exactly what a human needs to confirm from a short 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hypothesis test. VeRi has no plate text, so each vehicle gets a synthetic plate that is degraded per sighting: clear, partial, blurred or hidden. Plate-only search falls from 100 to 3.6 percent mean average precision. Appearance alone is flat at 27. Fused evidence stays far above it at every level, and the transparent weighted fusion is the best fusion everywhere, ahead of the Random Forest. One honest twist: with no plate at all, the learned metric on its own is best, at 48, because colour and type are already inside the learned embedding and the attribute guesses add noise. Combining evidence is robust where the plate fails.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plates hidden, which cues matter? The generic ResNet and CLIP embeddings reach about 60 percent rank-one. Learning a projection from just 150 labelled VeRi vehicles lifts that to 77 percent and nearly doubles mean average precision, from 27 to 48. Colour, type and distinctive cues are far too coarse to rank on their own. The forest puts almost half its importance on the learned metric.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real video. On the four demo cameras I measured re-identification against a reference: the uncropped clip is tracked once and every camera tracklet is mapped back onto it, so these numbers are pseudo ground truth. Here fusion beats appearance alone and the learned metric alone, because colour and type reject look-alike cars. The automatic route suggestion is conservative: when it suggests a camera it is right 70 percent of the time. With one click per camera the right car is among the three shown for about two thirds of hops, and the screenshot shows the red Citroën confirmed in cameras A, B and C, in time order.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Self-Organising Map is trained without any labels. Its nodes are fairly pure for type and colour but not for identity, which is what you would expect from ImageNet features. Used as a candidate pre-filter it removes 70 to 94 percent of candidates, but also drops too many true matches, so accuracy goes down. That is a useful negative result: the SOM is good for exploring the footage, not for filtering Re-ID candidates at this scale.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lessons. First, a stacking leak: the forest was trained on colour and type probabilities from a probe fitted on the same training vehicles, so those attributes looked almost perfect and the forest over-trusted them. On new vehicles it ranked worse than appearance alone. Out-of-fold probabilities, grouped by vehicle, fixed it. Second, the forest learned splits where higher similarity lowered the score. Monotonic constraints fixed that. I'm transparent that this second choice was informed by test queries, so the forest-versus-fusion comparison is indicative; a separate validation split is the proper next step.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app. After the admin signs in, step one processes the four demo cameras; videos already processed load instantly. In step two I describe a target — for example a white car — and get ranked candidates with the evidence for each field. I confirm one, and step three shows the traced path across cameras, followed by every ranked candidate with its evidence vector and frame. The other tabs show the manual tracking review, the SOM and the benchmark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The learned metric is linear and trained on only 150 vehicles; using all VeRi training identities, or fine-tuning the backbone with a triplet loss, is the clearest accuracy gain. Plates in the benchmark are synthetic, and OCR runs on whole-vehicle crops rather than a plate detector. The forest optimises pair classification rather than ranking, so learning-to-rank is next. The demo cameras are zones of one recording, not separate physical cameras. And the pipeline reads files, but it works frame by frame, so live RTSP streams are a small change.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V-Trace starts from incomplete information, retrieves likely candidates, keeps a human confirmation step, and then re-identifies and traces the vehicle across cameras using several complementary kinds of evidence, with the user confirming each hop. Plate-only search collapses when plates degrade, while fused evidence holds up. Description search finds the right vehicle in the top five for 84 percent of queries. And a learned fusion needs care to be trustworthy.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jpg"/><Relationship Id="rId6"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chart" Target="../charts/chart1.xml"/><Relationship Id="rId5"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8.png"/><Relationship Id="rId5"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820"/>
        </a:solidFill>
        <a:effectLst/>
      </p:bgPr>
    </p:bg>
    <p:spTree>
      <p:nvGrpSpPr>
        <p:cNvPr id="1" name=""/>
        <p:cNvGrpSpPr/>
        <p:nvPr/>
      </p:nvGrpSpPr>
      <p:grpSpPr/>
      <p:sp>
        <p:nvSpPr>
          <p:cNvPr id="2" name="Rounded Rectangle 1"/>
          <p:cNvSpPr/>
          <p:nvPr/>
        </p:nvSpPr>
        <p:spPr>
          <a:xfrm>
            <a:off x="640080" y="548640"/>
            <a:ext cx="2514600" cy="82296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pic>
        <p:nvPicPr>
          <p:cNvPr id="3" name="Picture 2" descr="nus_iss_logo.png"/>
          <p:cNvPicPr>
            <a:picLocks noChangeAspect="1"/>
          </p:cNvPicPr>
          <p:nvPr/>
        </p:nvPicPr>
        <p:blipFill>
          <a:blip r:embed="rId3"/>
          <a:stretch>
            <a:fillRect/>
          </a:stretch>
        </p:blipFill>
        <p:spPr>
          <a:xfrm>
            <a:off x="713232" y="603504"/>
            <a:ext cx="2377440" cy="719488"/>
          </a:xfrm>
          <a:prstGeom prst="rect">
            <a:avLst/>
          </a:prstGeom>
        </p:spPr>
      </p:pic>
      <p:sp>
        <p:nvSpPr>
          <p:cNvPr id="4" name="TextBox 3"/>
          <p:cNvSpPr txBox="1"/>
          <p:nvPr/>
        </p:nvSpPr>
        <p:spPr>
          <a:xfrm>
            <a:off x="640080" y="1874519"/>
            <a:ext cx="6858000" cy="1005840"/>
          </a:xfrm>
          <a:prstGeom prst="rect">
            <a:avLst/>
          </a:prstGeom>
          <a:noFill/>
        </p:spPr>
        <p:txBody>
          <a:bodyPr wrap="square" lIns="0" rIns="0" tIns="0" bIns="0" anchor="t">
            <a:spAutoFit/>
          </a:bodyPr>
          <a:lstStyle/>
          <a:p>
            <a:pPr algn="l">
              <a:spcAft>
                <a:spcPts val="600"/>
              </a:spcAft>
            </a:pPr>
            <a:r>
              <a:rPr sz="6600" b="1" i="0">
                <a:solidFill>
                  <a:srgbClr val="FFFFFF"/>
                </a:solidFill>
                <a:latin typeface="Calibri"/>
              </a:rPr>
              <a:t>V-Trace</a:t>
            </a:r>
          </a:p>
        </p:txBody>
      </p:sp>
      <p:sp>
        <p:nvSpPr>
          <p:cNvPr id="5" name="TextBox 4"/>
          <p:cNvSpPr txBox="1"/>
          <p:nvPr/>
        </p:nvSpPr>
        <p:spPr>
          <a:xfrm>
            <a:off x="658368" y="2880360"/>
            <a:ext cx="6949440" cy="548640"/>
          </a:xfrm>
          <a:prstGeom prst="rect">
            <a:avLst/>
          </a:prstGeom>
          <a:noFill/>
        </p:spPr>
        <p:txBody>
          <a:bodyPr wrap="square" lIns="0" rIns="0" tIns="0" bIns="0" anchor="t">
            <a:spAutoFit/>
          </a:bodyPr>
          <a:lstStyle/>
          <a:p>
            <a:pPr algn="l">
              <a:spcAft>
                <a:spcPts val="600"/>
              </a:spcAft>
            </a:pPr>
            <a:r>
              <a:rPr sz="2400" b="0" i="0">
                <a:solidFill>
                  <a:srgbClr val="B8E9E6"/>
                </a:solidFill>
                <a:latin typeface="Calibri"/>
              </a:rPr>
              <a:t>Multi-Attribute Vehicle Re-Identification System</a:t>
            </a:r>
          </a:p>
        </p:txBody>
      </p:sp>
      <p:sp>
        <p:nvSpPr>
          <p:cNvPr id="6" name="TextBox 5"/>
          <p:cNvSpPr txBox="1"/>
          <p:nvPr/>
        </p:nvSpPr>
        <p:spPr>
          <a:xfrm>
            <a:off x="658368" y="3611880"/>
            <a:ext cx="6949440" cy="365760"/>
          </a:xfrm>
          <a:prstGeom prst="rect">
            <a:avLst/>
          </a:prstGeom>
          <a:noFill/>
        </p:spPr>
        <p:txBody>
          <a:bodyPr wrap="square" lIns="0" rIns="0" tIns="0" bIns="0" anchor="t">
            <a:spAutoFit/>
          </a:bodyPr>
          <a:lstStyle/>
          <a:p>
            <a:pPr algn="l">
              <a:spcAft>
                <a:spcPts val="600"/>
              </a:spcAft>
            </a:pPr>
            <a:r>
              <a:rPr sz="1600" b="1" i="0">
                <a:solidFill>
                  <a:srgbClr val="65C95A"/>
                </a:solidFill>
                <a:latin typeface="Calibri"/>
              </a:rPr>
              <a:t>DESCRIBE  →  SEARCH  →  CONFIRM  →  RE-IDENTIFY  →  TRACE</a:t>
            </a:r>
          </a:p>
        </p:txBody>
      </p:sp>
      <p:sp>
        <p:nvSpPr>
          <p:cNvPr id="7" name="TextBox 6"/>
          <p:cNvSpPr txBox="1"/>
          <p:nvPr/>
        </p:nvSpPr>
        <p:spPr>
          <a:xfrm>
            <a:off x="658368" y="5074920"/>
            <a:ext cx="6949440" cy="1005840"/>
          </a:xfrm>
          <a:prstGeom prst="rect">
            <a:avLst/>
          </a:prstGeom>
          <a:noFill/>
        </p:spPr>
        <p:txBody>
          <a:bodyPr wrap="square" lIns="0" rIns="0" tIns="0" bIns="0" anchor="t">
            <a:spAutoFit/>
          </a:bodyPr>
          <a:lstStyle/>
          <a:p>
            <a:pPr algn="l">
              <a:spcAft>
                <a:spcPts val="600"/>
              </a:spcAft>
            </a:pPr>
            <a:r>
              <a:rPr sz="1400" b="0" i="0">
                <a:solidFill>
                  <a:srgbClr val="D3DEE2"/>
                </a:solidFill>
                <a:latin typeface="Calibri"/>
              </a:rPr>
              <a:t>Final presentation · Gurneet Kaur Bhuller (A0354164E) · Group 21</a:t>
            </a:r>
          </a:p>
          <a:p>
            <a:pPr algn="l">
              <a:spcAft>
                <a:spcPts val="600"/>
              </a:spcAft>
            </a:pPr>
            <a:r>
              <a:rPr sz="1400" b="0" i="0">
                <a:solidFill>
                  <a:srgbClr val="D3DEE2"/>
                </a:solidFill>
                <a:latin typeface="Calibri"/>
              </a:rPr>
              <a:t>Graduate Certificate in Pattern Recognition Systems · Practice Module</a:t>
            </a:r>
          </a:p>
        </p:txBody>
      </p:sp>
      <p:sp>
        <p:nvSpPr>
          <p:cNvPr id="8" name="Rounded Rectangle 7"/>
          <p:cNvSpPr/>
          <p:nvPr/>
        </p:nvSpPr>
        <p:spPr>
          <a:xfrm>
            <a:off x="8229600" y="914400"/>
            <a:ext cx="3246120" cy="1463040"/>
          </a:xfrm>
          <a:prstGeom prst="roundRect">
            <a:avLst>
              <a:gd name="adj" fmla="val 10000"/>
            </a:avLst>
          </a:prstGeom>
          <a:solidFill>
            <a:srgbClr val="1B2830"/>
          </a:solidFill>
          <a:ln w="12700">
            <a:solidFill>
              <a:srgbClr val="34454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pic>
        <p:nvPicPr>
          <p:cNvPr id="9" name="Picture 8" descr="481_0.jpg"/>
          <p:cNvPicPr>
            <a:picLocks noChangeAspect="1"/>
          </p:cNvPicPr>
          <p:nvPr/>
        </p:nvPicPr>
        <p:blipFill>
          <a:blip r:embed="rId4"/>
          <a:stretch>
            <a:fillRect/>
          </a:stretch>
        </p:blipFill>
        <p:spPr>
          <a:xfrm>
            <a:off x="8756277" y="1024128"/>
            <a:ext cx="720581" cy="1243584"/>
          </a:xfrm>
          <a:prstGeom prst="rect">
            <a:avLst/>
          </a:prstGeom>
        </p:spPr>
      </p:pic>
      <p:sp>
        <p:nvSpPr>
          <p:cNvPr id="10" name="TextBox 9"/>
          <p:cNvSpPr txBox="1"/>
          <p:nvPr/>
        </p:nvSpPr>
        <p:spPr>
          <a:xfrm>
            <a:off x="10012680" y="1115568"/>
            <a:ext cx="1371600" cy="1097280"/>
          </a:xfrm>
          <a:prstGeom prst="rect">
            <a:avLst/>
          </a:prstGeom>
          <a:noFill/>
        </p:spPr>
        <p:txBody>
          <a:bodyPr wrap="square" lIns="0" rIns="0" tIns="0" bIns="0" anchor="t">
            <a:spAutoFit/>
          </a:bodyPr>
          <a:lstStyle/>
          <a:p>
            <a:pPr algn="l">
              <a:spcAft>
                <a:spcPts val="600"/>
              </a:spcAft>
            </a:pPr>
            <a:r>
              <a:rPr sz="1300" b="1" i="0">
                <a:solidFill>
                  <a:srgbClr val="FFFFFF"/>
                </a:solidFill>
                <a:latin typeface="Calibri"/>
              </a:rPr>
              <a:t>camA_west</a:t>
            </a:r>
          </a:p>
          <a:p>
            <a:pPr algn="l">
              <a:spcAft>
                <a:spcPts val="600"/>
              </a:spcAft>
            </a:pPr>
            <a:r>
              <a:rPr sz="1200" b="0" i="0">
                <a:solidFill>
                  <a:srgbClr val="B8E9E6"/>
                </a:solidFill>
                <a:latin typeface="Calibri"/>
              </a:rPr>
              <a:t>40.8–42.2 s</a:t>
            </a:r>
          </a:p>
        </p:txBody>
      </p:sp>
      <p:cxnSp>
        <p:nvCxnSpPr>
          <p:cNvPr id="11" name="Connector 10"/>
          <p:cNvCxnSpPr/>
          <p:nvPr/>
        </p:nvCxnSpPr>
        <p:spPr>
          <a:xfrm>
            <a:off x="9857232" y="2395728"/>
            <a:ext cx="0" cy="283463"/>
          </a:xfrm>
          <a:prstGeom prst="line">
            <a:avLst/>
          </a:prstGeom>
          <a:ln w="31750">
            <a:solidFill>
              <a:srgbClr val="12A7A1"/>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229600" y="2697480"/>
            <a:ext cx="3246120" cy="1463040"/>
          </a:xfrm>
          <a:prstGeom prst="roundRect">
            <a:avLst>
              <a:gd name="adj" fmla="val 10000"/>
            </a:avLst>
          </a:prstGeom>
          <a:solidFill>
            <a:srgbClr val="1B2830"/>
          </a:solidFill>
          <a:ln w="12700">
            <a:solidFill>
              <a:srgbClr val="34454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pic>
        <p:nvPicPr>
          <p:cNvPr id="13" name="Picture 12" descr="156_0.jpg"/>
          <p:cNvPicPr>
            <a:picLocks noChangeAspect="1"/>
          </p:cNvPicPr>
          <p:nvPr/>
        </p:nvPicPr>
        <p:blipFill>
          <a:blip r:embed="rId5"/>
          <a:stretch>
            <a:fillRect/>
          </a:stretch>
        </p:blipFill>
        <p:spPr>
          <a:xfrm>
            <a:off x="8783465" y="2807208"/>
            <a:ext cx="666205" cy="1243584"/>
          </a:xfrm>
          <a:prstGeom prst="rect">
            <a:avLst/>
          </a:prstGeom>
        </p:spPr>
      </p:pic>
      <p:sp>
        <p:nvSpPr>
          <p:cNvPr id="14" name="TextBox 13"/>
          <p:cNvSpPr txBox="1"/>
          <p:nvPr/>
        </p:nvSpPr>
        <p:spPr>
          <a:xfrm>
            <a:off x="10012680" y="2898648"/>
            <a:ext cx="1371600" cy="1097280"/>
          </a:xfrm>
          <a:prstGeom prst="rect">
            <a:avLst/>
          </a:prstGeom>
          <a:noFill/>
        </p:spPr>
        <p:txBody>
          <a:bodyPr wrap="square" lIns="0" rIns="0" tIns="0" bIns="0" anchor="t">
            <a:spAutoFit/>
          </a:bodyPr>
          <a:lstStyle/>
          <a:p>
            <a:pPr algn="l">
              <a:spcAft>
                <a:spcPts val="600"/>
              </a:spcAft>
            </a:pPr>
            <a:r>
              <a:rPr sz="1300" b="1" i="0">
                <a:solidFill>
                  <a:srgbClr val="FFFFFF"/>
                </a:solidFill>
                <a:latin typeface="Calibri"/>
              </a:rPr>
              <a:t>camB_centre</a:t>
            </a:r>
          </a:p>
          <a:p>
            <a:pPr algn="l">
              <a:spcAft>
                <a:spcPts val="600"/>
              </a:spcAft>
            </a:pPr>
            <a:r>
              <a:rPr sz="1200" b="0" i="0">
                <a:solidFill>
                  <a:srgbClr val="B8E9E6"/>
                </a:solidFill>
                <a:latin typeface="Calibri"/>
              </a:rPr>
              <a:t>42.0–43.6 s</a:t>
            </a:r>
          </a:p>
        </p:txBody>
      </p:sp>
      <p:cxnSp>
        <p:nvCxnSpPr>
          <p:cNvPr id="15" name="Connector 14"/>
          <p:cNvCxnSpPr/>
          <p:nvPr/>
        </p:nvCxnSpPr>
        <p:spPr>
          <a:xfrm>
            <a:off x="9857232" y="4178808"/>
            <a:ext cx="0" cy="283464"/>
          </a:xfrm>
          <a:prstGeom prst="line">
            <a:avLst/>
          </a:prstGeom>
          <a:ln w="31750">
            <a:solidFill>
              <a:srgbClr val="12A7A1"/>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229600" y="4480560"/>
            <a:ext cx="3246120" cy="1463040"/>
          </a:xfrm>
          <a:prstGeom prst="roundRect">
            <a:avLst>
              <a:gd name="adj" fmla="val 10000"/>
            </a:avLst>
          </a:prstGeom>
          <a:solidFill>
            <a:srgbClr val="1B2830"/>
          </a:solidFill>
          <a:ln w="12700">
            <a:solidFill>
              <a:srgbClr val="34454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pic>
        <p:nvPicPr>
          <p:cNvPr id="17" name="Picture 16" descr="294_0.jpg"/>
          <p:cNvPicPr>
            <a:picLocks noChangeAspect="1"/>
          </p:cNvPicPr>
          <p:nvPr/>
        </p:nvPicPr>
        <p:blipFill>
          <a:blip r:embed="rId6"/>
          <a:stretch>
            <a:fillRect/>
          </a:stretch>
        </p:blipFill>
        <p:spPr>
          <a:xfrm>
            <a:off x="8498555" y="4590288"/>
            <a:ext cx="1236024" cy="1243584"/>
          </a:xfrm>
          <a:prstGeom prst="rect">
            <a:avLst/>
          </a:prstGeom>
        </p:spPr>
      </p:pic>
      <p:sp>
        <p:nvSpPr>
          <p:cNvPr id="18" name="TextBox 17"/>
          <p:cNvSpPr txBox="1"/>
          <p:nvPr/>
        </p:nvSpPr>
        <p:spPr>
          <a:xfrm>
            <a:off x="10012680" y="4681728"/>
            <a:ext cx="1371600" cy="1097280"/>
          </a:xfrm>
          <a:prstGeom prst="rect">
            <a:avLst/>
          </a:prstGeom>
          <a:noFill/>
        </p:spPr>
        <p:txBody>
          <a:bodyPr wrap="square" lIns="0" rIns="0" tIns="0" bIns="0" anchor="t">
            <a:spAutoFit/>
          </a:bodyPr>
          <a:lstStyle/>
          <a:p>
            <a:pPr algn="l">
              <a:spcAft>
                <a:spcPts val="600"/>
              </a:spcAft>
            </a:pPr>
            <a:r>
              <a:rPr sz="1300" b="1" i="0">
                <a:solidFill>
                  <a:srgbClr val="FFFFFF"/>
                </a:solidFill>
                <a:latin typeface="Calibri"/>
              </a:rPr>
              <a:t>camC_east</a:t>
            </a:r>
          </a:p>
          <a:p>
            <a:pPr algn="l">
              <a:spcAft>
                <a:spcPts val="600"/>
              </a:spcAft>
            </a:pPr>
            <a:r>
              <a:rPr sz="1200" b="0" i="0">
                <a:solidFill>
                  <a:srgbClr val="B8E9E6"/>
                </a:solidFill>
                <a:latin typeface="Calibri"/>
              </a:rPr>
              <a:t>43.6–44.2 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THE PROBLEM</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The plate is the best identifier — and it's often unreadable</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2</a:t>
            </a:r>
          </a:p>
        </p:txBody>
      </p:sp>
      <p:sp>
        <p:nvSpPr>
          <p:cNvPr id="7" name="TextBox 6"/>
          <p:cNvSpPr txBox="1"/>
          <p:nvPr/>
        </p:nvSpPr>
        <p:spPr>
          <a:xfrm>
            <a:off x="548640" y="1691640"/>
            <a:ext cx="5120640" cy="365760"/>
          </a:xfrm>
          <a:prstGeom prst="rect">
            <a:avLst/>
          </a:prstGeom>
          <a:noFill/>
        </p:spPr>
        <p:txBody>
          <a:bodyPr wrap="square" lIns="0" rIns="0" tIns="0" bIns="0" anchor="t">
            <a:spAutoFit/>
          </a:bodyPr>
          <a:lstStyle/>
          <a:p>
            <a:pPr algn="l">
              <a:spcAft>
                <a:spcPts val="600"/>
              </a:spcAft>
            </a:pPr>
            <a:r>
              <a:rPr sz="1800" b="1" i="0">
                <a:solidFill>
                  <a:srgbClr val="111820"/>
                </a:solidFill>
                <a:latin typeface="Calibri"/>
              </a:rPr>
              <a:t>Why plates fail on CCTV</a:t>
            </a:r>
          </a:p>
        </p:txBody>
      </p:sp>
      <p:sp>
        <p:nvSpPr>
          <p:cNvPr id="8" name="Oval 7"/>
          <p:cNvSpPr/>
          <p:nvPr/>
        </p:nvSpPr>
        <p:spPr>
          <a:xfrm>
            <a:off x="548640" y="2194560"/>
            <a:ext cx="420624" cy="420624"/>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1</a:t>
            </a:r>
          </a:p>
        </p:txBody>
      </p:sp>
      <p:sp>
        <p:nvSpPr>
          <p:cNvPr id="9" name="TextBox 8"/>
          <p:cNvSpPr txBox="1"/>
          <p:nvPr/>
        </p:nvSpPr>
        <p:spPr>
          <a:xfrm>
            <a:off x="1143000" y="2249424"/>
            <a:ext cx="4389120" cy="365760"/>
          </a:xfrm>
          <a:prstGeom prst="rect">
            <a:avLst/>
          </a:prstGeom>
          <a:noFill/>
        </p:spPr>
        <p:txBody>
          <a:bodyPr wrap="square" lIns="0" rIns="0" tIns="0" bIns="0" anchor="ctr">
            <a:spAutoFit/>
          </a:bodyPr>
          <a:lstStyle/>
          <a:p>
            <a:pPr algn="l">
              <a:spcAft>
                <a:spcPts val="600"/>
              </a:spcAft>
            </a:pPr>
            <a:r>
              <a:rPr sz="1700" b="0" i="0">
                <a:solidFill>
                  <a:srgbClr val="34454D"/>
                </a:solidFill>
                <a:latin typeface="Calibri"/>
              </a:rPr>
              <a:t>Too small at distance</a:t>
            </a:r>
          </a:p>
        </p:txBody>
      </p:sp>
      <p:sp>
        <p:nvSpPr>
          <p:cNvPr id="10" name="Oval 9"/>
          <p:cNvSpPr/>
          <p:nvPr/>
        </p:nvSpPr>
        <p:spPr>
          <a:xfrm>
            <a:off x="548640" y="2816352"/>
            <a:ext cx="420624" cy="420624"/>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2</a:t>
            </a:r>
          </a:p>
        </p:txBody>
      </p:sp>
      <p:sp>
        <p:nvSpPr>
          <p:cNvPr id="11" name="TextBox 10"/>
          <p:cNvSpPr txBox="1"/>
          <p:nvPr/>
        </p:nvSpPr>
        <p:spPr>
          <a:xfrm>
            <a:off x="1143000" y="2871216"/>
            <a:ext cx="4389120" cy="365760"/>
          </a:xfrm>
          <a:prstGeom prst="rect">
            <a:avLst/>
          </a:prstGeom>
          <a:noFill/>
        </p:spPr>
        <p:txBody>
          <a:bodyPr wrap="square" lIns="0" rIns="0" tIns="0" bIns="0" anchor="ctr">
            <a:spAutoFit/>
          </a:bodyPr>
          <a:lstStyle/>
          <a:p>
            <a:pPr algn="l">
              <a:spcAft>
                <a:spcPts val="600"/>
              </a:spcAft>
            </a:pPr>
            <a:r>
              <a:rPr sz="1700" b="0" i="0">
                <a:solidFill>
                  <a:srgbClr val="34454D"/>
                </a:solidFill>
                <a:latin typeface="Calibri"/>
              </a:rPr>
              <a:t>Motion blur</a:t>
            </a:r>
          </a:p>
        </p:txBody>
      </p:sp>
      <p:sp>
        <p:nvSpPr>
          <p:cNvPr id="12" name="Oval 11"/>
          <p:cNvSpPr/>
          <p:nvPr/>
        </p:nvSpPr>
        <p:spPr>
          <a:xfrm>
            <a:off x="548640" y="3438144"/>
            <a:ext cx="420624" cy="420624"/>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3</a:t>
            </a:r>
          </a:p>
        </p:txBody>
      </p:sp>
      <p:sp>
        <p:nvSpPr>
          <p:cNvPr id="13" name="TextBox 12"/>
          <p:cNvSpPr txBox="1"/>
          <p:nvPr/>
        </p:nvSpPr>
        <p:spPr>
          <a:xfrm>
            <a:off x="1143000" y="3493008"/>
            <a:ext cx="4389120" cy="365760"/>
          </a:xfrm>
          <a:prstGeom prst="rect">
            <a:avLst/>
          </a:prstGeom>
          <a:noFill/>
        </p:spPr>
        <p:txBody>
          <a:bodyPr wrap="square" lIns="0" rIns="0" tIns="0" bIns="0" anchor="ctr">
            <a:spAutoFit/>
          </a:bodyPr>
          <a:lstStyle/>
          <a:p>
            <a:pPr algn="l">
              <a:spcAft>
                <a:spcPts val="600"/>
              </a:spcAft>
            </a:pPr>
            <a:r>
              <a:rPr sz="1700" b="0" i="0">
                <a:solidFill>
                  <a:srgbClr val="34454D"/>
                </a:solidFill>
                <a:latin typeface="Calibri"/>
              </a:rPr>
              <a:t>Occluded or dirty</a:t>
            </a:r>
          </a:p>
        </p:txBody>
      </p:sp>
      <p:sp>
        <p:nvSpPr>
          <p:cNvPr id="14" name="Oval 13"/>
          <p:cNvSpPr/>
          <p:nvPr/>
        </p:nvSpPr>
        <p:spPr>
          <a:xfrm>
            <a:off x="548640" y="4059935"/>
            <a:ext cx="420624" cy="420624"/>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4</a:t>
            </a:r>
          </a:p>
        </p:txBody>
      </p:sp>
      <p:sp>
        <p:nvSpPr>
          <p:cNvPr id="15" name="TextBox 14"/>
          <p:cNvSpPr txBox="1"/>
          <p:nvPr/>
        </p:nvSpPr>
        <p:spPr>
          <a:xfrm>
            <a:off x="1143000" y="4114799"/>
            <a:ext cx="4389120" cy="365760"/>
          </a:xfrm>
          <a:prstGeom prst="rect">
            <a:avLst/>
          </a:prstGeom>
          <a:noFill/>
        </p:spPr>
        <p:txBody>
          <a:bodyPr wrap="square" lIns="0" rIns="0" tIns="0" bIns="0" anchor="ctr">
            <a:spAutoFit/>
          </a:bodyPr>
          <a:lstStyle/>
          <a:p>
            <a:pPr algn="l">
              <a:spcAft>
                <a:spcPts val="600"/>
              </a:spcAft>
            </a:pPr>
            <a:r>
              <a:rPr sz="1700" b="0" i="0">
                <a:solidFill>
                  <a:srgbClr val="34454D"/>
                </a:solidFill>
                <a:latin typeface="Calibri"/>
              </a:rPr>
              <a:t>Glare or night</a:t>
            </a:r>
          </a:p>
        </p:txBody>
      </p:sp>
      <p:sp>
        <p:nvSpPr>
          <p:cNvPr id="16" name="Oval 15"/>
          <p:cNvSpPr/>
          <p:nvPr/>
        </p:nvSpPr>
        <p:spPr>
          <a:xfrm>
            <a:off x="548640" y="4681728"/>
            <a:ext cx="420624" cy="420624"/>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5</a:t>
            </a:r>
          </a:p>
        </p:txBody>
      </p:sp>
      <p:sp>
        <p:nvSpPr>
          <p:cNvPr id="17" name="TextBox 16"/>
          <p:cNvSpPr txBox="1"/>
          <p:nvPr/>
        </p:nvSpPr>
        <p:spPr>
          <a:xfrm>
            <a:off x="1143000" y="4736592"/>
            <a:ext cx="4389120" cy="365760"/>
          </a:xfrm>
          <a:prstGeom prst="rect">
            <a:avLst/>
          </a:prstGeom>
          <a:noFill/>
        </p:spPr>
        <p:txBody>
          <a:bodyPr wrap="square" lIns="0" rIns="0" tIns="0" bIns="0" anchor="ctr">
            <a:spAutoFit/>
          </a:bodyPr>
          <a:lstStyle/>
          <a:p>
            <a:pPr algn="l">
              <a:spcAft>
                <a:spcPts val="600"/>
              </a:spcAft>
            </a:pPr>
            <a:r>
              <a:rPr sz="1700" b="0" i="0">
                <a:solidFill>
                  <a:srgbClr val="34454D"/>
                </a:solidFill>
                <a:latin typeface="Calibri"/>
              </a:rPr>
              <a:t>Facing away from camera</a:t>
            </a:r>
          </a:p>
        </p:txBody>
      </p:sp>
      <p:sp>
        <p:nvSpPr>
          <p:cNvPr id="18" name="Rounded Rectangle 17"/>
          <p:cNvSpPr/>
          <p:nvPr/>
        </p:nvSpPr>
        <p:spPr>
          <a:xfrm>
            <a:off x="548640" y="5440680"/>
            <a:ext cx="5120640" cy="777240"/>
          </a:xfrm>
          <a:prstGeom prst="roundRect">
            <a:avLst>
              <a:gd name="adj" fmla="val 12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1400" b="0">
                <a:solidFill>
                  <a:srgbClr val="111820"/>
                </a:solidFill>
                <a:latin typeface="Calibri"/>
              </a:rPr>
              <a:t>What investigators actually have:  “white SUV, plate starts SGX12…, dent on the rear door”</a:t>
            </a:r>
          </a:p>
        </p:txBody>
      </p:sp>
      <p:sp>
        <p:nvSpPr>
          <p:cNvPr id="19" name="Rounded Rectangle 18"/>
          <p:cNvSpPr/>
          <p:nvPr/>
        </p:nvSpPr>
        <p:spPr>
          <a:xfrm>
            <a:off x="6309360" y="1691640"/>
            <a:ext cx="5349240" cy="4526280"/>
          </a:xfrm>
          <a:prstGeom prst="roundRect">
            <a:avLst>
              <a:gd name="adj" fmla="val 6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6675120" y="1965960"/>
            <a:ext cx="4754880" cy="365760"/>
          </a:xfrm>
          <a:prstGeom prst="rect">
            <a:avLst/>
          </a:prstGeom>
          <a:noFill/>
        </p:spPr>
        <p:txBody>
          <a:bodyPr wrap="square" lIns="0" rIns="0" tIns="0" bIns="0" anchor="t">
            <a:spAutoFit/>
          </a:bodyPr>
          <a:lstStyle/>
          <a:p>
            <a:pPr algn="l">
              <a:spcAft>
                <a:spcPts val="600"/>
              </a:spcAft>
            </a:pPr>
            <a:r>
              <a:rPr sz="1600" b="1" i="0">
                <a:solidFill>
                  <a:srgbClr val="B8E9E6"/>
                </a:solidFill>
                <a:latin typeface="Calibri"/>
              </a:rPr>
              <a:t>Plate-only retrieval on VeRi-776 (mAP)</a:t>
            </a:r>
          </a:p>
        </p:txBody>
      </p:sp>
      <p:sp>
        <p:nvSpPr>
          <p:cNvPr id="21" name="TextBox 20"/>
          <p:cNvSpPr txBox="1"/>
          <p:nvPr/>
        </p:nvSpPr>
        <p:spPr>
          <a:xfrm>
            <a:off x="6675120" y="2514600"/>
            <a:ext cx="1371600" cy="548640"/>
          </a:xfrm>
          <a:prstGeom prst="rect">
            <a:avLst/>
          </a:prstGeom>
          <a:noFill/>
        </p:spPr>
        <p:txBody>
          <a:bodyPr wrap="square" lIns="0" rIns="0" tIns="0" bIns="0" anchor="ctr">
            <a:spAutoFit/>
          </a:bodyPr>
          <a:lstStyle/>
          <a:p>
            <a:pPr algn="l">
              <a:spcAft>
                <a:spcPts val="600"/>
              </a:spcAft>
            </a:pPr>
            <a:r>
              <a:rPr sz="1600" b="0" i="0">
                <a:solidFill>
                  <a:srgbClr val="D3DEE2"/>
                </a:solidFill>
                <a:latin typeface="Calibri"/>
              </a:rPr>
              <a:t>clear</a:t>
            </a:r>
          </a:p>
        </p:txBody>
      </p:sp>
      <p:sp>
        <p:nvSpPr>
          <p:cNvPr id="22" name="Rectangle 21"/>
          <p:cNvSpPr/>
          <p:nvPr/>
        </p:nvSpPr>
        <p:spPr>
          <a:xfrm>
            <a:off x="8001000" y="2624328"/>
            <a:ext cx="2331720" cy="365760"/>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3" name="TextBox 22"/>
          <p:cNvSpPr txBox="1"/>
          <p:nvPr/>
        </p:nvSpPr>
        <p:spPr>
          <a:xfrm>
            <a:off x="10424159" y="2514600"/>
            <a:ext cx="1097280" cy="548640"/>
          </a:xfrm>
          <a:prstGeom prst="rect">
            <a:avLst/>
          </a:prstGeom>
          <a:noFill/>
        </p:spPr>
        <p:txBody>
          <a:bodyPr wrap="square" lIns="0" rIns="0" tIns="0" bIns="0" anchor="ctr">
            <a:spAutoFit/>
          </a:bodyPr>
          <a:lstStyle/>
          <a:p>
            <a:pPr algn="l">
              <a:spcAft>
                <a:spcPts val="600"/>
              </a:spcAft>
            </a:pPr>
            <a:r>
              <a:rPr sz="1800" b="1" i="0">
                <a:solidFill>
                  <a:srgbClr val="FFFFFF"/>
                </a:solidFill>
                <a:latin typeface="Calibri"/>
              </a:rPr>
              <a:t>100.0%</a:t>
            </a:r>
          </a:p>
        </p:txBody>
      </p:sp>
      <p:sp>
        <p:nvSpPr>
          <p:cNvPr id="24" name="TextBox 23"/>
          <p:cNvSpPr txBox="1"/>
          <p:nvPr/>
        </p:nvSpPr>
        <p:spPr>
          <a:xfrm>
            <a:off x="6675120" y="3383280"/>
            <a:ext cx="1371600" cy="548640"/>
          </a:xfrm>
          <a:prstGeom prst="rect">
            <a:avLst/>
          </a:prstGeom>
          <a:noFill/>
        </p:spPr>
        <p:txBody>
          <a:bodyPr wrap="square" lIns="0" rIns="0" tIns="0" bIns="0" anchor="ctr">
            <a:spAutoFit/>
          </a:bodyPr>
          <a:lstStyle/>
          <a:p>
            <a:pPr algn="l">
              <a:spcAft>
                <a:spcPts val="600"/>
              </a:spcAft>
            </a:pPr>
            <a:r>
              <a:rPr sz="1600" b="0" i="0">
                <a:solidFill>
                  <a:srgbClr val="D3DEE2"/>
                </a:solidFill>
                <a:latin typeface="Calibri"/>
              </a:rPr>
              <a:t>partial</a:t>
            </a:r>
          </a:p>
        </p:txBody>
      </p:sp>
      <p:sp>
        <p:nvSpPr>
          <p:cNvPr id="25" name="Rectangle 24"/>
          <p:cNvSpPr/>
          <p:nvPr/>
        </p:nvSpPr>
        <p:spPr>
          <a:xfrm>
            <a:off x="8001000" y="3493008"/>
            <a:ext cx="703246" cy="365760"/>
          </a:xfrm>
          <a:prstGeom prst="rect">
            <a:avLst/>
          </a:prstGeom>
          <a:solidFill>
            <a:srgbClr val="F2A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6" name="TextBox 25"/>
          <p:cNvSpPr txBox="1"/>
          <p:nvPr/>
        </p:nvSpPr>
        <p:spPr>
          <a:xfrm>
            <a:off x="8795686" y="3383280"/>
            <a:ext cx="1097280" cy="548640"/>
          </a:xfrm>
          <a:prstGeom prst="rect">
            <a:avLst/>
          </a:prstGeom>
          <a:noFill/>
        </p:spPr>
        <p:txBody>
          <a:bodyPr wrap="square" lIns="0" rIns="0" tIns="0" bIns="0" anchor="ctr">
            <a:spAutoFit/>
          </a:bodyPr>
          <a:lstStyle/>
          <a:p>
            <a:pPr algn="l">
              <a:spcAft>
                <a:spcPts val="600"/>
              </a:spcAft>
            </a:pPr>
            <a:r>
              <a:rPr sz="1800" b="1" i="0">
                <a:solidFill>
                  <a:srgbClr val="FFFFFF"/>
                </a:solidFill>
                <a:latin typeface="Calibri"/>
              </a:rPr>
              <a:t>30.2%</a:t>
            </a:r>
          </a:p>
        </p:txBody>
      </p:sp>
      <p:sp>
        <p:nvSpPr>
          <p:cNvPr id="27" name="TextBox 26"/>
          <p:cNvSpPr txBox="1"/>
          <p:nvPr/>
        </p:nvSpPr>
        <p:spPr>
          <a:xfrm>
            <a:off x="6675120" y="4251960"/>
            <a:ext cx="1371600" cy="548640"/>
          </a:xfrm>
          <a:prstGeom prst="rect">
            <a:avLst/>
          </a:prstGeom>
          <a:noFill/>
        </p:spPr>
        <p:txBody>
          <a:bodyPr wrap="square" lIns="0" rIns="0" tIns="0" bIns="0" anchor="ctr">
            <a:spAutoFit/>
          </a:bodyPr>
          <a:lstStyle/>
          <a:p>
            <a:pPr algn="l">
              <a:spcAft>
                <a:spcPts val="600"/>
              </a:spcAft>
            </a:pPr>
            <a:r>
              <a:rPr sz="1600" b="0" i="0">
                <a:solidFill>
                  <a:srgbClr val="D3DEE2"/>
                </a:solidFill>
                <a:latin typeface="Calibri"/>
              </a:rPr>
              <a:t>blurred</a:t>
            </a:r>
          </a:p>
        </p:txBody>
      </p:sp>
      <p:sp>
        <p:nvSpPr>
          <p:cNvPr id="28" name="Rectangle 27"/>
          <p:cNvSpPr/>
          <p:nvPr/>
        </p:nvSpPr>
        <p:spPr>
          <a:xfrm>
            <a:off x="8001000" y="4361688"/>
            <a:ext cx="1043444" cy="365760"/>
          </a:xfrm>
          <a:prstGeom prst="rect">
            <a:avLst/>
          </a:prstGeom>
          <a:solidFill>
            <a:srgbClr val="F2A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9" name="TextBox 28"/>
          <p:cNvSpPr txBox="1"/>
          <p:nvPr/>
        </p:nvSpPr>
        <p:spPr>
          <a:xfrm>
            <a:off x="9135884" y="4251960"/>
            <a:ext cx="1097280" cy="548640"/>
          </a:xfrm>
          <a:prstGeom prst="rect">
            <a:avLst/>
          </a:prstGeom>
          <a:noFill/>
        </p:spPr>
        <p:txBody>
          <a:bodyPr wrap="square" lIns="0" rIns="0" tIns="0" bIns="0" anchor="ctr">
            <a:spAutoFit/>
          </a:bodyPr>
          <a:lstStyle/>
          <a:p>
            <a:pPr algn="l">
              <a:spcAft>
                <a:spcPts val="600"/>
              </a:spcAft>
            </a:pPr>
            <a:r>
              <a:rPr sz="1800" b="1" i="0">
                <a:solidFill>
                  <a:srgbClr val="FFFFFF"/>
                </a:solidFill>
                <a:latin typeface="Calibri"/>
              </a:rPr>
              <a:t>44.8%</a:t>
            </a:r>
          </a:p>
        </p:txBody>
      </p:sp>
      <p:sp>
        <p:nvSpPr>
          <p:cNvPr id="30" name="TextBox 29"/>
          <p:cNvSpPr txBox="1"/>
          <p:nvPr/>
        </p:nvSpPr>
        <p:spPr>
          <a:xfrm>
            <a:off x="6675120" y="5120640"/>
            <a:ext cx="1371600" cy="548640"/>
          </a:xfrm>
          <a:prstGeom prst="rect">
            <a:avLst/>
          </a:prstGeom>
          <a:noFill/>
        </p:spPr>
        <p:txBody>
          <a:bodyPr wrap="square" lIns="0" rIns="0" tIns="0" bIns="0" anchor="ctr">
            <a:spAutoFit/>
          </a:bodyPr>
          <a:lstStyle/>
          <a:p>
            <a:pPr algn="l">
              <a:spcAft>
                <a:spcPts val="600"/>
              </a:spcAft>
            </a:pPr>
            <a:r>
              <a:rPr sz="1600" b="0" i="0">
                <a:solidFill>
                  <a:srgbClr val="D3DEE2"/>
                </a:solidFill>
                <a:latin typeface="Calibri"/>
              </a:rPr>
              <a:t>hidden</a:t>
            </a:r>
          </a:p>
        </p:txBody>
      </p:sp>
      <p:sp>
        <p:nvSpPr>
          <p:cNvPr id="31" name="Rectangle 30"/>
          <p:cNvSpPr/>
          <p:nvPr/>
        </p:nvSpPr>
        <p:spPr>
          <a:xfrm>
            <a:off x="8001000" y="5230368"/>
            <a:ext cx="83941" cy="365760"/>
          </a:xfrm>
          <a:prstGeom prst="rect">
            <a:avLst/>
          </a:prstGeom>
          <a:solidFill>
            <a:srgbClr val="F2A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2" name="TextBox 31"/>
          <p:cNvSpPr txBox="1"/>
          <p:nvPr/>
        </p:nvSpPr>
        <p:spPr>
          <a:xfrm>
            <a:off x="8176381" y="5120640"/>
            <a:ext cx="1097280" cy="548640"/>
          </a:xfrm>
          <a:prstGeom prst="rect">
            <a:avLst/>
          </a:prstGeom>
          <a:noFill/>
        </p:spPr>
        <p:txBody>
          <a:bodyPr wrap="square" lIns="0" rIns="0" tIns="0" bIns="0" anchor="ctr">
            <a:spAutoFit/>
          </a:bodyPr>
          <a:lstStyle/>
          <a:p>
            <a:pPr algn="l">
              <a:spcAft>
                <a:spcPts val="600"/>
              </a:spcAft>
            </a:pPr>
            <a:r>
              <a:rPr sz="1800" b="1" i="0">
                <a:solidFill>
                  <a:srgbClr val="FFFFFF"/>
                </a:solidFill>
                <a:latin typeface="Calibri"/>
              </a:rPr>
              <a:t>3.6%</a:t>
            </a:r>
          </a:p>
        </p:txBody>
      </p:sp>
      <p:sp>
        <p:nvSpPr>
          <p:cNvPr id="33" name="TextBox 32"/>
          <p:cNvSpPr txBox="1"/>
          <p:nvPr/>
        </p:nvSpPr>
        <p:spPr>
          <a:xfrm>
            <a:off x="6675120" y="5760720"/>
            <a:ext cx="4846320" cy="365760"/>
          </a:xfrm>
          <a:prstGeom prst="rect">
            <a:avLst/>
          </a:prstGeom>
          <a:noFill/>
        </p:spPr>
        <p:txBody>
          <a:bodyPr wrap="square" lIns="0" rIns="0" tIns="0" bIns="0" anchor="t">
            <a:spAutoFit/>
          </a:bodyPr>
          <a:lstStyle/>
          <a:p>
            <a:pPr algn="l">
              <a:spcAft>
                <a:spcPts val="600"/>
              </a:spcAft>
            </a:pPr>
            <a:r>
              <a:rPr sz="1500" b="1" i="0">
                <a:solidFill>
                  <a:srgbClr val="65C95A"/>
                </a:solidFill>
                <a:latin typeface="Calibri"/>
              </a:rPr>
              <a:t>→ never depend on the plate alone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THE APPROACH</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Describe → Search → Confirm → Re-identify → Trace</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3</a:t>
            </a:r>
          </a:p>
        </p:txBody>
      </p:sp>
      <p:sp>
        <p:nvSpPr>
          <p:cNvPr id="7" name="Rounded Rectangle 6"/>
          <p:cNvSpPr/>
          <p:nvPr/>
        </p:nvSpPr>
        <p:spPr>
          <a:xfrm>
            <a:off x="548640" y="1920240"/>
            <a:ext cx="2011680" cy="301752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Oval 7"/>
          <p:cNvSpPr/>
          <p:nvPr/>
        </p:nvSpPr>
        <p:spPr>
          <a:xfrm>
            <a:off x="731520" y="2103120"/>
            <a:ext cx="548640" cy="54864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FFFFFF"/>
                </a:solidFill>
                <a:latin typeface="Calibri"/>
              </a:rPr>
              <a:t>1</a:t>
            </a:r>
          </a:p>
        </p:txBody>
      </p:sp>
      <p:sp>
        <p:nvSpPr>
          <p:cNvPr id="9" name="TextBox 8"/>
          <p:cNvSpPr txBox="1"/>
          <p:nvPr/>
        </p:nvSpPr>
        <p:spPr>
          <a:xfrm>
            <a:off x="731520" y="2834640"/>
            <a:ext cx="1691640" cy="457200"/>
          </a:xfrm>
          <a:prstGeom prst="rect">
            <a:avLst/>
          </a:prstGeom>
          <a:noFill/>
        </p:spPr>
        <p:txBody>
          <a:bodyPr wrap="square" lIns="0" rIns="0" tIns="0" bIns="0" anchor="t">
            <a:spAutoFit/>
          </a:bodyPr>
          <a:lstStyle/>
          <a:p>
            <a:pPr algn="l">
              <a:spcAft>
                <a:spcPts val="600"/>
              </a:spcAft>
            </a:pPr>
            <a:r>
              <a:rPr sz="2000" b="1" i="0">
                <a:solidFill>
                  <a:srgbClr val="111820"/>
                </a:solidFill>
                <a:latin typeface="Calibri"/>
              </a:rPr>
              <a:t>Describe</a:t>
            </a:r>
          </a:p>
        </p:txBody>
      </p:sp>
      <p:sp>
        <p:nvSpPr>
          <p:cNvPr id="10" name="TextBox 9"/>
          <p:cNvSpPr txBox="1"/>
          <p:nvPr/>
        </p:nvSpPr>
        <p:spPr>
          <a:xfrm>
            <a:off x="731520" y="3337560"/>
            <a:ext cx="1691640" cy="1463040"/>
          </a:xfrm>
          <a:prstGeom prst="rect">
            <a:avLst/>
          </a:prstGeom>
          <a:noFill/>
        </p:spPr>
        <p:txBody>
          <a:bodyPr wrap="square" lIns="0" rIns="0" tIns="0" bIns="0" anchor="t">
            <a:spAutoFit/>
          </a:bodyPr>
          <a:lstStyle/>
          <a:p>
            <a:pPr algn="l">
              <a:spcAft>
                <a:spcPts val="600"/>
              </a:spcAft>
            </a:pPr>
            <a:r>
              <a:rPr sz="1400" b="0" i="0">
                <a:solidFill>
                  <a:srgbClr val="34454D"/>
                </a:solidFill>
                <a:latin typeface="Calibri"/>
              </a:rPr>
              <a:t>colour · type · partial plate (SGX1?3?) · cues · free text</a:t>
            </a:r>
          </a:p>
        </p:txBody>
      </p:sp>
      <p:cxnSp>
        <p:nvCxnSpPr>
          <p:cNvPr id="11" name="Connector 10"/>
          <p:cNvCxnSpPr/>
          <p:nvPr/>
        </p:nvCxnSpPr>
        <p:spPr>
          <a:xfrm>
            <a:off x="2578608" y="3429000"/>
            <a:ext cx="237744" cy="0"/>
          </a:xfrm>
          <a:prstGeom prst="line">
            <a:avLst/>
          </a:prstGeom>
          <a:ln w="31750">
            <a:solidFill>
              <a:srgbClr val="12A7A1"/>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34640" y="1920240"/>
            <a:ext cx="2011680" cy="301752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3" name="Oval 12"/>
          <p:cNvSpPr/>
          <p:nvPr/>
        </p:nvSpPr>
        <p:spPr>
          <a:xfrm>
            <a:off x="3017520" y="2103120"/>
            <a:ext cx="548640" cy="54864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FFFFFF"/>
                </a:solidFill>
                <a:latin typeface="Calibri"/>
              </a:rPr>
              <a:t>2</a:t>
            </a:r>
          </a:p>
        </p:txBody>
      </p:sp>
      <p:sp>
        <p:nvSpPr>
          <p:cNvPr id="14" name="TextBox 13"/>
          <p:cNvSpPr txBox="1"/>
          <p:nvPr/>
        </p:nvSpPr>
        <p:spPr>
          <a:xfrm>
            <a:off x="3017520" y="2834640"/>
            <a:ext cx="1691640" cy="457200"/>
          </a:xfrm>
          <a:prstGeom prst="rect">
            <a:avLst/>
          </a:prstGeom>
          <a:noFill/>
        </p:spPr>
        <p:txBody>
          <a:bodyPr wrap="square" lIns="0" rIns="0" tIns="0" bIns="0" anchor="t">
            <a:spAutoFit/>
          </a:bodyPr>
          <a:lstStyle/>
          <a:p>
            <a:pPr algn="l">
              <a:spcAft>
                <a:spcPts val="600"/>
              </a:spcAft>
            </a:pPr>
            <a:r>
              <a:rPr sz="2000" b="1" i="0">
                <a:solidFill>
                  <a:srgbClr val="111820"/>
                </a:solidFill>
                <a:latin typeface="Calibri"/>
              </a:rPr>
              <a:t>Search</a:t>
            </a:r>
          </a:p>
        </p:txBody>
      </p:sp>
      <p:sp>
        <p:nvSpPr>
          <p:cNvPr id="15" name="TextBox 14"/>
          <p:cNvSpPr txBox="1"/>
          <p:nvPr/>
        </p:nvSpPr>
        <p:spPr>
          <a:xfrm>
            <a:off x="3017520" y="3337560"/>
            <a:ext cx="1691640" cy="1463040"/>
          </a:xfrm>
          <a:prstGeom prst="rect">
            <a:avLst/>
          </a:prstGeom>
          <a:noFill/>
        </p:spPr>
        <p:txBody>
          <a:bodyPr wrap="square" lIns="0" rIns="0" tIns="0" bIns="0" anchor="t">
            <a:spAutoFit/>
          </a:bodyPr>
          <a:lstStyle/>
          <a:p>
            <a:pPr algn="l">
              <a:spcAft>
                <a:spcPts val="600"/>
              </a:spcAft>
            </a:pPr>
            <a:r>
              <a:rPr sz="1400" b="0" i="0">
                <a:solidFill>
                  <a:srgbClr val="34454D"/>
                </a:solidFill>
                <a:latin typeface="Calibri"/>
              </a:rPr>
              <a:t>Stage 1 ranks every tracked vehicle by the fields given</a:t>
            </a:r>
          </a:p>
        </p:txBody>
      </p:sp>
      <p:cxnSp>
        <p:nvCxnSpPr>
          <p:cNvPr id="16" name="Connector 15"/>
          <p:cNvCxnSpPr/>
          <p:nvPr/>
        </p:nvCxnSpPr>
        <p:spPr>
          <a:xfrm>
            <a:off x="4864608" y="3429000"/>
            <a:ext cx="237744" cy="0"/>
          </a:xfrm>
          <a:prstGeom prst="line">
            <a:avLst/>
          </a:prstGeom>
          <a:ln w="31750">
            <a:solidFill>
              <a:srgbClr val="12A7A1"/>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20640" y="1920240"/>
            <a:ext cx="2011680" cy="3017520"/>
          </a:xfrm>
          <a:prstGeom prst="roundRect">
            <a:avLst>
              <a:gd name="adj" fmla="val 8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8" name="Oval 17"/>
          <p:cNvSpPr/>
          <p:nvPr/>
        </p:nvSpPr>
        <p:spPr>
          <a:xfrm>
            <a:off x="5303520" y="2103120"/>
            <a:ext cx="548640" cy="548640"/>
          </a:xfrm>
          <a:prstGeom prst="ellipse">
            <a:avLst/>
          </a:prstGeom>
          <a:solidFill>
            <a:srgbClr val="65C95A"/>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FFFFFF"/>
                </a:solidFill>
                <a:latin typeface="Calibri"/>
              </a:rPr>
              <a:t>3</a:t>
            </a:r>
          </a:p>
        </p:txBody>
      </p:sp>
      <p:sp>
        <p:nvSpPr>
          <p:cNvPr id="19" name="TextBox 18"/>
          <p:cNvSpPr txBox="1"/>
          <p:nvPr/>
        </p:nvSpPr>
        <p:spPr>
          <a:xfrm>
            <a:off x="5303520" y="2834640"/>
            <a:ext cx="1691640" cy="457200"/>
          </a:xfrm>
          <a:prstGeom prst="rect">
            <a:avLst/>
          </a:prstGeom>
          <a:noFill/>
        </p:spPr>
        <p:txBody>
          <a:bodyPr wrap="square" lIns="0" rIns="0" tIns="0" bIns="0" anchor="t">
            <a:spAutoFit/>
          </a:bodyPr>
          <a:lstStyle/>
          <a:p>
            <a:pPr algn="l">
              <a:spcAft>
                <a:spcPts val="600"/>
              </a:spcAft>
            </a:pPr>
            <a:r>
              <a:rPr sz="2000" b="1" i="0">
                <a:solidFill>
                  <a:srgbClr val="FFFFFF"/>
                </a:solidFill>
                <a:latin typeface="Calibri"/>
              </a:rPr>
              <a:t>Confirm</a:t>
            </a:r>
          </a:p>
        </p:txBody>
      </p:sp>
      <p:sp>
        <p:nvSpPr>
          <p:cNvPr id="20" name="TextBox 19"/>
          <p:cNvSpPr txBox="1"/>
          <p:nvPr/>
        </p:nvSpPr>
        <p:spPr>
          <a:xfrm>
            <a:off x="5303520" y="3337560"/>
            <a:ext cx="1691640" cy="1463040"/>
          </a:xfrm>
          <a:prstGeom prst="rect">
            <a:avLst/>
          </a:prstGeom>
          <a:noFill/>
        </p:spPr>
        <p:txBody>
          <a:bodyPr wrap="square" lIns="0" rIns="0" tIns="0" bIns="0" anchor="t">
            <a:spAutoFit/>
          </a:bodyPr>
          <a:lstStyle/>
          <a:p>
            <a:pPr algn="l">
              <a:spcAft>
                <a:spcPts val="600"/>
              </a:spcAft>
            </a:pPr>
            <a:r>
              <a:rPr sz="1400" b="0" i="0">
                <a:solidFill>
                  <a:srgbClr val="D3DEE2"/>
                </a:solidFill>
                <a:latin typeface="Calibri"/>
              </a:rPr>
              <a:t>a human picks the right candidate: no automatic identity claims</a:t>
            </a:r>
          </a:p>
        </p:txBody>
      </p:sp>
      <p:cxnSp>
        <p:nvCxnSpPr>
          <p:cNvPr id="21" name="Connector 20"/>
          <p:cNvCxnSpPr/>
          <p:nvPr/>
        </p:nvCxnSpPr>
        <p:spPr>
          <a:xfrm>
            <a:off x="7150608" y="3429000"/>
            <a:ext cx="237744" cy="0"/>
          </a:xfrm>
          <a:prstGeom prst="line">
            <a:avLst/>
          </a:prstGeom>
          <a:ln w="31750">
            <a:solidFill>
              <a:srgbClr val="12A7A1"/>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406640" y="1920240"/>
            <a:ext cx="2011680" cy="301752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3" name="Oval 22"/>
          <p:cNvSpPr/>
          <p:nvPr/>
        </p:nvSpPr>
        <p:spPr>
          <a:xfrm>
            <a:off x="7589519" y="2103120"/>
            <a:ext cx="548640" cy="54864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FFFFFF"/>
                </a:solidFill>
                <a:latin typeface="Calibri"/>
              </a:rPr>
              <a:t>4</a:t>
            </a:r>
          </a:p>
        </p:txBody>
      </p:sp>
      <p:sp>
        <p:nvSpPr>
          <p:cNvPr id="24" name="TextBox 23"/>
          <p:cNvSpPr txBox="1"/>
          <p:nvPr/>
        </p:nvSpPr>
        <p:spPr>
          <a:xfrm>
            <a:off x="7589519" y="2834640"/>
            <a:ext cx="1691640" cy="457200"/>
          </a:xfrm>
          <a:prstGeom prst="rect">
            <a:avLst/>
          </a:prstGeom>
          <a:noFill/>
        </p:spPr>
        <p:txBody>
          <a:bodyPr wrap="square" lIns="0" rIns="0" tIns="0" bIns="0" anchor="t">
            <a:spAutoFit/>
          </a:bodyPr>
          <a:lstStyle/>
          <a:p>
            <a:pPr algn="l">
              <a:spcAft>
                <a:spcPts val="600"/>
              </a:spcAft>
            </a:pPr>
            <a:r>
              <a:rPr sz="2000" b="1" i="0">
                <a:solidFill>
                  <a:srgbClr val="111820"/>
                </a:solidFill>
                <a:latin typeface="Calibri"/>
              </a:rPr>
              <a:t>Re-identify</a:t>
            </a:r>
          </a:p>
        </p:txBody>
      </p:sp>
      <p:sp>
        <p:nvSpPr>
          <p:cNvPr id="25" name="TextBox 24"/>
          <p:cNvSpPr txBox="1"/>
          <p:nvPr/>
        </p:nvSpPr>
        <p:spPr>
          <a:xfrm>
            <a:off x="7589519" y="3337560"/>
            <a:ext cx="1691640" cy="1463040"/>
          </a:xfrm>
          <a:prstGeom prst="rect">
            <a:avLst/>
          </a:prstGeom>
          <a:noFill/>
        </p:spPr>
        <p:txBody>
          <a:bodyPr wrap="square" lIns="0" rIns="0" tIns="0" bIns="0" anchor="t">
            <a:spAutoFit/>
          </a:bodyPr>
          <a:lstStyle/>
          <a:p>
            <a:pPr algn="l">
              <a:spcAft>
                <a:spcPts val="600"/>
              </a:spcAft>
            </a:pPr>
            <a:r>
              <a:rPr sz="1400" b="0" i="0">
                <a:solidFill>
                  <a:srgbClr val="34454D"/>
                </a:solidFill>
                <a:latin typeface="Calibri"/>
              </a:rPr>
              <a:t>Stage 2 matches the confirmed vehicle in the other cameras</a:t>
            </a:r>
          </a:p>
        </p:txBody>
      </p:sp>
      <p:cxnSp>
        <p:nvCxnSpPr>
          <p:cNvPr id="26" name="Connector 25"/>
          <p:cNvCxnSpPr/>
          <p:nvPr/>
        </p:nvCxnSpPr>
        <p:spPr>
          <a:xfrm>
            <a:off x="9436608" y="3429000"/>
            <a:ext cx="237744" cy="0"/>
          </a:xfrm>
          <a:prstGeom prst="line">
            <a:avLst/>
          </a:prstGeom>
          <a:ln w="31750">
            <a:solidFill>
              <a:srgbClr val="12A7A1"/>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92640" y="1920240"/>
            <a:ext cx="2011680" cy="301752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8" name="Oval 27"/>
          <p:cNvSpPr/>
          <p:nvPr/>
        </p:nvSpPr>
        <p:spPr>
          <a:xfrm>
            <a:off x="9875519" y="2103120"/>
            <a:ext cx="548640" cy="54864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FFFFFF"/>
                </a:solidFill>
                <a:latin typeface="Calibri"/>
              </a:rPr>
              <a:t>5</a:t>
            </a:r>
          </a:p>
        </p:txBody>
      </p:sp>
      <p:sp>
        <p:nvSpPr>
          <p:cNvPr id="29" name="TextBox 28"/>
          <p:cNvSpPr txBox="1"/>
          <p:nvPr/>
        </p:nvSpPr>
        <p:spPr>
          <a:xfrm>
            <a:off x="9875519" y="2834640"/>
            <a:ext cx="1691640" cy="457200"/>
          </a:xfrm>
          <a:prstGeom prst="rect">
            <a:avLst/>
          </a:prstGeom>
          <a:noFill/>
        </p:spPr>
        <p:txBody>
          <a:bodyPr wrap="square" lIns="0" rIns="0" tIns="0" bIns="0" anchor="t">
            <a:spAutoFit/>
          </a:bodyPr>
          <a:lstStyle/>
          <a:p>
            <a:pPr algn="l">
              <a:spcAft>
                <a:spcPts val="600"/>
              </a:spcAft>
            </a:pPr>
            <a:r>
              <a:rPr sz="2000" b="1" i="0">
                <a:solidFill>
                  <a:srgbClr val="111820"/>
                </a:solidFill>
                <a:latin typeface="Calibri"/>
              </a:rPr>
              <a:t>Trace</a:t>
            </a:r>
          </a:p>
        </p:txBody>
      </p:sp>
      <p:sp>
        <p:nvSpPr>
          <p:cNvPr id="30" name="TextBox 29"/>
          <p:cNvSpPr txBox="1"/>
          <p:nvPr/>
        </p:nvSpPr>
        <p:spPr>
          <a:xfrm>
            <a:off x="9875519" y="3337560"/>
            <a:ext cx="1691640" cy="1463040"/>
          </a:xfrm>
          <a:prstGeom prst="rect">
            <a:avLst/>
          </a:prstGeom>
          <a:noFill/>
        </p:spPr>
        <p:txBody>
          <a:bodyPr wrap="square" lIns="0" rIns="0" tIns="0" bIns="0" anchor="t">
            <a:spAutoFit/>
          </a:bodyPr>
          <a:lstStyle/>
          <a:p>
            <a:pPr algn="l">
              <a:spcAft>
                <a:spcPts val="600"/>
              </a:spcAft>
            </a:pPr>
            <a:r>
              <a:rPr sz="1400" b="0" i="0">
                <a:solidFill>
                  <a:srgbClr val="34454D"/>
                </a:solidFill>
                <a:latin typeface="Calibri"/>
              </a:rPr>
              <a:t>suggested route + one-click confirmation in each camera</a:t>
            </a:r>
          </a:p>
        </p:txBody>
      </p:sp>
      <p:sp>
        <p:nvSpPr>
          <p:cNvPr id="31" name="Rounded Rectangle 30"/>
          <p:cNvSpPr/>
          <p:nvPr/>
        </p:nvSpPr>
        <p:spPr>
          <a:xfrm>
            <a:off x="548640" y="5303520"/>
            <a:ext cx="11109960" cy="777240"/>
          </a:xfrm>
          <a:prstGeom prst="roundRect">
            <a:avLst>
              <a:gd name="adj" fmla="val 14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Output is always a ranked list with frames and timestamps for human review — never an identity claim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SYSTEM DESIGN</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System architecture</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4</a:t>
            </a:r>
          </a:p>
        </p:txBody>
      </p:sp>
      <p:sp>
        <p:nvSpPr>
          <p:cNvPr id="7" name="Rounded Rectangle 6"/>
          <p:cNvSpPr/>
          <p:nvPr/>
        </p:nvSpPr>
        <p:spPr>
          <a:xfrm>
            <a:off x="548640" y="1828800"/>
            <a:ext cx="1645920" cy="1143000"/>
          </a:xfrm>
          <a:prstGeom prst="roundRect">
            <a:avLst>
              <a:gd name="adj" fmla="val 12000"/>
            </a:avLst>
          </a:prstGeom>
          <a:solidFill>
            <a:srgbClr val="34454D"/>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Camera videos</a:t>
            </a:r>
          </a:p>
          <a:p>
            <a:pPr algn="ctr"/>
            <a:r>
              <a:rPr sz="1200" b="0">
                <a:solidFill>
                  <a:srgbClr val="FFFFFF"/>
                </a:solidFill>
                <a:latin typeface="Calibri"/>
              </a:rPr>
              <a:t>one file = one camera</a:t>
            </a:r>
          </a:p>
        </p:txBody>
      </p:sp>
      <p:cxnSp>
        <p:nvCxnSpPr>
          <p:cNvPr id="8" name="Connector 7"/>
          <p:cNvCxnSpPr/>
          <p:nvPr/>
        </p:nvCxnSpPr>
        <p:spPr>
          <a:xfrm>
            <a:off x="2212848" y="2395728"/>
            <a:ext cx="201168" cy="0"/>
          </a:xfrm>
          <a:prstGeom prst="line">
            <a:avLst/>
          </a:prstGeom>
          <a:ln w="25400">
            <a:solidFill>
              <a:srgbClr val="60727C"/>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432304" y="1828800"/>
            <a:ext cx="1645920" cy="1143000"/>
          </a:xfrm>
          <a:prstGeom prst="roundRect">
            <a:avLst>
              <a:gd name="adj" fmla="val 12000"/>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YOLO11n</a:t>
            </a:r>
          </a:p>
          <a:p>
            <a:pPr algn="ctr"/>
            <a:r>
              <a:rPr sz="1200" b="0">
                <a:solidFill>
                  <a:srgbClr val="FFFFFF"/>
                </a:solidFill>
                <a:latin typeface="Calibri"/>
              </a:rPr>
              <a:t>vehicle detection</a:t>
            </a:r>
          </a:p>
        </p:txBody>
      </p:sp>
      <p:cxnSp>
        <p:nvCxnSpPr>
          <p:cNvPr id="10" name="Connector 9"/>
          <p:cNvCxnSpPr/>
          <p:nvPr/>
        </p:nvCxnSpPr>
        <p:spPr>
          <a:xfrm>
            <a:off x="4096512" y="2395728"/>
            <a:ext cx="201168" cy="0"/>
          </a:xfrm>
          <a:prstGeom prst="line">
            <a:avLst/>
          </a:prstGeom>
          <a:ln w="25400">
            <a:solidFill>
              <a:srgbClr val="60727C"/>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15968" y="1828800"/>
            <a:ext cx="1645920" cy="1143000"/>
          </a:xfrm>
          <a:prstGeom prst="roundRect">
            <a:avLst>
              <a:gd name="adj" fmla="val 12000"/>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ByteTrack</a:t>
            </a:r>
          </a:p>
          <a:p>
            <a:pPr algn="ctr"/>
            <a:r>
              <a:rPr sz="1200" b="0">
                <a:solidFill>
                  <a:srgbClr val="FFFFFF"/>
                </a:solidFill>
                <a:latin typeface="Calibri"/>
              </a:rPr>
              <a:t>within-video tracking</a:t>
            </a:r>
          </a:p>
        </p:txBody>
      </p:sp>
      <p:cxnSp>
        <p:nvCxnSpPr>
          <p:cNvPr id="12" name="Connector 11"/>
          <p:cNvCxnSpPr/>
          <p:nvPr/>
        </p:nvCxnSpPr>
        <p:spPr>
          <a:xfrm>
            <a:off x="5980176" y="2395728"/>
            <a:ext cx="201168" cy="0"/>
          </a:xfrm>
          <a:prstGeom prst="line">
            <a:avLst/>
          </a:prstGeom>
          <a:ln w="25400">
            <a:solidFill>
              <a:srgbClr val="60727C"/>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99631" y="1828800"/>
            <a:ext cx="1645920" cy="1143000"/>
          </a:xfrm>
          <a:prstGeom prst="roundRect">
            <a:avLst>
              <a:gd name="adj" fmla="val 12000"/>
            </a:avLst>
          </a:prstGeom>
          <a:solidFill>
            <a:srgbClr val="34454D"/>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Tracklets</a:t>
            </a:r>
          </a:p>
          <a:p>
            <a:pPr algn="ctr"/>
            <a:r>
              <a:rPr sz="1200" b="0">
                <a:solidFill>
                  <a:srgbClr val="FFFFFF"/>
                </a:solidFill>
                <a:latin typeface="Calibri"/>
              </a:rPr>
              <a:t>4 crops + evidence frame</a:t>
            </a:r>
          </a:p>
        </p:txBody>
      </p:sp>
      <p:cxnSp>
        <p:nvCxnSpPr>
          <p:cNvPr id="14" name="Connector 13"/>
          <p:cNvCxnSpPr/>
          <p:nvPr/>
        </p:nvCxnSpPr>
        <p:spPr>
          <a:xfrm>
            <a:off x="7863840" y="2395728"/>
            <a:ext cx="201168" cy="0"/>
          </a:xfrm>
          <a:prstGeom prst="line">
            <a:avLst/>
          </a:prstGeom>
          <a:ln w="25400">
            <a:solidFill>
              <a:srgbClr val="60727C"/>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083296" y="1828800"/>
            <a:ext cx="1645920" cy="1143000"/>
          </a:xfrm>
          <a:prstGeom prst="roundRect">
            <a:avLst>
              <a:gd name="adj" fmla="val 12000"/>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Descriptors</a:t>
            </a:r>
          </a:p>
          <a:p>
            <a:pPr algn="ctr"/>
            <a:r>
              <a:rPr sz="1200" b="0">
                <a:solidFill>
                  <a:srgbClr val="FFFFFF"/>
                </a:solidFill>
                <a:latin typeface="Calibri"/>
              </a:rPr>
              <a:t>complementary cues + learned metric</a:t>
            </a:r>
          </a:p>
        </p:txBody>
      </p:sp>
      <p:cxnSp>
        <p:nvCxnSpPr>
          <p:cNvPr id="16" name="Connector 15"/>
          <p:cNvCxnSpPr/>
          <p:nvPr/>
        </p:nvCxnSpPr>
        <p:spPr>
          <a:xfrm>
            <a:off x="9747504" y="2395728"/>
            <a:ext cx="201168" cy="0"/>
          </a:xfrm>
          <a:prstGeom prst="line">
            <a:avLst/>
          </a:prstGeom>
          <a:ln w="25400">
            <a:solidFill>
              <a:srgbClr val="60727C"/>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966960" y="1828800"/>
            <a:ext cx="1645920" cy="1143000"/>
          </a:xfrm>
          <a:prstGeom prst="roundRect">
            <a:avLst>
              <a:gd name="adj" fmla="val 12000"/>
            </a:avLst>
          </a:prstGeom>
          <a:solidFill>
            <a:srgbClr val="34454D"/>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Vehicle index</a:t>
            </a:r>
          </a:p>
          <a:p>
            <a:pPr algn="ctr"/>
            <a:r>
              <a:rPr sz="1200" b="0">
                <a:solidFill>
                  <a:srgbClr val="FFFFFF"/>
                </a:solidFill>
                <a:latin typeface="Calibri"/>
              </a:rPr>
              <a:t>this session's videos</a:t>
            </a:r>
          </a:p>
        </p:txBody>
      </p:sp>
      <p:sp>
        <p:nvSpPr>
          <p:cNvPr id="18" name="Rounded Rectangle 17"/>
          <p:cNvSpPr/>
          <p:nvPr/>
        </p:nvSpPr>
        <p:spPr>
          <a:xfrm>
            <a:off x="548640" y="3977639"/>
            <a:ext cx="2011680" cy="1143000"/>
          </a:xfrm>
          <a:prstGeom prst="roundRect">
            <a:avLst>
              <a:gd name="adj" fmla="val 12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Description</a:t>
            </a:r>
          </a:p>
          <a:p>
            <a:pPr algn="ctr"/>
            <a:r>
              <a:rPr sz="1200" b="0">
                <a:solidFill>
                  <a:srgbClr val="FFFFFF"/>
                </a:solidFill>
                <a:latin typeface="Calibri"/>
              </a:rPr>
              <a:t>colour · type · plate · cues</a:t>
            </a:r>
          </a:p>
        </p:txBody>
      </p:sp>
      <p:cxnSp>
        <p:nvCxnSpPr>
          <p:cNvPr id="19" name="Connector 18"/>
          <p:cNvCxnSpPr/>
          <p:nvPr/>
        </p:nvCxnSpPr>
        <p:spPr>
          <a:xfrm>
            <a:off x="2578608" y="4544568"/>
            <a:ext cx="219456" cy="0"/>
          </a:xfrm>
          <a:prstGeom prst="line">
            <a:avLst/>
          </a:prstGeom>
          <a:ln w="25400">
            <a:solidFill>
              <a:srgbClr val="60727C"/>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816352" y="3977639"/>
            <a:ext cx="2011680" cy="1143000"/>
          </a:xfrm>
          <a:prstGeom prst="roundRect">
            <a:avLst>
              <a:gd name="adj" fmla="val 12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Stage 1 search</a:t>
            </a:r>
          </a:p>
          <a:p>
            <a:pPr algn="ctr"/>
            <a:r>
              <a:rPr sz="1200" b="0">
                <a:solidFill>
                  <a:srgbClr val="FFFFFF"/>
                </a:solidFill>
                <a:latin typeface="Calibri"/>
              </a:rPr>
              <a:t>weighted multi-field score</a:t>
            </a:r>
          </a:p>
        </p:txBody>
      </p:sp>
      <p:cxnSp>
        <p:nvCxnSpPr>
          <p:cNvPr id="21" name="Connector 20"/>
          <p:cNvCxnSpPr/>
          <p:nvPr/>
        </p:nvCxnSpPr>
        <p:spPr>
          <a:xfrm>
            <a:off x="4846320" y="4544568"/>
            <a:ext cx="219456" cy="0"/>
          </a:xfrm>
          <a:prstGeom prst="line">
            <a:avLst/>
          </a:prstGeom>
          <a:ln w="25400">
            <a:solidFill>
              <a:srgbClr val="60727C"/>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084064" y="3977639"/>
            <a:ext cx="2011680" cy="1143000"/>
          </a:xfrm>
          <a:prstGeom prst="roundRect">
            <a:avLst>
              <a:gd name="adj" fmla="val 12000"/>
            </a:avLst>
          </a:prstGeom>
          <a:solidFill>
            <a:srgbClr val="65C95A"/>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11820"/>
                </a:solidFill>
                <a:latin typeface="Calibri"/>
              </a:rPr>
              <a:t>Human confirm</a:t>
            </a:r>
          </a:p>
          <a:p>
            <a:pPr algn="ctr"/>
            <a:r>
              <a:rPr sz="1200" b="0">
                <a:solidFill>
                  <a:srgbClr val="111820"/>
                </a:solidFill>
                <a:latin typeface="Calibri"/>
              </a:rPr>
              <a:t>pick the right candidate</a:t>
            </a:r>
          </a:p>
        </p:txBody>
      </p:sp>
      <p:cxnSp>
        <p:nvCxnSpPr>
          <p:cNvPr id="23" name="Connector 22"/>
          <p:cNvCxnSpPr/>
          <p:nvPr/>
        </p:nvCxnSpPr>
        <p:spPr>
          <a:xfrm>
            <a:off x="7114031" y="4544568"/>
            <a:ext cx="219457" cy="0"/>
          </a:xfrm>
          <a:prstGeom prst="line">
            <a:avLst/>
          </a:prstGeom>
          <a:ln w="25400">
            <a:solidFill>
              <a:srgbClr val="60727C"/>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351775" y="3977639"/>
            <a:ext cx="2011680" cy="1143000"/>
          </a:xfrm>
          <a:prstGeom prst="roundRect">
            <a:avLst>
              <a:gd name="adj" fmla="val 12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Stage 2 Re-ID</a:t>
            </a:r>
          </a:p>
          <a:p>
            <a:pPr algn="ctr"/>
            <a:r>
              <a:rPr sz="1200" b="0">
                <a:solidFill>
                  <a:srgbClr val="FFFFFF"/>
                </a:solidFill>
                <a:latin typeface="Calibri"/>
              </a:rPr>
              <a:t>learned metric + fusion</a:t>
            </a:r>
          </a:p>
        </p:txBody>
      </p:sp>
      <p:cxnSp>
        <p:nvCxnSpPr>
          <p:cNvPr id="25" name="Connector 24"/>
          <p:cNvCxnSpPr/>
          <p:nvPr/>
        </p:nvCxnSpPr>
        <p:spPr>
          <a:xfrm>
            <a:off x="9381744" y="4544568"/>
            <a:ext cx="219456" cy="0"/>
          </a:xfrm>
          <a:prstGeom prst="line">
            <a:avLst/>
          </a:prstGeom>
          <a:ln w="25400">
            <a:solidFill>
              <a:srgbClr val="60727C"/>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619488" y="3977639"/>
            <a:ext cx="2011680" cy="1143000"/>
          </a:xfrm>
          <a:prstGeom prst="roundRect">
            <a:avLst>
              <a:gd name="adj" fmla="val 12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Route tracing</a:t>
            </a:r>
          </a:p>
          <a:p>
            <a:pPr algn="ctr"/>
            <a:r>
              <a:rPr sz="1200" b="0">
                <a:solidFill>
                  <a:srgbClr val="FFFFFF"/>
                </a:solidFill>
                <a:latin typeface="Calibri"/>
              </a:rPr>
              <a:t>suggest + confirm per camera</a:t>
            </a:r>
          </a:p>
        </p:txBody>
      </p:sp>
      <p:cxnSp>
        <p:nvCxnSpPr>
          <p:cNvPr id="27" name="Connector 26"/>
          <p:cNvCxnSpPr/>
          <p:nvPr/>
        </p:nvCxnSpPr>
        <p:spPr>
          <a:xfrm flipH="1">
            <a:off x="7772400" y="2990088"/>
            <a:ext cx="3044952" cy="969264"/>
          </a:xfrm>
          <a:prstGeom prst="line">
            <a:avLst/>
          </a:prstGeom>
          <a:ln w="25400">
            <a:solidFill>
              <a:srgbClr val="12A7A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5440680"/>
            <a:ext cx="10972800" cy="731520"/>
          </a:xfrm>
          <a:prstGeom prst="rect">
            <a:avLst/>
          </a:prstGeom>
          <a:noFill/>
        </p:spPr>
        <p:txBody>
          <a:bodyPr wrap="square" lIns="0" rIns="0" tIns="0" bIns="0" anchor="t">
            <a:spAutoFit/>
          </a:bodyPr>
          <a:lstStyle/>
          <a:p>
            <a:pPr algn="l">
              <a:spcAft>
                <a:spcPts val="600"/>
              </a:spcAft>
            </a:pPr>
            <a:r>
              <a:rPr sz="1500" b="1" i="0">
                <a:solidFill>
                  <a:srgbClr val="111820"/>
                </a:solidFill>
                <a:latin typeface="Calibri"/>
              </a:rPr>
              <a:t>Streamlit app: </a:t>
            </a:r>
            <a:r>
              <a:rPr sz="1500" b="0" i="0">
                <a:solidFill>
                  <a:srgbClr val="34454D"/>
                </a:solidFill>
                <a:latin typeface="Calibri"/>
              </a:rPr>
              <a:t>admin sign-in · upload &amp; process · describe &amp; search · confirm &amp; re-identify · track review · SOM · evaluation. Optional SOM pre-filter between the index and Stage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VEHICLE REPRESENTATION</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Complementary descriptors per tracklet</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5</a:t>
            </a:r>
          </a:p>
        </p:txBody>
      </p:sp>
      <p:sp>
        <p:nvSpPr>
          <p:cNvPr id="7" name="Rounded Rectangle 6"/>
          <p:cNvSpPr/>
          <p:nvPr/>
        </p:nvSpPr>
        <p:spPr>
          <a:xfrm>
            <a:off x="548640" y="1783080"/>
            <a:ext cx="3520440" cy="196596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Oval 7"/>
          <p:cNvSpPr/>
          <p:nvPr/>
        </p:nvSpPr>
        <p:spPr>
          <a:xfrm>
            <a:off x="777240" y="2011680"/>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1</a:t>
            </a:r>
          </a:p>
        </p:txBody>
      </p:sp>
      <p:sp>
        <p:nvSpPr>
          <p:cNvPr id="9" name="TextBox 8"/>
          <p:cNvSpPr txBox="1"/>
          <p:nvPr/>
        </p:nvSpPr>
        <p:spPr>
          <a:xfrm>
            <a:off x="1417319" y="2057400"/>
            <a:ext cx="2560320" cy="411480"/>
          </a:xfrm>
          <a:prstGeom prst="rect">
            <a:avLst/>
          </a:prstGeom>
          <a:noFill/>
        </p:spPr>
        <p:txBody>
          <a:bodyPr wrap="square" lIns="0" rIns="0" tIns="0" bIns="0" anchor="t">
            <a:spAutoFit/>
          </a:bodyPr>
          <a:lstStyle/>
          <a:p>
            <a:pPr algn="l">
              <a:spcAft>
                <a:spcPts val="600"/>
              </a:spcAft>
            </a:pPr>
            <a:r>
              <a:rPr sz="1900" b="1" i="0">
                <a:solidFill>
                  <a:srgbClr val="111820"/>
                </a:solidFill>
                <a:latin typeface="Calibri"/>
              </a:rPr>
              <a:t>Learned Re-ID metric</a:t>
            </a:r>
          </a:p>
        </p:txBody>
      </p:sp>
      <p:sp>
        <p:nvSpPr>
          <p:cNvPr id="10" name="TextBox 9"/>
          <p:cNvSpPr txBox="1"/>
          <p:nvPr/>
        </p:nvSpPr>
        <p:spPr>
          <a:xfrm>
            <a:off x="777240" y="2697480"/>
            <a:ext cx="3108960" cy="1005840"/>
          </a:xfrm>
          <a:prstGeom prst="rect">
            <a:avLst/>
          </a:prstGeom>
          <a:noFill/>
        </p:spPr>
        <p:txBody>
          <a:bodyPr wrap="square" lIns="0" rIns="0" tIns="0" bIns="0" anchor="t">
            <a:spAutoFit/>
          </a:bodyPr>
          <a:lstStyle/>
          <a:p>
            <a:pPr algn="l">
              <a:spcAft>
                <a:spcPts val="600"/>
              </a:spcAft>
            </a:pPr>
            <a:r>
              <a:rPr sz="1400" b="1" i="0">
                <a:solidFill>
                  <a:srgbClr val="0E8782"/>
                </a:solidFill>
                <a:latin typeface="Calibri"/>
              </a:rPr>
              <a:t>PCA + LDA on [ResNet | CLIP]</a:t>
            </a:r>
          </a:p>
          <a:p>
            <a:pPr algn="l">
              <a:spcAft>
                <a:spcPts val="600"/>
              </a:spcAft>
            </a:pPr>
            <a:r>
              <a:rPr sz="1400" b="0" i="0">
                <a:solidFill>
                  <a:srgbClr val="34454D"/>
                </a:solidFill>
                <a:latin typeface="Calibri"/>
              </a:rPr>
              <a:t>trained on VeRi identities: main Re-ID cue</a:t>
            </a:r>
          </a:p>
        </p:txBody>
      </p:sp>
      <p:sp>
        <p:nvSpPr>
          <p:cNvPr id="11" name="Rounded Rectangle 10"/>
          <p:cNvSpPr/>
          <p:nvPr/>
        </p:nvSpPr>
        <p:spPr>
          <a:xfrm>
            <a:off x="4297679" y="1783080"/>
            <a:ext cx="3520440" cy="196596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Oval 11"/>
          <p:cNvSpPr/>
          <p:nvPr/>
        </p:nvSpPr>
        <p:spPr>
          <a:xfrm>
            <a:off x="4526279" y="2011680"/>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2</a:t>
            </a:r>
          </a:p>
        </p:txBody>
      </p:sp>
      <p:sp>
        <p:nvSpPr>
          <p:cNvPr id="13" name="TextBox 12"/>
          <p:cNvSpPr txBox="1"/>
          <p:nvPr/>
        </p:nvSpPr>
        <p:spPr>
          <a:xfrm>
            <a:off x="5166359" y="2057400"/>
            <a:ext cx="2560320" cy="411480"/>
          </a:xfrm>
          <a:prstGeom prst="rect">
            <a:avLst/>
          </a:prstGeom>
          <a:noFill/>
        </p:spPr>
        <p:txBody>
          <a:bodyPr wrap="square" lIns="0" rIns="0" tIns="0" bIns="0" anchor="t">
            <a:spAutoFit/>
          </a:bodyPr>
          <a:lstStyle/>
          <a:p>
            <a:pPr algn="l">
              <a:spcAft>
                <a:spcPts val="600"/>
              </a:spcAft>
            </a:pPr>
            <a:r>
              <a:rPr sz="1900" b="1" i="0">
                <a:solidFill>
                  <a:srgbClr val="111820"/>
                </a:solidFill>
                <a:latin typeface="Calibri"/>
              </a:rPr>
              <a:t>Appearance</a:t>
            </a:r>
          </a:p>
        </p:txBody>
      </p:sp>
      <p:sp>
        <p:nvSpPr>
          <p:cNvPr id="14" name="TextBox 13"/>
          <p:cNvSpPr txBox="1"/>
          <p:nvPr/>
        </p:nvSpPr>
        <p:spPr>
          <a:xfrm>
            <a:off x="4526279" y="2697480"/>
            <a:ext cx="3108960" cy="1005840"/>
          </a:xfrm>
          <a:prstGeom prst="rect">
            <a:avLst/>
          </a:prstGeom>
          <a:noFill/>
        </p:spPr>
        <p:txBody>
          <a:bodyPr wrap="square" lIns="0" rIns="0" tIns="0" bIns="0" anchor="t">
            <a:spAutoFit/>
          </a:bodyPr>
          <a:lstStyle/>
          <a:p>
            <a:pPr algn="l">
              <a:spcAft>
                <a:spcPts val="600"/>
              </a:spcAft>
            </a:pPr>
            <a:r>
              <a:rPr sz="1400" b="1" i="0">
                <a:solidFill>
                  <a:srgbClr val="0E8782"/>
                </a:solidFill>
                <a:latin typeface="Calibri"/>
              </a:rPr>
              <a:t>ResNet-50 + CLIP ViT-B/32</a:t>
            </a:r>
          </a:p>
          <a:p>
            <a:pPr algn="l">
              <a:spcAft>
                <a:spcPts val="600"/>
              </a:spcAft>
            </a:pPr>
            <a:r>
              <a:rPr sz="1400" b="0" i="0">
                <a:solidFill>
                  <a:srgbClr val="34454D"/>
                </a:solidFill>
                <a:latin typeface="Calibri"/>
              </a:rPr>
              <a:t>generic embeddings; CLIP also drives attributes</a:t>
            </a:r>
          </a:p>
        </p:txBody>
      </p:sp>
      <p:sp>
        <p:nvSpPr>
          <p:cNvPr id="15" name="Rounded Rectangle 14"/>
          <p:cNvSpPr/>
          <p:nvPr/>
        </p:nvSpPr>
        <p:spPr>
          <a:xfrm>
            <a:off x="8046719" y="1783080"/>
            <a:ext cx="3520440" cy="196596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6" name="Oval 15"/>
          <p:cNvSpPr/>
          <p:nvPr/>
        </p:nvSpPr>
        <p:spPr>
          <a:xfrm>
            <a:off x="8275319" y="2011680"/>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3</a:t>
            </a:r>
          </a:p>
        </p:txBody>
      </p:sp>
      <p:sp>
        <p:nvSpPr>
          <p:cNvPr id="17" name="TextBox 16"/>
          <p:cNvSpPr txBox="1"/>
          <p:nvPr/>
        </p:nvSpPr>
        <p:spPr>
          <a:xfrm>
            <a:off x="8915399" y="2057400"/>
            <a:ext cx="2560320" cy="411480"/>
          </a:xfrm>
          <a:prstGeom prst="rect">
            <a:avLst/>
          </a:prstGeom>
          <a:noFill/>
        </p:spPr>
        <p:txBody>
          <a:bodyPr wrap="square" lIns="0" rIns="0" tIns="0" bIns="0" anchor="t">
            <a:spAutoFit/>
          </a:bodyPr>
          <a:lstStyle/>
          <a:p>
            <a:pPr algn="l">
              <a:spcAft>
                <a:spcPts val="600"/>
              </a:spcAft>
            </a:pPr>
            <a:r>
              <a:rPr sz="1900" b="1" i="0">
                <a:solidFill>
                  <a:srgbClr val="111820"/>
                </a:solidFill>
                <a:latin typeface="Calibri"/>
              </a:rPr>
              <a:t>Colour &amp; type</a:t>
            </a:r>
          </a:p>
        </p:txBody>
      </p:sp>
      <p:sp>
        <p:nvSpPr>
          <p:cNvPr id="18" name="TextBox 17"/>
          <p:cNvSpPr txBox="1"/>
          <p:nvPr/>
        </p:nvSpPr>
        <p:spPr>
          <a:xfrm>
            <a:off x="8275319" y="2697480"/>
            <a:ext cx="3108960" cy="1005840"/>
          </a:xfrm>
          <a:prstGeom prst="rect">
            <a:avLst/>
          </a:prstGeom>
          <a:noFill/>
        </p:spPr>
        <p:txBody>
          <a:bodyPr wrap="square" lIns="0" rIns="0" tIns="0" bIns="0" anchor="t">
            <a:spAutoFit/>
          </a:bodyPr>
          <a:lstStyle/>
          <a:p>
            <a:pPr algn="l">
              <a:spcAft>
                <a:spcPts val="600"/>
              </a:spcAft>
            </a:pPr>
            <a:r>
              <a:rPr sz="1400" b="1" i="0">
                <a:solidFill>
                  <a:srgbClr val="0E8782"/>
                </a:solidFill>
                <a:latin typeface="Calibri"/>
              </a:rPr>
              <a:t>linear probe on CLIP (VeRi labels)</a:t>
            </a:r>
          </a:p>
          <a:p>
            <a:pPr algn="l">
              <a:spcAft>
                <a:spcPts val="600"/>
              </a:spcAft>
            </a:pPr>
            <a:r>
              <a:rPr sz="1400" b="0" i="0">
                <a:solidFill>
                  <a:srgbClr val="34454D"/>
                </a:solidFill>
                <a:latin typeface="Calibri"/>
              </a:rPr>
              <a:t>10 colours · 9 types; zero-shot fallback</a:t>
            </a:r>
          </a:p>
        </p:txBody>
      </p:sp>
      <p:sp>
        <p:nvSpPr>
          <p:cNvPr id="19" name="Rounded Rectangle 18"/>
          <p:cNvSpPr/>
          <p:nvPr/>
        </p:nvSpPr>
        <p:spPr>
          <a:xfrm>
            <a:off x="548640" y="4023360"/>
            <a:ext cx="3520440" cy="196596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Oval 19"/>
          <p:cNvSpPr/>
          <p:nvPr/>
        </p:nvSpPr>
        <p:spPr>
          <a:xfrm>
            <a:off x="777240" y="4251960"/>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4</a:t>
            </a:r>
          </a:p>
        </p:txBody>
      </p:sp>
      <p:sp>
        <p:nvSpPr>
          <p:cNvPr id="21" name="TextBox 20"/>
          <p:cNvSpPr txBox="1"/>
          <p:nvPr/>
        </p:nvSpPr>
        <p:spPr>
          <a:xfrm>
            <a:off x="1417319" y="4297680"/>
            <a:ext cx="2560320" cy="411480"/>
          </a:xfrm>
          <a:prstGeom prst="rect">
            <a:avLst/>
          </a:prstGeom>
          <a:noFill/>
        </p:spPr>
        <p:txBody>
          <a:bodyPr wrap="square" lIns="0" rIns="0" tIns="0" bIns="0" anchor="t">
            <a:spAutoFit/>
          </a:bodyPr>
          <a:lstStyle/>
          <a:p>
            <a:pPr algn="l">
              <a:spcAft>
                <a:spcPts val="600"/>
              </a:spcAft>
            </a:pPr>
            <a:r>
              <a:rPr sz="1900" b="1" i="0">
                <a:solidFill>
                  <a:srgbClr val="111820"/>
                </a:solidFill>
                <a:latin typeface="Calibri"/>
              </a:rPr>
              <a:t>HSV histogram</a:t>
            </a:r>
          </a:p>
        </p:txBody>
      </p:sp>
      <p:sp>
        <p:nvSpPr>
          <p:cNvPr id="22" name="TextBox 21"/>
          <p:cNvSpPr txBox="1"/>
          <p:nvPr/>
        </p:nvSpPr>
        <p:spPr>
          <a:xfrm>
            <a:off x="777240" y="4937760"/>
            <a:ext cx="3108960" cy="1005840"/>
          </a:xfrm>
          <a:prstGeom prst="rect">
            <a:avLst/>
          </a:prstGeom>
          <a:noFill/>
        </p:spPr>
        <p:txBody>
          <a:bodyPr wrap="square" lIns="0" rIns="0" tIns="0" bIns="0" anchor="t">
            <a:spAutoFit/>
          </a:bodyPr>
          <a:lstStyle/>
          <a:p>
            <a:pPr algn="l">
              <a:spcAft>
                <a:spcPts val="600"/>
              </a:spcAft>
            </a:pPr>
            <a:r>
              <a:rPr sz="1400" b="1" i="0">
                <a:solidFill>
                  <a:srgbClr val="0E8782"/>
                </a:solidFill>
                <a:latin typeface="Calibri"/>
              </a:rPr>
              <a:t>16×4×4 bins, hand-crafted</a:t>
            </a:r>
          </a:p>
          <a:p>
            <a:pPr algn="l">
              <a:spcAft>
                <a:spcPts val="600"/>
              </a:spcAft>
            </a:pPr>
            <a:r>
              <a:rPr sz="1400" b="0" i="0">
                <a:solidFill>
                  <a:srgbClr val="34454D"/>
                </a:solidFill>
                <a:latin typeface="Calibri"/>
              </a:rPr>
              <a:t>illumination-tolerant colour similarity</a:t>
            </a:r>
          </a:p>
        </p:txBody>
      </p:sp>
      <p:sp>
        <p:nvSpPr>
          <p:cNvPr id="23" name="Rounded Rectangle 22"/>
          <p:cNvSpPr/>
          <p:nvPr/>
        </p:nvSpPr>
        <p:spPr>
          <a:xfrm>
            <a:off x="4297679" y="4023360"/>
            <a:ext cx="3520440" cy="196596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4" name="Oval 23"/>
          <p:cNvSpPr/>
          <p:nvPr/>
        </p:nvSpPr>
        <p:spPr>
          <a:xfrm>
            <a:off x="4526279" y="4251960"/>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5</a:t>
            </a:r>
          </a:p>
        </p:txBody>
      </p:sp>
      <p:sp>
        <p:nvSpPr>
          <p:cNvPr id="25" name="TextBox 24"/>
          <p:cNvSpPr txBox="1"/>
          <p:nvPr/>
        </p:nvSpPr>
        <p:spPr>
          <a:xfrm>
            <a:off x="5166359" y="4297680"/>
            <a:ext cx="2560320" cy="411480"/>
          </a:xfrm>
          <a:prstGeom prst="rect">
            <a:avLst/>
          </a:prstGeom>
          <a:noFill/>
        </p:spPr>
        <p:txBody>
          <a:bodyPr wrap="square" lIns="0" rIns="0" tIns="0" bIns="0" anchor="t">
            <a:spAutoFit/>
          </a:bodyPr>
          <a:lstStyle/>
          <a:p>
            <a:pPr algn="l">
              <a:spcAft>
                <a:spcPts val="600"/>
              </a:spcAft>
            </a:pPr>
            <a:r>
              <a:rPr sz="1900" b="1" i="0">
                <a:solidFill>
                  <a:srgbClr val="111820"/>
                </a:solidFill>
                <a:latin typeface="Calibri"/>
              </a:rPr>
              <a:t>Licence plate</a:t>
            </a:r>
          </a:p>
        </p:txBody>
      </p:sp>
      <p:sp>
        <p:nvSpPr>
          <p:cNvPr id="26" name="TextBox 25"/>
          <p:cNvSpPr txBox="1"/>
          <p:nvPr/>
        </p:nvSpPr>
        <p:spPr>
          <a:xfrm>
            <a:off x="4526279" y="4937760"/>
            <a:ext cx="3108960" cy="1005840"/>
          </a:xfrm>
          <a:prstGeom prst="rect">
            <a:avLst/>
          </a:prstGeom>
          <a:noFill/>
        </p:spPr>
        <p:txBody>
          <a:bodyPr wrap="square" lIns="0" rIns="0" tIns="0" bIns="0" anchor="t">
            <a:spAutoFit/>
          </a:bodyPr>
          <a:lstStyle/>
          <a:p>
            <a:pPr algn="l">
              <a:spcAft>
                <a:spcPts val="600"/>
              </a:spcAft>
            </a:pPr>
            <a:r>
              <a:rPr sz="1400" b="1" i="0">
                <a:solidFill>
                  <a:srgbClr val="0E8782"/>
                </a:solidFill>
                <a:latin typeface="Calibri"/>
              </a:rPr>
              <a:t>EasyOCR + wildcard Levenshtein</a:t>
            </a:r>
          </a:p>
          <a:p>
            <a:pPr algn="l">
              <a:spcAft>
                <a:spcPts val="600"/>
              </a:spcAft>
            </a:pPr>
            <a:r>
              <a:rPr sz="1400" b="0" i="0">
                <a:solidFill>
                  <a:srgbClr val="34454D"/>
                </a:solidFill>
                <a:latin typeface="Calibri"/>
              </a:rPr>
              <a:t>strong evidence only when read</a:t>
            </a:r>
          </a:p>
        </p:txBody>
      </p:sp>
      <p:sp>
        <p:nvSpPr>
          <p:cNvPr id="27" name="Rounded Rectangle 26"/>
          <p:cNvSpPr/>
          <p:nvPr/>
        </p:nvSpPr>
        <p:spPr>
          <a:xfrm>
            <a:off x="8046719" y="4023360"/>
            <a:ext cx="3520440" cy="196596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8" name="Oval 27"/>
          <p:cNvSpPr/>
          <p:nvPr/>
        </p:nvSpPr>
        <p:spPr>
          <a:xfrm>
            <a:off x="8275319" y="4251960"/>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6</a:t>
            </a:r>
          </a:p>
        </p:txBody>
      </p:sp>
      <p:sp>
        <p:nvSpPr>
          <p:cNvPr id="29" name="TextBox 28"/>
          <p:cNvSpPr txBox="1"/>
          <p:nvPr/>
        </p:nvSpPr>
        <p:spPr>
          <a:xfrm>
            <a:off x="8915399" y="4297680"/>
            <a:ext cx="2560320" cy="411480"/>
          </a:xfrm>
          <a:prstGeom prst="rect">
            <a:avLst/>
          </a:prstGeom>
          <a:noFill/>
        </p:spPr>
        <p:txBody>
          <a:bodyPr wrap="square" lIns="0" rIns="0" tIns="0" bIns="0" anchor="t">
            <a:spAutoFit/>
          </a:bodyPr>
          <a:lstStyle/>
          <a:p>
            <a:pPr algn="l">
              <a:spcAft>
                <a:spcPts val="600"/>
              </a:spcAft>
            </a:pPr>
            <a:r>
              <a:rPr sz="1900" b="1" i="0">
                <a:solidFill>
                  <a:srgbClr val="111820"/>
                </a:solidFill>
                <a:latin typeface="Calibri"/>
              </a:rPr>
              <a:t>Distinctive cues</a:t>
            </a:r>
          </a:p>
        </p:txBody>
      </p:sp>
      <p:sp>
        <p:nvSpPr>
          <p:cNvPr id="30" name="TextBox 29"/>
          <p:cNvSpPr txBox="1"/>
          <p:nvPr/>
        </p:nvSpPr>
        <p:spPr>
          <a:xfrm>
            <a:off x="8275319" y="4937760"/>
            <a:ext cx="3108960" cy="1005840"/>
          </a:xfrm>
          <a:prstGeom prst="rect">
            <a:avLst/>
          </a:prstGeom>
          <a:noFill/>
        </p:spPr>
        <p:txBody>
          <a:bodyPr wrap="square" lIns="0" rIns="0" tIns="0" bIns="0" anchor="t">
            <a:spAutoFit/>
          </a:bodyPr>
          <a:lstStyle/>
          <a:p>
            <a:pPr algn="l">
              <a:spcAft>
                <a:spcPts val="600"/>
              </a:spcAft>
            </a:pPr>
            <a:r>
              <a:rPr sz="1400" b="1" i="0">
                <a:solidFill>
                  <a:srgbClr val="0E8782"/>
                </a:solidFill>
                <a:latin typeface="Calibri"/>
              </a:rPr>
              <a:t>CLIP text–image similarity</a:t>
            </a:r>
          </a:p>
          <a:p>
            <a:pPr algn="l">
              <a:spcAft>
                <a:spcPts val="600"/>
              </a:spcAft>
            </a:pPr>
            <a:r>
              <a:rPr sz="1400" b="0" i="0">
                <a:solidFill>
                  <a:srgbClr val="34454D"/>
                </a:solidFill>
                <a:latin typeface="Calibri"/>
              </a:rPr>
              <a:t>roof rack · spoiler · dent · decal · roof cargo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RE-IDENTIFICATION</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Stage 2: pairwise evidence, four scorers, route tracing</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6</a:t>
            </a:r>
          </a:p>
        </p:txBody>
      </p:sp>
      <p:sp>
        <p:nvSpPr>
          <p:cNvPr id="7" name="TextBox 6"/>
          <p:cNvSpPr txBox="1"/>
          <p:nvPr/>
        </p:nvSpPr>
        <p:spPr>
          <a:xfrm>
            <a:off x="548640" y="1691640"/>
            <a:ext cx="3657600" cy="365760"/>
          </a:xfrm>
          <a:prstGeom prst="rect">
            <a:avLst/>
          </a:prstGeom>
          <a:noFill/>
        </p:spPr>
        <p:txBody>
          <a:bodyPr wrap="square" lIns="0" rIns="0" tIns="0" bIns="0" anchor="t">
            <a:spAutoFit/>
          </a:bodyPr>
          <a:lstStyle/>
          <a:p>
            <a:pPr algn="l">
              <a:spcAft>
                <a:spcPts val="600"/>
              </a:spcAft>
            </a:pPr>
            <a:r>
              <a:rPr sz="1800" b="1" i="0">
                <a:solidFill>
                  <a:srgbClr val="111820"/>
                </a:solidFill>
                <a:latin typeface="Calibri"/>
              </a:rPr>
              <a:t>11-feature evidence vector</a:t>
            </a:r>
          </a:p>
        </p:txBody>
      </p:sp>
      <p:sp>
        <p:nvSpPr>
          <p:cNvPr id="8" name="Rounded Rectangle 7"/>
          <p:cNvSpPr/>
          <p:nvPr/>
        </p:nvSpPr>
        <p:spPr>
          <a:xfrm>
            <a:off x="548640" y="2194560"/>
            <a:ext cx="2011680" cy="457200"/>
          </a:xfrm>
          <a:prstGeom prst="roundRect">
            <a:avLst>
              <a:gd name="adj" fmla="val 30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0">
                <a:solidFill>
                  <a:srgbClr val="111820"/>
                </a:solidFill>
                <a:latin typeface="Calibri"/>
              </a:rPr>
              <a:t>learned-metric cosine</a:t>
            </a:r>
          </a:p>
        </p:txBody>
      </p:sp>
      <p:sp>
        <p:nvSpPr>
          <p:cNvPr id="9" name="Rounded Rectangle 8"/>
          <p:cNvSpPr/>
          <p:nvPr/>
        </p:nvSpPr>
        <p:spPr>
          <a:xfrm>
            <a:off x="2697480" y="2194560"/>
            <a:ext cx="2011680" cy="457200"/>
          </a:xfrm>
          <a:prstGeom prst="roundRect">
            <a:avLst>
              <a:gd name="adj" fmla="val 30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0">
                <a:solidFill>
                  <a:srgbClr val="111820"/>
                </a:solidFill>
                <a:latin typeface="Calibri"/>
              </a:rPr>
              <a:t>ResNet cosine</a:t>
            </a:r>
          </a:p>
        </p:txBody>
      </p:sp>
      <p:sp>
        <p:nvSpPr>
          <p:cNvPr id="10" name="Rounded Rectangle 9"/>
          <p:cNvSpPr/>
          <p:nvPr/>
        </p:nvSpPr>
        <p:spPr>
          <a:xfrm>
            <a:off x="548640" y="2761488"/>
            <a:ext cx="2011680" cy="457200"/>
          </a:xfrm>
          <a:prstGeom prst="roundRect">
            <a:avLst>
              <a:gd name="adj" fmla="val 30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0">
                <a:solidFill>
                  <a:srgbClr val="111820"/>
                </a:solidFill>
                <a:latin typeface="Calibri"/>
              </a:rPr>
              <a:t>CLIP cosine</a:t>
            </a:r>
          </a:p>
        </p:txBody>
      </p:sp>
      <p:sp>
        <p:nvSpPr>
          <p:cNvPr id="11" name="Rounded Rectangle 10"/>
          <p:cNvSpPr/>
          <p:nvPr/>
        </p:nvSpPr>
        <p:spPr>
          <a:xfrm>
            <a:off x="2697480" y="2761488"/>
            <a:ext cx="2011680" cy="457200"/>
          </a:xfrm>
          <a:prstGeom prst="roundRect">
            <a:avLst>
              <a:gd name="adj" fmla="val 30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0">
                <a:solidFill>
                  <a:srgbClr val="111820"/>
                </a:solidFill>
                <a:latin typeface="Calibri"/>
              </a:rPr>
              <a:t>HSV histogram</a:t>
            </a:r>
          </a:p>
        </p:txBody>
      </p:sp>
      <p:sp>
        <p:nvSpPr>
          <p:cNvPr id="12" name="Rounded Rectangle 11"/>
          <p:cNvSpPr/>
          <p:nvPr/>
        </p:nvSpPr>
        <p:spPr>
          <a:xfrm>
            <a:off x="548640" y="3328415"/>
            <a:ext cx="2011680" cy="457200"/>
          </a:xfrm>
          <a:prstGeom prst="roundRect">
            <a:avLst>
              <a:gd name="adj" fmla="val 30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0">
                <a:solidFill>
                  <a:srgbClr val="111820"/>
                </a:solidFill>
                <a:latin typeface="Calibri"/>
              </a:rPr>
              <a:t>colour agreement</a:t>
            </a:r>
          </a:p>
        </p:txBody>
      </p:sp>
      <p:sp>
        <p:nvSpPr>
          <p:cNvPr id="13" name="Rounded Rectangle 12"/>
          <p:cNvSpPr/>
          <p:nvPr/>
        </p:nvSpPr>
        <p:spPr>
          <a:xfrm>
            <a:off x="2697480" y="3328415"/>
            <a:ext cx="2011680" cy="457200"/>
          </a:xfrm>
          <a:prstGeom prst="roundRect">
            <a:avLst>
              <a:gd name="adj" fmla="val 30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0">
                <a:solidFill>
                  <a:srgbClr val="111820"/>
                </a:solidFill>
                <a:latin typeface="Calibri"/>
              </a:rPr>
              <a:t>type agreement</a:t>
            </a:r>
          </a:p>
        </p:txBody>
      </p:sp>
      <p:sp>
        <p:nvSpPr>
          <p:cNvPr id="14" name="Rounded Rectangle 13"/>
          <p:cNvSpPr/>
          <p:nvPr/>
        </p:nvSpPr>
        <p:spPr>
          <a:xfrm>
            <a:off x="548640" y="3895344"/>
            <a:ext cx="2011680" cy="457200"/>
          </a:xfrm>
          <a:prstGeom prst="roundRect">
            <a:avLst>
              <a:gd name="adj" fmla="val 30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0">
                <a:solidFill>
                  <a:srgbClr val="111820"/>
                </a:solidFill>
                <a:latin typeface="Calibri"/>
              </a:rPr>
              <a:t>plate similarity</a:t>
            </a:r>
          </a:p>
        </p:txBody>
      </p:sp>
      <p:sp>
        <p:nvSpPr>
          <p:cNvPr id="15" name="Rounded Rectangle 14"/>
          <p:cNvSpPr/>
          <p:nvPr/>
        </p:nvSpPr>
        <p:spPr>
          <a:xfrm>
            <a:off x="2697480" y="3895344"/>
            <a:ext cx="2011680" cy="457200"/>
          </a:xfrm>
          <a:prstGeom prst="roundRect">
            <a:avLst>
              <a:gd name="adj" fmla="val 30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0">
                <a:solidFill>
                  <a:srgbClr val="111820"/>
                </a:solidFill>
                <a:latin typeface="Calibri"/>
              </a:rPr>
              <a:t>both plates read</a:t>
            </a:r>
          </a:p>
        </p:txBody>
      </p:sp>
      <p:sp>
        <p:nvSpPr>
          <p:cNvPr id="16" name="Rounded Rectangle 15"/>
          <p:cNvSpPr/>
          <p:nvPr/>
        </p:nvSpPr>
        <p:spPr>
          <a:xfrm>
            <a:off x="548640" y="4462272"/>
            <a:ext cx="2011680" cy="457200"/>
          </a:xfrm>
          <a:prstGeom prst="roundRect">
            <a:avLst>
              <a:gd name="adj" fmla="val 30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0">
                <a:solidFill>
                  <a:srgbClr val="111820"/>
                </a:solidFill>
                <a:latin typeface="Calibri"/>
              </a:rPr>
              <a:t>cue agreement</a:t>
            </a:r>
          </a:p>
        </p:txBody>
      </p:sp>
      <p:sp>
        <p:nvSpPr>
          <p:cNvPr id="17" name="Rounded Rectangle 16"/>
          <p:cNvSpPr/>
          <p:nvPr/>
        </p:nvSpPr>
        <p:spPr>
          <a:xfrm>
            <a:off x="2697480" y="4462272"/>
            <a:ext cx="2011680" cy="457200"/>
          </a:xfrm>
          <a:prstGeom prst="roundRect">
            <a:avLst>
              <a:gd name="adj" fmla="val 30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0">
                <a:solidFill>
                  <a:srgbClr val="111820"/>
                </a:solidFill>
                <a:latin typeface="Calibri"/>
              </a:rPr>
              <a:t>track quality / consistency</a:t>
            </a:r>
          </a:p>
        </p:txBody>
      </p:sp>
      <p:sp>
        <p:nvSpPr>
          <p:cNvPr id="18" name="TextBox 17"/>
          <p:cNvSpPr txBox="1"/>
          <p:nvPr/>
        </p:nvSpPr>
        <p:spPr>
          <a:xfrm>
            <a:off x="548640" y="5166360"/>
            <a:ext cx="4206240" cy="1005840"/>
          </a:xfrm>
          <a:prstGeom prst="rect">
            <a:avLst/>
          </a:prstGeom>
          <a:noFill/>
        </p:spPr>
        <p:txBody>
          <a:bodyPr wrap="square" lIns="0" rIns="0" tIns="0" bIns="0" anchor="t">
            <a:spAutoFit/>
          </a:bodyPr>
          <a:lstStyle/>
          <a:p>
            <a:pPr algn="l">
              <a:spcAft>
                <a:spcPts val="600"/>
              </a:spcAft>
            </a:pPr>
            <a:r>
              <a:rPr sz="1500" b="1" i="0">
                <a:solidFill>
                  <a:srgbClr val="111820"/>
                </a:solidFill>
                <a:latin typeface="Calibri"/>
              </a:rPr>
              <a:t>Scorers: </a:t>
            </a:r>
            <a:r>
              <a:rPr sz="1500" b="0" i="0">
                <a:solidFill>
                  <a:srgbClr val="34454D"/>
                </a:solidFill>
                <a:latin typeface="Calibri"/>
              </a:rPr>
              <a:t>appearance only · learned metric · weighted fusion · Random Forest (monotonic)</a:t>
            </a:r>
          </a:p>
        </p:txBody>
      </p:sp>
      <p:sp>
        <p:nvSpPr>
          <p:cNvPr id="19" name="Rounded Rectangle 18"/>
          <p:cNvSpPr/>
          <p:nvPr/>
        </p:nvSpPr>
        <p:spPr>
          <a:xfrm>
            <a:off x="5166360" y="1691640"/>
            <a:ext cx="6492240" cy="4526280"/>
          </a:xfrm>
          <a:prstGeom prst="roundRect">
            <a:avLst>
              <a:gd name="adj" fmla="val 5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5486400" y="1920240"/>
            <a:ext cx="5852160" cy="365760"/>
          </a:xfrm>
          <a:prstGeom prst="rect">
            <a:avLst/>
          </a:prstGeom>
          <a:noFill/>
        </p:spPr>
        <p:txBody>
          <a:bodyPr wrap="square" lIns="0" rIns="0" tIns="0" bIns="0" anchor="t">
            <a:spAutoFit/>
          </a:bodyPr>
          <a:lstStyle/>
          <a:p>
            <a:pPr algn="l">
              <a:spcAft>
                <a:spcPts val="600"/>
              </a:spcAft>
            </a:pPr>
            <a:r>
              <a:rPr sz="1800" b="1" i="0">
                <a:solidFill>
                  <a:srgbClr val="B8E9E6"/>
                </a:solidFill>
                <a:latin typeface="Calibri"/>
              </a:rPr>
              <a:t>Route tracing</a:t>
            </a:r>
          </a:p>
        </p:txBody>
      </p:sp>
      <p:sp>
        <p:nvSpPr>
          <p:cNvPr id="21" name="Rounded Rectangle 20"/>
          <p:cNvSpPr/>
          <p:nvPr/>
        </p:nvSpPr>
        <p:spPr>
          <a:xfrm>
            <a:off x="5577840" y="2606040"/>
            <a:ext cx="1600200" cy="1005840"/>
          </a:xfrm>
          <a:prstGeom prst="roundRect">
            <a:avLst>
              <a:gd name="adj" fmla="val 12000"/>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camA</a:t>
            </a:r>
          </a:p>
          <a:p>
            <a:pPr algn="ctr"/>
            <a:r>
              <a:rPr sz="1300" b="0">
                <a:solidFill>
                  <a:srgbClr val="FFFFFF"/>
                </a:solidFill>
                <a:latin typeface="Calibri"/>
              </a:rPr>
              <a:t>far · small</a:t>
            </a:r>
          </a:p>
        </p:txBody>
      </p:sp>
      <p:cxnSp>
        <p:nvCxnSpPr>
          <p:cNvPr id="22" name="Connector 21"/>
          <p:cNvCxnSpPr/>
          <p:nvPr/>
        </p:nvCxnSpPr>
        <p:spPr>
          <a:xfrm>
            <a:off x="7196327" y="3108960"/>
            <a:ext cx="374904" cy="0"/>
          </a:xfrm>
          <a:prstGeom prst="line">
            <a:avLst/>
          </a:prstGeom>
          <a:ln w="31750">
            <a:solidFill>
              <a:srgbClr val="65C9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589520" y="2606040"/>
            <a:ext cx="1600200" cy="1005840"/>
          </a:xfrm>
          <a:prstGeom prst="roundRect">
            <a:avLst>
              <a:gd name="adj" fmla="val 12000"/>
            </a:avLst>
          </a:prstGeom>
          <a:solidFill>
            <a:srgbClr val="34454D"/>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camB</a:t>
            </a:r>
          </a:p>
          <a:p>
            <a:pPr algn="ctr"/>
            <a:r>
              <a:rPr sz="1300" b="0">
                <a:solidFill>
                  <a:srgbClr val="FFFFFF"/>
                </a:solidFill>
                <a:latin typeface="Calibri"/>
              </a:rPr>
              <a:t>mid</a:t>
            </a:r>
          </a:p>
        </p:txBody>
      </p:sp>
      <p:cxnSp>
        <p:nvCxnSpPr>
          <p:cNvPr id="24" name="Connector 23"/>
          <p:cNvCxnSpPr/>
          <p:nvPr/>
        </p:nvCxnSpPr>
        <p:spPr>
          <a:xfrm>
            <a:off x="9208008" y="3108960"/>
            <a:ext cx="374904" cy="0"/>
          </a:xfrm>
          <a:prstGeom prst="line">
            <a:avLst/>
          </a:prstGeom>
          <a:ln w="31750">
            <a:solidFill>
              <a:srgbClr val="65C95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601200" y="2606040"/>
            <a:ext cx="1600200" cy="1005840"/>
          </a:xfrm>
          <a:prstGeom prst="roundRect">
            <a:avLst>
              <a:gd name="adj" fmla="val 12000"/>
            </a:avLst>
          </a:prstGeom>
          <a:solidFill>
            <a:srgbClr val="34454D"/>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camC</a:t>
            </a:r>
          </a:p>
          <a:p>
            <a:pPr algn="ctr"/>
            <a:r>
              <a:rPr sz="1300" b="0">
                <a:solidFill>
                  <a:srgbClr val="FFFFFF"/>
                </a:solidFill>
                <a:latin typeface="Calibri"/>
              </a:rPr>
              <a:t>near · large</a:t>
            </a:r>
          </a:p>
        </p:txBody>
      </p:sp>
      <p:sp>
        <p:nvSpPr>
          <p:cNvPr id="26" name="TextBox 25"/>
          <p:cNvSpPr txBox="1"/>
          <p:nvPr/>
        </p:nvSpPr>
        <p:spPr>
          <a:xfrm>
            <a:off x="5486400" y="3931920"/>
            <a:ext cx="5943600" cy="2194560"/>
          </a:xfrm>
          <a:prstGeom prst="rect">
            <a:avLst/>
          </a:prstGeom>
          <a:noFill/>
        </p:spPr>
        <p:txBody>
          <a:bodyPr wrap="square" lIns="0" rIns="0" tIns="0" bIns="0" anchor="t">
            <a:spAutoFit/>
          </a:bodyPr>
          <a:lstStyle/>
          <a:p>
            <a:pPr algn="l">
              <a:spcAft>
                <a:spcPts val="600"/>
              </a:spcAft>
            </a:pPr>
            <a:r>
              <a:rPr sz="1500" b="0" i="0">
                <a:solidFill>
                  <a:srgbClr val="D3DEE2"/>
                </a:solidFill>
                <a:latin typeface="Calibri"/>
              </a:rPr>
              <a:t>•  Score each camera's tracklets against </a:t>
            </a:r>
            <a:r>
              <a:rPr sz="1500" b="1" i="0">
                <a:solidFill>
                  <a:srgbClr val="D3DEE2"/>
                </a:solidFill>
                <a:latin typeface="Calibri"/>
              </a:rPr>
              <a:t>all</a:t>
            </a:r>
            <a:r>
              <a:rPr sz="1500" b="0" i="0">
                <a:solidFill>
                  <a:srgbClr val="D3DEE2"/>
                </a:solidFill>
                <a:latin typeface="Calibri"/>
              </a:rPr>
              <a:t> known views of the car</a:t>
            </a:r>
          </a:p>
          <a:p>
            <a:pPr algn="l">
              <a:spcAft>
                <a:spcPts val="600"/>
              </a:spcAft>
            </a:pPr>
            <a:r>
              <a:rPr sz="1500" b="0" i="0">
                <a:solidFill>
                  <a:srgbClr val="D3DEE2"/>
                </a:solidFill>
                <a:latin typeface="Calibri"/>
              </a:rPr>
              <a:t>•  Suggest a camera only if its best clearly beats its runner-up</a:t>
            </a:r>
          </a:p>
          <a:p>
            <a:pPr algn="l">
              <a:spcAft>
                <a:spcPts val="600"/>
              </a:spcAft>
            </a:pPr>
            <a:r>
              <a:rPr sz="1500" b="0" i="0">
                <a:solidFill>
                  <a:srgbClr val="D3DEE2"/>
                </a:solidFill>
                <a:latin typeface="Calibri"/>
              </a:rPr>
              <a:t>•  Show the top 3 per camera: the user confirms each hop in one click</a:t>
            </a:r>
          </a:p>
          <a:p>
            <a:pPr algn="l">
              <a:spcAft>
                <a:spcPts val="600"/>
              </a:spcAft>
            </a:pPr>
            <a:r>
              <a:rPr sz="1500" b="0" i="0">
                <a:solidFill>
                  <a:srgbClr val="D3DEE2"/>
                </a:solidFill>
                <a:latin typeface="Calibri"/>
              </a:rPr>
              <a:t>•  Each confirmation re-scores the rest; a time window rejects impossible jumps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PRACTICE MODULE REQUIREMENTS</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All four technique groups are integrated</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7</a:t>
            </a:r>
          </a:p>
        </p:txBody>
      </p:sp>
      <p:sp>
        <p:nvSpPr>
          <p:cNvPr id="7" name="Rounded Rectangle 6"/>
          <p:cNvSpPr/>
          <p:nvPr/>
        </p:nvSpPr>
        <p:spPr>
          <a:xfrm>
            <a:off x="548640" y="1783080"/>
            <a:ext cx="5394960" cy="1965960"/>
          </a:xfrm>
          <a:prstGeom prst="roundRect">
            <a:avLst>
              <a:gd name="adj" fmla="val 8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Oval 7"/>
          <p:cNvSpPr/>
          <p:nvPr/>
        </p:nvSpPr>
        <p:spPr>
          <a:xfrm>
            <a:off x="822959" y="2057400"/>
            <a:ext cx="548640" cy="548640"/>
          </a:xfrm>
          <a:prstGeom prst="ellipse">
            <a:avLst/>
          </a:prstGeom>
          <a:solidFill>
            <a:srgbClr val="65C95A"/>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111820"/>
                </a:solidFill>
                <a:latin typeface="Calibri"/>
              </a:rPr>
              <a:t>1</a:t>
            </a:r>
          </a:p>
        </p:txBody>
      </p:sp>
      <p:sp>
        <p:nvSpPr>
          <p:cNvPr id="9" name="TextBox 8"/>
          <p:cNvSpPr txBox="1"/>
          <p:nvPr/>
        </p:nvSpPr>
        <p:spPr>
          <a:xfrm>
            <a:off x="1554480" y="2103120"/>
            <a:ext cx="4206240" cy="457200"/>
          </a:xfrm>
          <a:prstGeom prst="rect">
            <a:avLst/>
          </a:prstGeom>
          <a:noFill/>
        </p:spPr>
        <p:txBody>
          <a:bodyPr wrap="square" lIns="0" rIns="0" tIns="0" bIns="0" anchor="t">
            <a:spAutoFit/>
          </a:bodyPr>
          <a:lstStyle/>
          <a:p>
            <a:pPr algn="l">
              <a:spcAft>
                <a:spcPts val="600"/>
              </a:spcAft>
            </a:pPr>
            <a:r>
              <a:rPr sz="1900" b="1" i="0">
                <a:solidFill>
                  <a:srgbClr val="FFFFFF"/>
                </a:solidFill>
                <a:latin typeface="Calibri"/>
              </a:rPr>
              <a:t>Supervised / unsupervised learning</a:t>
            </a:r>
          </a:p>
        </p:txBody>
      </p:sp>
      <p:sp>
        <p:nvSpPr>
          <p:cNvPr id="10" name="TextBox 9"/>
          <p:cNvSpPr txBox="1"/>
          <p:nvPr/>
        </p:nvSpPr>
        <p:spPr>
          <a:xfrm>
            <a:off x="1554480" y="2651760"/>
            <a:ext cx="4206240" cy="1005840"/>
          </a:xfrm>
          <a:prstGeom prst="rect">
            <a:avLst/>
          </a:prstGeom>
          <a:noFill/>
        </p:spPr>
        <p:txBody>
          <a:bodyPr wrap="square" lIns="0" rIns="0" tIns="0" bIns="0" anchor="t">
            <a:spAutoFit/>
          </a:bodyPr>
          <a:lstStyle/>
          <a:p>
            <a:pPr algn="l">
              <a:spcAft>
                <a:spcPts val="600"/>
              </a:spcAft>
            </a:pPr>
            <a:r>
              <a:rPr sz="1500" b="0" i="0">
                <a:solidFill>
                  <a:srgbClr val="D3DEE2"/>
                </a:solidFill>
                <a:latin typeface="Calibri"/>
              </a:rPr>
              <a:t>LDA metric learning on vehicle identities · Random Forest matcher · colour/type probe · Self-Organising Map</a:t>
            </a:r>
          </a:p>
        </p:txBody>
      </p:sp>
      <p:sp>
        <p:nvSpPr>
          <p:cNvPr id="11" name="Rounded Rectangle 10"/>
          <p:cNvSpPr/>
          <p:nvPr/>
        </p:nvSpPr>
        <p:spPr>
          <a:xfrm>
            <a:off x="6172200" y="1783080"/>
            <a:ext cx="5394960" cy="196596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Oval 11"/>
          <p:cNvSpPr/>
          <p:nvPr/>
        </p:nvSpPr>
        <p:spPr>
          <a:xfrm>
            <a:off x="6446520" y="2057400"/>
            <a:ext cx="548640" cy="54864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FFFFFF"/>
                </a:solidFill>
                <a:latin typeface="Calibri"/>
              </a:rPr>
              <a:t>2</a:t>
            </a:r>
          </a:p>
        </p:txBody>
      </p:sp>
      <p:sp>
        <p:nvSpPr>
          <p:cNvPr id="13" name="TextBox 12"/>
          <p:cNvSpPr txBox="1"/>
          <p:nvPr/>
        </p:nvSpPr>
        <p:spPr>
          <a:xfrm>
            <a:off x="7178040" y="2103120"/>
            <a:ext cx="4206240" cy="457200"/>
          </a:xfrm>
          <a:prstGeom prst="rect">
            <a:avLst/>
          </a:prstGeom>
          <a:noFill/>
        </p:spPr>
        <p:txBody>
          <a:bodyPr wrap="square" lIns="0" rIns="0" tIns="0" bIns="0" anchor="t">
            <a:spAutoFit/>
          </a:bodyPr>
          <a:lstStyle/>
          <a:p>
            <a:pPr algn="l">
              <a:spcAft>
                <a:spcPts val="600"/>
              </a:spcAft>
            </a:pPr>
            <a:r>
              <a:rPr sz="1900" b="1" i="0">
                <a:solidFill>
                  <a:srgbClr val="111820"/>
                </a:solidFill>
                <a:latin typeface="Calibri"/>
              </a:rPr>
              <a:t>Machine / deep learning</a:t>
            </a:r>
          </a:p>
        </p:txBody>
      </p:sp>
      <p:sp>
        <p:nvSpPr>
          <p:cNvPr id="14" name="TextBox 13"/>
          <p:cNvSpPr txBox="1"/>
          <p:nvPr/>
        </p:nvSpPr>
        <p:spPr>
          <a:xfrm>
            <a:off x="7178040" y="2651760"/>
            <a:ext cx="4206240" cy="1005840"/>
          </a:xfrm>
          <a:prstGeom prst="rect">
            <a:avLst/>
          </a:prstGeom>
          <a:noFill/>
        </p:spPr>
        <p:txBody>
          <a:bodyPr wrap="square" lIns="0" rIns="0" tIns="0" bIns="0" anchor="t">
            <a:spAutoFit/>
          </a:bodyPr>
          <a:lstStyle/>
          <a:p>
            <a:pPr algn="l">
              <a:spcAft>
                <a:spcPts val="600"/>
              </a:spcAft>
            </a:pPr>
            <a:r>
              <a:rPr sz="1500" b="0" i="0">
                <a:solidFill>
                  <a:srgbClr val="34454D"/>
                </a:solidFill>
                <a:latin typeface="Calibri"/>
              </a:rPr>
              <a:t>YOLO11n detector · ResNet-50 embeddings · CLIP vision-language model · EasyOCR</a:t>
            </a:r>
          </a:p>
        </p:txBody>
      </p:sp>
      <p:sp>
        <p:nvSpPr>
          <p:cNvPr id="15" name="Rounded Rectangle 14"/>
          <p:cNvSpPr/>
          <p:nvPr/>
        </p:nvSpPr>
        <p:spPr>
          <a:xfrm>
            <a:off x="548640" y="4023360"/>
            <a:ext cx="5394960" cy="1965960"/>
          </a:xfrm>
          <a:prstGeom prst="roundRect">
            <a:avLst>
              <a:gd name="adj" fmla="val 8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6" name="Oval 15"/>
          <p:cNvSpPr/>
          <p:nvPr/>
        </p:nvSpPr>
        <p:spPr>
          <a:xfrm>
            <a:off x="822959" y="4297680"/>
            <a:ext cx="548640" cy="54864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FFFFFF"/>
                </a:solidFill>
                <a:latin typeface="Calibri"/>
              </a:rPr>
              <a:t>3</a:t>
            </a:r>
          </a:p>
        </p:txBody>
      </p:sp>
      <p:sp>
        <p:nvSpPr>
          <p:cNvPr id="17" name="TextBox 16"/>
          <p:cNvSpPr txBox="1"/>
          <p:nvPr/>
        </p:nvSpPr>
        <p:spPr>
          <a:xfrm>
            <a:off x="1554480" y="4343400"/>
            <a:ext cx="4206240" cy="457200"/>
          </a:xfrm>
          <a:prstGeom prst="rect">
            <a:avLst/>
          </a:prstGeom>
          <a:noFill/>
        </p:spPr>
        <p:txBody>
          <a:bodyPr wrap="square" lIns="0" rIns="0" tIns="0" bIns="0" anchor="t">
            <a:spAutoFit/>
          </a:bodyPr>
          <a:lstStyle/>
          <a:p>
            <a:pPr algn="l">
              <a:spcAft>
                <a:spcPts val="600"/>
              </a:spcAft>
            </a:pPr>
            <a:r>
              <a:rPr sz="1900" b="1" i="0">
                <a:solidFill>
                  <a:srgbClr val="111820"/>
                </a:solidFill>
                <a:latin typeface="Calibri"/>
              </a:rPr>
              <a:t>Hybrid / ensemble</a:t>
            </a:r>
          </a:p>
        </p:txBody>
      </p:sp>
      <p:sp>
        <p:nvSpPr>
          <p:cNvPr id="18" name="TextBox 17"/>
          <p:cNvSpPr txBox="1"/>
          <p:nvPr/>
        </p:nvSpPr>
        <p:spPr>
          <a:xfrm>
            <a:off x="1554480" y="4892040"/>
            <a:ext cx="4206240" cy="1005840"/>
          </a:xfrm>
          <a:prstGeom prst="rect">
            <a:avLst/>
          </a:prstGeom>
          <a:noFill/>
        </p:spPr>
        <p:txBody>
          <a:bodyPr wrap="square" lIns="0" rIns="0" tIns="0" bIns="0" anchor="t">
            <a:spAutoFit/>
          </a:bodyPr>
          <a:lstStyle/>
          <a:p>
            <a:pPr algn="l">
              <a:spcAft>
                <a:spcPts val="600"/>
              </a:spcAft>
            </a:pPr>
            <a:r>
              <a:rPr sz="1500" b="0" i="0">
                <a:solidFill>
                  <a:srgbClr val="34454D"/>
                </a:solidFill>
                <a:latin typeface="Calibri"/>
              </a:rPr>
              <a:t>Random Forest and weighted fusion over 11 evidence features vs single cues (ablation)</a:t>
            </a:r>
          </a:p>
        </p:txBody>
      </p:sp>
      <p:sp>
        <p:nvSpPr>
          <p:cNvPr id="19" name="Rounded Rectangle 18"/>
          <p:cNvSpPr/>
          <p:nvPr/>
        </p:nvSpPr>
        <p:spPr>
          <a:xfrm>
            <a:off x="6172200" y="4023360"/>
            <a:ext cx="5394960" cy="1965960"/>
          </a:xfrm>
          <a:prstGeom prst="roundRect">
            <a:avLst>
              <a:gd name="adj" fmla="val 8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Oval 19"/>
          <p:cNvSpPr/>
          <p:nvPr/>
        </p:nvSpPr>
        <p:spPr>
          <a:xfrm>
            <a:off x="6446520" y="4297680"/>
            <a:ext cx="548640" cy="548640"/>
          </a:xfrm>
          <a:prstGeom prst="ellipse">
            <a:avLst/>
          </a:prstGeom>
          <a:solidFill>
            <a:srgbClr val="65C95A"/>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111820"/>
                </a:solidFill>
                <a:latin typeface="Calibri"/>
              </a:rPr>
              <a:t>4</a:t>
            </a:r>
          </a:p>
        </p:txBody>
      </p:sp>
      <p:sp>
        <p:nvSpPr>
          <p:cNvPr id="21" name="TextBox 20"/>
          <p:cNvSpPr txBox="1"/>
          <p:nvPr/>
        </p:nvSpPr>
        <p:spPr>
          <a:xfrm>
            <a:off x="7178040" y="4343400"/>
            <a:ext cx="4206240" cy="457200"/>
          </a:xfrm>
          <a:prstGeom prst="rect">
            <a:avLst/>
          </a:prstGeom>
          <a:noFill/>
        </p:spPr>
        <p:txBody>
          <a:bodyPr wrap="square" lIns="0" rIns="0" tIns="0" bIns="0" anchor="t">
            <a:spAutoFit/>
          </a:bodyPr>
          <a:lstStyle/>
          <a:p>
            <a:pPr algn="l">
              <a:spcAft>
                <a:spcPts val="600"/>
              </a:spcAft>
            </a:pPr>
            <a:r>
              <a:rPr sz="1900" b="1" i="0">
                <a:solidFill>
                  <a:srgbClr val="FFFFFF"/>
                </a:solidFill>
                <a:latin typeface="Calibri"/>
              </a:rPr>
              <a:t>Intelligent sensing / sense-making</a:t>
            </a:r>
          </a:p>
        </p:txBody>
      </p:sp>
      <p:sp>
        <p:nvSpPr>
          <p:cNvPr id="22" name="TextBox 21"/>
          <p:cNvSpPr txBox="1"/>
          <p:nvPr/>
        </p:nvSpPr>
        <p:spPr>
          <a:xfrm>
            <a:off x="7178040" y="4892040"/>
            <a:ext cx="4206240" cy="1005840"/>
          </a:xfrm>
          <a:prstGeom prst="rect">
            <a:avLst/>
          </a:prstGeom>
          <a:noFill/>
        </p:spPr>
        <p:txBody>
          <a:bodyPr wrap="square" lIns="0" rIns="0" tIns="0" bIns="0" anchor="t">
            <a:spAutoFit/>
          </a:bodyPr>
          <a:lstStyle/>
          <a:p>
            <a:pPr algn="l">
              <a:spcAft>
                <a:spcPts val="600"/>
              </a:spcAft>
            </a:pPr>
            <a:r>
              <a:rPr sz="1500" b="0" i="0">
                <a:solidFill>
                  <a:srgbClr val="D3DEE2"/>
                </a:solidFill>
                <a:latin typeface="Calibri"/>
              </a:rPr>
              <a:t>video → detections → tracks → tracklets → descriptors → candidates → confirmed target → route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DATA &amp; PROTOCOL</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Evaluation data: benchmark + multi-camera demo</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8</a:t>
            </a:r>
          </a:p>
        </p:txBody>
      </p:sp>
      <p:sp>
        <p:nvSpPr>
          <p:cNvPr id="7" name="TextBox 6"/>
          <p:cNvSpPr txBox="1"/>
          <p:nvPr/>
        </p:nvSpPr>
        <p:spPr>
          <a:xfrm>
            <a:off x="548640" y="1737360"/>
            <a:ext cx="2377440" cy="548640"/>
          </a:xfrm>
          <a:prstGeom prst="rect">
            <a:avLst/>
          </a:prstGeom>
          <a:noFill/>
        </p:spPr>
        <p:txBody>
          <a:bodyPr wrap="square" lIns="0" rIns="0" tIns="0" bIns="0" anchor="t">
            <a:spAutoFit/>
          </a:bodyPr>
          <a:lstStyle/>
          <a:p>
            <a:pPr algn="l">
              <a:spcAft>
                <a:spcPts val="600"/>
              </a:spcAft>
            </a:pPr>
            <a:r>
              <a:rPr sz="3000" b="1" i="0">
                <a:solidFill>
                  <a:srgbClr val="0E8782"/>
                </a:solidFill>
                <a:latin typeface="Calibri"/>
              </a:rPr>
              <a:t>776</a:t>
            </a:r>
          </a:p>
        </p:txBody>
      </p:sp>
      <p:sp>
        <p:nvSpPr>
          <p:cNvPr id="8" name="TextBox 7"/>
          <p:cNvSpPr txBox="1"/>
          <p:nvPr/>
        </p:nvSpPr>
        <p:spPr>
          <a:xfrm>
            <a:off x="2880360" y="1783080"/>
            <a:ext cx="2377440" cy="82296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vehicles · 20 cameras
VeRi-776</a:t>
            </a:r>
          </a:p>
        </p:txBody>
      </p:sp>
      <p:sp>
        <p:nvSpPr>
          <p:cNvPr id="9" name="TextBox 8"/>
          <p:cNvSpPr txBox="1"/>
          <p:nvPr/>
        </p:nvSpPr>
        <p:spPr>
          <a:xfrm>
            <a:off x="548640" y="2852928"/>
            <a:ext cx="2377440" cy="548640"/>
          </a:xfrm>
          <a:prstGeom prst="rect">
            <a:avLst/>
          </a:prstGeom>
          <a:noFill/>
        </p:spPr>
        <p:txBody>
          <a:bodyPr wrap="square" lIns="0" rIns="0" tIns="0" bIns="0" anchor="t">
            <a:spAutoFit/>
          </a:bodyPr>
          <a:lstStyle/>
          <a:p>
            <a:pPr algn="l">
              <a:spcAft>
                <a:spcPts val="600"/>
              </a:spcAft>
            </a:pPr>
            <a:r>
              <a:rPr sz="3000" b="1" i="0">
                <a:solidFill>
                  <a:srgbClr val="0E8782"/>
                </a:solidFill>
                <a:latin typeface="Calibri"/>
              </a:rPr>
              <a:t>150 / 100</a:t>
            </a:r>
          </a:p>
        </p:txBody>
      </p:sp>
      <p:sp>
        <p:nvSpPr>
          <p:cNvPr id="10" name="TextBox 9"/>
          <p:cNvSpPr txBox="1"/>
          <p:nvPr/>
        </p:nvSpPr>
        <p:spPr>
          <a:xfrm>
            <a:off x="2880360" y="2898648"/>
            <a:ext cx="2377440" cy="82296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train / test vehicles
(identity-disjoint)</a:t>
            </a:r>
          </a:p>
        </p:txBody>
      </p:sp>
      <p:sp>
        <p:nvSpPr>
          <p:cNvPr id="11" name="TextBox 10"/>
          <p:cNvSpPr txBox="1"/>
          <p:nvPr/>
        </p:nvSpPr>
        <p:spPr>
          <a:xfrm>
            <a:off x="548640" y="3968496"/>
            <a:ext cx="2377440" cy="548640"/>
          </a:xfrm>
          <a:prstGeom prst="rect">
            <a:avLst/>
          </a:prstGeom>
          <a:noFill/>
        </p:spPr>
        <p:txBody>
          <a:bodyPr wrap="square" lIns="0" rIns="0" tIns="0" bIns="0" anchor="t">
            <a:spAutoFit/>
          </a:bodyPr>
          <a:lstStyle/>
          <a:p>
            <a:pPr algn="l">
              <a:spcAft>
                <a:spcPts val="600"/>
              </a:spcAft>
            </a:pPr>
            <a:r>
              <a:rPr sz="3000" b="1" i="0">
                <a:solidFill>
                  <a:srgbClr val="0E8782"/>
                </a:solidFill>
                <a:latin typeface="Calibri"/>
              </a:rPr>
              <a:t>1,290 / 830</a:t>
            </a:r>
          </a:p>
        </p:txBody>
      </p:sp>
      <p:sp>
        <p:nvSpPr>
          <p:cNvPr id="12" name="TextBox 11"/>
          <p:cNvSpPr txBox="1"/>
          <p:nvPr/>
        </p:nvSpPr>
        <p:spPr>
          <a:xfrm>
            <a:off x="2880360" y="4014215"/>
            <a:ext cx="2377440" cy="82296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train / test tracklets</a:t>
            </a:r>
          </a:p>
        </p:txBody>
      </p:sp>
      <p:sp>
        <p:nvSpPr>
          <p:cNvPr id="13" name="TextBox 12"/>
          <p:cNvSpPr txBox="1"/>
          <p:nvPr/>
        </p:nvSpPr>
        <p:spPr>
          <a:xfrm>
            <a:off x="548640" y="5084064"/>
            <a:ext cx="2377440" cy="548640"/>
          </a:xfrm>
          <a:prstGeom prst="rect">
            <a:avLst/>
          </a:prstGeom>
          <a:noFill/>
        </p:spPr>
        <p:txBody>
          <a:bodyPr wrap="square" lIns="0" rIns="0" tIns="0" bIns="0" anchor="t">
            <a:spAutoFit/>
          </a:bodyPr>
          <a:lstStyle/>
          <a:p>
            <a:pPr algn="l">
              <a:spcAft>
                <a:spcPts val="600"/>
              </a:spcAft>
            </a:pPr>
            <a:r>
              <a:rPr sz="3000" b="1" i="0">
                <a:solidFill>
                  <a:srgbClr val="0E8782"/>
                </a:solidFill>
                <a:latin typeface="Calibri"/>
              </a:rPr>
              <a:t>300</a:t>
            </a:r>
          </a:p>
        </p:txBody>
      </p:sp>
      <p:sp>
        <p:nvSpPr>
          <p:cNvPr id="14" name="TextBox 13"/>
          <p:cNvSpPr txBox="1"/>
          <p:nvPr/>
        </p:nvSpPr>
        <p:spPr>
          <a:xfrm>
            <a:off x="2880360" y="5129784"/>
            <a:ext cx="2377440" cy="82296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Re-ID queries</a:t>
            </a:r>
          </a:p>
        </p:txBody>
      </p:sp>
      <p:pic>
        <p:nvPicPr>
          <p:cNvPr id="15" name="Picture 14" descr="demo_zones.jpg"/>
          <p:cNvPicPr>
            <a:picLocks noChangeAspect="1"/>
          </p:cNvPicPr>
          <p:nvPr/>
        </p:nvPicPr>
        <p:blipFill>
          <a:blip r:embed="rId4"/>
          <a:stretch>
            <a:fillRect/>
          </a:stretch>
        </p:blipFill>
        <p:spPr>
          <a:xfrm>
            <a:off x="5577840" y="1695926"/>
            <a:ext cx="6080760" cy="3420427"/>
          </a:xfrm>
          <a:prstGeom prst="rect">
            <a:avLst/>
          </a:prstGeom>
        </p:spPr>
      </p:pic>
      <p:sp>
        <p:nvSpPr>
          <p:cNvPr id="16" name="TextBox 15"/>
          <p:cNvSpPr txBox="1"/>
          <p:nvPr/>
        </p:nvSpPr>
        <p:spPr>
          <a:xfrm>
            <a:off x="5577840" y="5257800"/>
            <a:ext cx="6080760" cy="914400"/>
          </a:xfrm>
          <a:prstGeom prst="rect">
            <a:avLst/>
          </a:prstGeom>
          <a:noFill/>
        </p:spPr>
        <p:txBody>
          <a:bodyPr wrap="square" lIns="0" rIns="0" tIns="0" bIns="0" anchor="t">
            <a:spAutoFit/>
          </a:bodyPr>
          <a:lstStyle/>
          <a:p>
            <a:pPr algn="l">
              <a:spcAft>
                <a:spcPts val="600"/>
              </a:spcAft>
            </a:pPr>
            <a:r>
              <a:rPr sz="1400" b="1" i="0">
                <a:solidFill>
                  <a:srgbClr val="111820"/>
                </a:solidFill>
                <a:latin typeface="Calibri"/>
              </a:rPr>
              <a:t>Demo cameras: </a:t>
            </a:r>
            <a:r>
              <a:rPr sz="1400" b="0" i="0">
                <a:solidFill>
                  <a:srgbClr val="34454D"/>
                </a:solidFill>
                <a:latin typeface="Calibri"/>
              </a:rPr>
              <a:t>3 zones of one CC BY 3.0 street clip (45 s) + camD on another road as a distractor · 187 tracklets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RESULTS · VERI-776</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Supervised attributes and combined cues work best</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9</a:t>
            </a:r>
          </a:p>
        </p:txBody>
      </p:sp>
      <p:graphicFrame>
        <p:nvGraphicFramePr>
          <p:cNvPr id="7" name="Chart 6"/>
          <p:cNvGraphicFramePr>
            <a:graphicFrameLocks noGrp="1"/>
          </p:cNvGraphicFramePr>
          <p:nvPr/>
        </p:nvGraphicFramePr>
        <p:xfrm>
          <a:off x="548640" y="2057400"/>
          <a:ext cx="5120640" cy="4023360"/>
        </p:xfrm>
        <a:graphic>
          <a:graphicData uri="http://schemas.openxmlformats.org/drawingml/2006/chart">
            <c:chart xmlns:c="http://schemas.openxmlformats.org/drawingml/2006/chart" r:id="rId4"/>
          </a:graphicData>
        </a:graphic>
      </p:graphicFrame>
      <p:sp>
        <p:nvSpPr>
          <p:cNvPr id="8" name="TextBox 7"/>
          <p:cNvSpPr txBox="1"/>
          <p:nvPr/>
        </p:nvSpPr>
        <p:spPr>
          <a:xfrm>
            <a:off x="548640" y="1691640"/>
            <a:ext cx="5120640" cy="365760"/>
          </a:xfrm>
          <a:prstGeom prst="rect">
            <a:avLst/>
          </a:prstGeom>
          <a:noFill/>
        </p:spPr>
        <p:txBody>
          <a:bodyPr wrap="square" lIns="0" rIns="0" tIns="0" bIns="0" anchor="t">
            <a:spAutoFit/>
          </a:bodyPr>
          <a:lstStyle/>
          <a:p>
            <a:pPr algn="l">
              <a:spcAft>
                <a:spcPts val="600"/>
              </a:spcAft>
            </a:pPr>
            <a:r>
              <a:rPr sz="1600" b="1" i="0">
                <a:solidFill>
                  <a:srgbClr val="111820"/>
                </a:solidFill>
                <a:latin typeface="Calibri"/>
              </a:rPr>
              <a:t>Attribute accuracy (%)</a:t>
            </a:r>
          </a:p>
        </p:txBody>
      </p:sp>
      <p:graphicFrame>
        <p:nvGraphicFramePr>
          <p:cNvPr id="9" name="Chart 8"/>
          <p:cNvGraphicFramePr>
            <a:graphicFrameLocks noGrp="1"/>
          </p:cNvGraphicFramePr>
          <p:nvPr/>
        </p:nvGraphicFramePr>
        <p:xfrm>
          <a:off x="6309360" y="2057400"/>
          <a:ext cx="5349240" cy="4023360"/>
        </p:xfrm>
        <a:graphic>
          <a:graphicData uri="http://schemas.openxmlformats.org/drawingml/2006/chart">
            <c:chart xmlns:c="http://schemas.openxmlformats.org/drawingml/2006/chart" r:id="rId5"/>
          </a:graphicData>
        </a:graphic>
      </p:graphicFrame>
      <p:sp>
        <p:nvSpPr>
          <p:cNvPr id="10" name="TextBox 9"/>
          <p:cNvSpPr txBox="1"/>
          <p:nvPr/>
        </p:nvSpPr>
        <p:spPr>
          <a:xfrm>
            <a:off x="6309360" y="1691640"/>
            <a:ext cx="5349240" cy="365760"/>
          </a:xfrm>
          <a:prstGeom prst="rect">
            <a:avLst/>
          </a:prstGeom>
          <a:noFill/>
        </p:spPr>
        <p:txBody>
          <a:bodyPr wrap="square" lIns="0" rIns="0" tIns="0" bIns="0" anchor="t">
            <a:spAutoFit/>
          </a:bodyPr>
          <a:lstStyle/>
          <a:p>
            <a:pPr algn="l">
              <a:spcAft>
                <a:spcPts val="600"/>
              </a:spcAft>
            </a:pPr>
            <a:r>
              <a:rPr sz="1600" b="1" i="0">
                <a:solidFill>
                  <a:srgbClr val="111820"/>
                </a:solidFill>
                <a:latin typeface="Calibri"/>
              </a:rPr>
              <a:t>Stage 1 description search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RESULTS · MAIN HYPOTHESIS</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Plate-only collapses as plates degrade; fusion holds up</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10</a:t>
            </a:r>
          </a:p>
        </p:txBody>
      </p:sp>
      <p:graphicFrame>
        <p:nvGraphicFramePr>
          <p:cNvPr id="7" name="Chart 6"/>
          <p:cNvGraphicFramePr>
            <a:graphicFrameLocks noGrp="1"/>
          </p:cNvGraphicFramePr>
          <p:nvPr/>
        </p:nvGraphicFramePr>
        <p:xfrm>
          <a:off x="548640" y="2057400"/>
          <a:ext cx="7680960" cy="4114800"/>
        </p:xfrm>
        <a:graphic>
          <a:graphicData uri="http://schemas.openxmlformats.org/drawingml/2006/chart">
            <c:chart xmlns:c="http://schemas.openxmlformats.org/drawingml/2006/chart" r:id="rId4"/>
          </a:graphicData>
        </a:graphic>
      </p:graphicFrame>
      <p:sp>
        <p:nvSpPr>
          <p:cNvPr id="8" name="TextBox 7"/>
          <p:cNvSpPr txBox="1"/>
          <p:nvPr/>
        </p:nvSpPr>
        <p:spPr>
          <a:xfrm>
            <a:off x="548640" y="1691640"/>
            <a:ext cx="7680960" cy="365760"/>
          </a:xfrm>
          <a:prstGeom prst="rect">
            <a:avLst/>
          </a:prstGeom>
          <a:noFill/>
        </p:spPr>
        <p:txBody>
          <a:bodyPr wrap="square" lIns="0" rIns="0" tIns="0" bIns="0" anchor="t">
            <a:spAutoFit/>
          </a:bodyPr>
          <a:lstStyle/>
          <a:p>
            <a:pPr algn="l">
              <a:spcAft>
                <a:spcPts val="600"/>
              </a:spcAft>
            </a:pPr>
            <a:r>
              <a:rPr sz="1600" b="1" i="0">
                <a:solidFill>
                  <a:srgbClr val="111820"/>
                </a:solidFill>
                <a:latin typeface="Calibri"/>
              </a:rPr>
              <a:t>Cross-camera Re-ID mAP (%) by plate visibility · 300 queries</a:t>
            </a:r>
          </a:p>
        </p:txBody>
      </p:sp>
      <p:sp>
        <p:nvSpPr>
          <p:cNvPr id="9" name="Rounded Rectangle 8"/>
          <p:cNvSpPr/>
          <p:nvPr/>
        </p:nvSpPr>
        <p:spPr>
          <a:xfrm>
            <a:off x="8595360" y="2057400"/>
            <a:ext cx="3063240" cy="4114800"/>
          </a:xfrm>
          <a:prstGeom prst="roundRect">
            <a:avLst>
              <a:gd name="adj" fmla="val 6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8869680" y="2286000"/>
            <a:ext cx="2560320" cy="3840480"/>
          </a:xfrm>
          <a:prstGeom prst="rect">
            <a:avLst/>
          </a:prstGeom>
          <a:noFill/>
        </p:spPr>
        <p:txBody>
          <a:bodyPr wrap="square" lIns="0" rIns="0" tIns="0" bIns="0" anchor="t">
            <a:spAutoFit/>
          </a:bodyPr>
          <a:lstStyle/>
          <a:p>
            <a:pPr algn="l">
              <a:spcAft>
                <a:spcPts val="400"/>
              </a:spcAft>
            </a:pPr>
            <a:r>
              <a:rPr sz="3400" b="1" i="0">
                <a:solidFill>
                  <a:srgbClr val="F2A33A"/>
                </a:solidFill>
                <a:latin typeface="Calibri"/>
              </a:rPr>
              <a:t>100 → 3.6</a:t>
            </a:r>
          </a:p>
          <a:p>
            <a:pPr algn="l">
              <a:spcAft>
                <a:spcPts val="400"/>
              </a:spcAft>
            </a:pPr>
            <a:r>
              <a:rPr sz="1300" b="0" i="0">
                <a:solidFill>
                  <a:srgbClr val="D3DEE2"/>
                </a:solidFill>
                <a:latin typeface="Calibri"/>
              </a:rPr>
              <a:t>plate-only mAP, clear → hidden</a:t>
            </a:r>
          </a:p>
          <a:p>
            <a:pPr algn="l">
              <a:spcAft>
                <a:spcPts val="400"/>
              </a:spcAft>
            </a:pPr>
            <a:r>
              <a:rPr sz="3400" b="1" i="0">
                <a:solidFill>
                  <a:srgbClr val="12A7A1"/>
                </a:solidFill>
                <a:latin typeface="Calibri"/>
              </a:rPr>
              <a:t>63.5</a:t>
            </a:r>
          </a:p>
          <a:p>
            <a:pPr algn="l">
              <a:spcAft>
                <a:spcPts val="400"/>
              </a:spcAft>
            </a:pPr>
            <a:r>
              <a:rPr sz="1300" b="0" i="0">
                <a:solidFill>
                  <a:srgbClr val="D3DEE2"/>
                </a:solidFill>
                <a:latin typeface="Calibri"/>
              </a:rPr>
              <a:t>weighted fusion mAP, partial plates</a:t>
            </a:r>
          </a:p>
          <a:p>
            <a:pPr algn="l">
              <a:spcAft>
                <a:spcPts val="400"/>
              </a:spcAft>
            </a:pPr>
            <a:r>
              <a:rPr sz="3400" b="1" i="0">
                <a:solidFill>
                  <a:srgbClr val="65C95A"/>
                </a:solidFill>
                <a:latin typeface="Calibri"/>
              </a:rPr>
              <a:t>69.5</a:t>
            </a:r>
          </a:p>
          <a:p>
            <a:pPr algn="l">
              <a:spcAft>
                <a:spcPts val="400"/>
              </a:spcAft>
            </a:pPr>
            <a:r>
              <a:rPr sz="1300" b="0" i="0">
                <a:solidFill>
                  <a:srgbClr val="D3DEE2"/>
                </a:solidFill>
                <a:latin typeface="Calibri"/>
              </a:rPr>
              <a:t>weighted fusion mAP, blurred plates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RESULTS · ABLATION, PLATES HIDDEN</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Metric learning is the biggest single gain</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11</a:t>
            </a:r>
          </a:p>
        </p:txBody>
      </p:sp>
      <p:graphicFrame>
        <p:nvGraphicFramePr>
          <p:cNvPr id="7" name="Chart 6"/>
          <p:cNvGraphicFramePr>
            <a:graphicFrameLocks noGrp="1"/>
          </p:cNvGraphicFramePr>
          <p:nvPr/>
        </p:nvGraphicFramePr>
        <p:xfrm>
          <a:off x="548640" y="2057400"/>
          <a:ext cx="7680960" cy="4206240"/>
        </p:xfrm>
        <a:graphic>
          <a:graphicData uri="http://schemas.openxmlformats.org/drawingml/2006/chart">
            <c:chart xmlns:c="http://schemas.openxmlformats.org/drawingml/2006/chart" r:id="rId4"/>
          </a:graphicData>
        </a:graphic>
      </p:graphicFrame>
      <p:sp>
        <p:nvSpPr>
          <p:cNvPr id="8" name="TextBox 7"/>
          <p:cNvSpPr txBox="1"/>
          <p:nvPr/>
        </p:nvSpPr>
        <p:spPr>
          <a:xfrm>
            <a:off x="548640" y="1691640"/>
            <a:ext cx="7680960" cy="365760"/>
          </a:xfrm>
          <a:prstGeom prst="rect">
            <a:avLst/>
          </a:prstGeom>
          <a:noFill/>
        </p:spPr>
        <p:txBody>
          <a:bodyPr wrap="square" lIns="0" rIns="0" tIns="0" bIns="0" anchor="t">
            <a:spAutoFit/>
          </a:bodyPr>
          <a:lstStyle/>
          <a:p>
            <a:pPr algn="l">
              <a:spcAft>
                <a:spcPts val="600"/>
              </a:spcAft>
            </a:pPr>
            <a:r>
              <a:rPr sz="1600" b="1" i="0">
                <a:solidFill>
                  <a:srgbClr val="111820"/>
                </a:solidFill>
                <a:latin typeface="Calibri"/>
              </a:rPr>
              <a:t>Re-ID with plates hidden (%)</a:t>
            </a:r>
          </a:p>
        </p:txBody>
      </p:sp>
      <p:sp>
        <p:nvSpPr>
          <p:cNvPr id="9" name="Rounded Rectangle 8"/>
          <p:cNvSpPr/>
          <p:nvPr/>
        </p:nvSpPr>
        <p:spPr>
          <a:xfrm>
            <a:off x="8595360" y="2057400"/>
            <a:ext cx="3063240" cy="4206240"/>
          </a:xfrm>
          <a:prstGeom prst="roundRect">
            <a:avLst>
              <a:gd name="adj" fmla="val 6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8823960" y="2240280"/>
            <a:ext cx="2651760" cy="365760"/>
          </a:xfrm>
          <a:prstGeom prst="rect">
            <a:avLst/>
          </a:prstGeom>
          <a:noFill/>
        </p:spPr>
        <p:txBody>
          <a:bodyPr wrap="square" lIns="0" rIns="0" tIns="0" bIns="0" anchor="t">
            <a:spAutoFit/>
          </a:bodyPr>
          <a:lstStyle/>
          <a:p>
            <a:pPr algn="l">
              <a:spcAft>
                <a:spcPts val="600"/>
              </a:spcAft>
            </a:pPr>
            <a:r>
              <a:rPr sz="1500" b="1" i="0">
                <a:solidFill>
                  <a:srgbClr val="111820"/>
                </a:solidFill>
                <a:latin typeface="Calibri"/>
              </a:rPr>
              <a:t>Random Forest importances</a:t>
            </a:r>
          </a:p>
        </p:txBody>
      </p:sp>
      <p:sp>
        <p:nvSpPr>
          <p:cNvPr id="11" name="TextBox 10"/>
          <p:cNvSpPr txBox="1"/>
          <p:nvPr/>
        </p:nvSpPr>
        <p:spPr>
          <a:xfrm>
            <a:off x="8823960" y="2743200"/>
            <a:ext cx="2651760" cy="32004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metric cos</a:t>
            </a:r>
          </a:p>
        </p:txBody>
      </p:sp>
      <p:sp>
        <p:nvSpPr>
          <p:cNvPr id="12" name="Rectangle 11"/>
          <p:cNvSpPr/>
          <p:nvPr/>
        </p:nvSpPr>
        <p:spPr>
          <a:xfrm>
            <a:off x="8823960" y="3090672"/>
            <a:ext cx="2377440" cy="256032"/>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3" name="TextBox 12"/>
          <p:cNvSpPr txBox="1"/>
          <p:nvPr/>
        </p:nvSpPr>
        <p:spPr>
          <a:xfrm>
            <a:off x="11247119" y="3035808"/>
            <a:ext cx="548640" cy="320040"/>
          </a:xfrm>
          <a:prstGeom prst="rect">
            <a:avLst/>
          </a:prstGeom>
          <a:noFill/>
        </p:spPr>
        <p:txBody>
          <a:bodyPr wrap="square" lIns="0" rIns="0" tIns="0" bIns="0" anchor="t">
            <a:spAutoFit/>
          </a:bodyPr>
          <a:lstStyle/>
          <a:p>
            <a:pPr algn="l">
              <a:spcAft>
                <a:spcPts val="600"/>
              </a:spcAft>
            </a:pPr>
            <a:r>
              <a:rPr sz="1200" b="1" i="0">
                <a:solidFill>
                  <a:srgbClr val="111820"/>
                </a:solidFill>
                <a:latin typeface="Calibri"/>
              </a:rPr>
              <a:t>0.45</a:t>
            </a:r>
          </a:p>
        </p:txBody>
      </p:sp>
      <p:sp>
        <p:nvSpPr>
          <p:cNvPr id="14" name="TextBox 13"/>
          <p:cNvSpPr txBox="1"/>
          <p:nvPr/>
        </p:nvSpPr>
        <p:spPr>
          <a:xfrm>
            <a:off x="8823960" y="3566160"/>
            <a:ext cx="2651760" cy="32004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plate sim</a:t>
            </a:r>
          </a:p>
        </p:txBody>
      </p:sp>
      <p:sp>
        <p:nvSpPr>
          <p:cNvPr id="15" name="Rectangle 14"/>
          <p:cNvSpPr/>
          <p:nvPr/>
        </p:nvSpPr>
        <p:spPr>
          <a:xfrm>
            <a:off x="8823960" y="3913632"/>
            <a:ext cx="717756" cy="256032"/>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6" name="TextBox 15"/>
          <p:cNvSpPr txBox="1"/>
          <p:nvPr/>
        </p:nvSpPr>
        <p:spPr>
          <a:xfrm>
            <a:off x="9587436" y="3858768"/>
            <a:ext cx="548640" cy="320040"/>
          </a:xfrm>
          <a:prstGeom prst="rect">
            <a:avLst/>
          </a:prstGeom>
          <a:noFill/>
        </p:spPr>
        <p:txBody>
          <a:bodyPr wrap="square" lIns="0" rIns="0" tIns="0" bIns="0" anchor="t">
            <a:spAutoFit/>
          </a:bodyPr>
          <a:lstStyle/>
          <a:p>
            <a:pPr algn="l">
              <a:spcAft>
                <a:spcPts val="600"/>
              </a:spcAft>
            </a:pPr>
            <a:r>
              <a:rPr sz="1200" b="1" i="0">
                <a:solidFill>
                  <a:srgbClr val="111820"/>
                </a:solidFill>
                <a:latin typeface="Calibri"/>
              </a:rPr>
              <a:t>0.13</a:t>
            </a:r>
          </a:p>
        </p:txBody>
      </p:sp>
      <p:sp>
        <p:nvSpPr>
          <p:cNvPr id="17" name="TextBox 16"/>
          <p:cNvSpPr txBox="1"/>
          <p:nvPr/>
        </p:nvSpPr>
        <p:spPr>
          <a:xfrm>
            <a:off x="8823960" y="4389120"/>
            <a:ext cx="2651760" cy="32004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color agree</a:t>
            </a:r>
          </a:p>
        </p:txBody>
      </p:sp>
      <p:sp>
        <p:nvSpPr>
          <p:cNvPr id="18" name="Rectangle 17"/>
          <p:cNvSpPr/>
          <p:nvPr/>
        </p:nvSpPr>
        <p:spPr>
          <a:xfrm>
            <a:off x="8823960" y="4736592"/>
            <a:ext cx="674471" cy="256032"/>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9" name="TextBox 18"/>
          <p:cNvSpPr txBox="1"/>
          <p:nvPr/>
        </p:nvSpPr>
        <p:spPr>
          <a:xfrm>
            <a:off x="9544151" y="4681728"/>
            <a:ext cx="548640" cy="320040"/>
          </a:xfrm>
          <a:prstGeom prst="rect">
            <a:avLst/>
          </a:prstGeom>
          <a:noFill/>
        </p:spPr>
        <p:txBody>
          <a:bodyPr wrap="square" lIns="0" rIns="0" tIns="0" bIns="0" anchor="t">
            <a:spAutoFit/>
          </a:bodyPr>
          <a:lstStyle/>
          <a:p>
            <a:pPr algn="l">
              <a:spcAft>
                <a:spcPts val="600"/>
              </a:spcAft>
            </a:pPr>
            <a:r>
              <a:rPr sz="1200" b="1" i="0">
                <a:solidFill>
                  <a:srgbClr val="111820"/>
                </a:solidFill>
                <a:latin typeface="Calibri"/>
              </a:rPr>
              <a:t>0.13</a:t>
            </a:r>
          </a:p>
        </p:txBody>
      </p:sp>
      <p:sp>
        <p:nvSpPr>
          <p:cNvPr id="20" name="TextBox 19"/>
          <p:cNvSpPr txBox="1"/>
          <p:nvPr/>
        </p:nvSpPr>
        <p:spPr>
          <a:xfrm>
            <a:off x="8823960" y="5212080"/>
            <a:ext cx="2651760" cy="32004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track consist</a:t>
            </a:r>
          </a:p>
        </p:txBody>
      </p:sp>
      <p:sp>
        <p:nvSpPr>
          <p:cNvPr id="21" name="Rectangle 20"/>
          <p:cNvSpPr/>
          <p:nvPr/>
        </p:nvSpPr>
        <p:spPr>
          <a:xfrm>
            <a:off x="8823960" y="5559552"/>
            <a:ext cx="350203" cy="256032"/>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2" name="TextBox 21"/>
          <p:cNvSpPr txBox="1"/>
          <p:nvPr/>
        </p:nvSpPr>
        <p:spPr>
          <a:xfrm>
            <a:off x="9219883" y="5504688"/>
            <a:ext cx="548640" cy="320040"/>
          </a:xfrm>
          <a:prstGeom prst="rect">
            <a:avLst/>
          </a:prstGeom>
          <a:noFill/>
        </p:spPr>
        <p:txBody>
          <a:bodyPr wrap="square" lIns="0" rIns="0" tIns="0" bIns="0" anchor="t">
            <a:spAutoFit/>
          </a:bodyPr>
          <a:lstStyle/>
          <a:p>
            <a:pPr algn="l">
              <a:spcAft>
                <a:spcPts val="600"/>
              </a:spcAft>
            </a:pPr>
            <a:r>
              <a:rPr sz="1200" b="1" i="0">
                <a:solidFill>
                  <a:srgbClr val="111820"/>
                </a:solidFill>
                <a:latin typeface="Calibri"/>
              </a:rPr>
              <a:t>0.07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RESULTS · DEMO FOOTAGE</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Demo footage: vehicles traced camera to camera</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12</a:t>
            </a:r>
          </a:p>
        </p:txBody>
      </p:sp>
      <p:sp>
        <p:nvSpPr>
          <p:cNvPr id="7" name="TextBox 6"/>
          <p:cNvSpPr txBox="1"/>
          <p:nvPr/>
        </p:nvSpPr>
        <p:spPr>
          <a:xfrm>
            <a:off x="548640" y="1783080"/>
            <a:ext cx="2194560" cy="548640"/>
          </a:xfrm>
          <a:prstGeom prst="rect">
            <a:avLst/>
          </a:prstGeom>
          <a:noFill/>
        </p:spPr>
        <p:txBody>
          <a:bodyPr wrap="square" lIns="0" rIns="0" tIns="0" bIns="0" anchor="t">
            <a:spAutoFit/>
          </a:bodyPr>
          <a:lstStyle/>
          <a:p>
            <a:pPr algn="l">
              <a:spcAft>
                <a:spcPts val="600"/>
              </a:spcAft>
            </a:pPr>
            <a:r>
              <a:rPr sz="3200" b="1" i="0">
                <a:solidFill>
                  <a:srgbClr val="0E8782"/>
                </a:solidFill>
                <a:latin typeface="Calibri"/>
              </a:rPr>
              <a:t>38%</a:t>
            </a:r>
          </a:p>
        </p:txBody>
      </p:sp>
      <p:sp>
        <p:nvSpPr>
          <p:cNvPr id="8" name="TextBox 7"/>
          <p:cNvSpPr txBox="1"/>
          <p:nvPr/>
        </p:nvSpPr>
        <p:spPr>
          <a:xfrm>
            <a:off x="548640" y="2350008"/>
            <a:ext cx="3108960" cy="36576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Rank-1, fused (appearance only 24%)</a:t>
            </a:r>
          </a:p>
        </p:txBody>
      </p:sp>
      <p:sp>
        <p:nvSpPr>
          <p:cNvPr id="9" name="TextBox 8"/>
          <p:cNvSpPr txBox="1"/>
          <p:nvPr/>
        </p:nvSpPr>
        <p:spPr>
          <a:xfrm>
            <a:off x="548640" y="2880360"/>
            <a:ext cx="2194560" cy="548640"/>
          </a:xfrm>
          <a:prstGeom prst="rect">
            <a:avLst/>
          </a:prstGeom>
          <a:noFill/>
        </p:spPr>
        <p:txBody>
          <a:bodyPr wrap="square" lIns="0" rIns="0" tIns="0" bIns="0" anchor="t">
            <a:spAutoFit/>
          </a:bodyPr>
          <a:lstStyle/>
          <a:p>
            <a:pPr algn="l">
              <a:spcAft>
                <a:spcPts val="600"/>
              </a:spcAft>
            </a:pPr>
            <a:r>
              <a:rPr sz="3200" b="1" i="0">
                <a:solidFill>
                  <a:srgbClr val="0E8782"/>
                </a:solidFill>
                <a:latin typeface="Calibri"/>
              </a:rPr>
              <a:t>65%</a:t>
            </a:r>
          </a:p>
        </p:txBody>
      </p:sp>
      <p:sp>
        <p:nvSpPr>
          <p:cNvPr id="10" name="TextBox 9"/>
          <p:cNvSpPr txBox="1"/>
          <p:nvPr/>
        </p:nvSpPr>
        <p:spPr>
          <a:xfrm>
            <a:off x="548640" y="3447288"/>
            <a:ext cx="3108960" cy="36576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right car among the 3 shown per camera</a:t>
            </a:r>
          </a:p>
        </p:txBody>
      </p:sp>
      <p:sp>
        <p:nvSpPr>
          <p:cNvPr id="11" name="TextBox 10"/>
          <p:cNvSpPr txBox="1"/>
          <p:nvPr/>
        </p:nvSpPr>
        <p:spPr>
          <a:xfrm>
            <a:off x="548640" y="3977639"/>
            <a:ext cx="2194560" cy="548640"/>
          </a:xfrm>
          <a:prstGeom prst="rect">
            <a:avLst/>
          </a:prstGeom>
          <a:noFill/>
        </p:spPr>
        <p:txBody>
          <a:bodyPr wrap="square" lIns="0" rIns="0" tIns="0" bIns="0" anchor="t">
            <a:spAutoFit/>
          </a:bodyPr>
          <a:lstStyle/>
          <a:p>
            <a:pPr algn="l">
              <a:spcAft>
                <a:spcPts val="600"/>
              </a:spcAft>
            </a:pPr>
            <a:r>
              <a:rPr sz="3200" b="1" i="0">
                <a:solidFill>
                  <a:srgbClr val="0E8782"/>
                </a:solidFill>
                <a:latin typeface="Calibri"/>
              </a:rPr>
              <a:t>70%</a:t>
            </a:r>
          </a:p>
        </p:txBody>
      </p:sp>
      <p:sp>
        <p:nvSpPr>
          <p:cNvPr id="12" name="TextBox 11"/>
          <p:cNvSpPr txBox="1"/>
          <p:nvPr/>
        </p:nvSpPr>
        <p:spPr>
          <a:xfrm>
            <a:off x="548640" y="4544568"/>
            <a:ext cx="3108960" cy="36576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of suggested route steps are correct</a:t>
            </a:r>
          </a:p>
        </p:txBody>
      </p:sp>
      <p:sp>
        <p:nvSpPr>
          <p:cNvPr id="13" name="TextBox 12"/>
          <p:cNvSpPr txBox="1"/>
          <p:nvPr/>
        </p:nvSpPr>
        <p:spPr>
          <a:xfrm>
            <a:off x="548640" y="5074920"/>
            <a:ext cx="2194560" cy="548640"/>
          </a:xfrm>
          <a:prstGeom prst="rect">
            <a:avLst/>
          </a:prstGeom>
          <a:noFill/>
        </p:spPr>
        <p:txBody>
          <a:bodyPr wrap="square" lIns="0" rIns="0" tIns="0" bIns="0" anchor="t">
            <a:spAutoFit/>
          </a:bodyPr>
          <a:lstStyle/>
          <a:p>
            <a:pPr algn="l">
              <a:spcAft>
                <a:spcPts val="600"/>
              </a:spcAft>
            </a:pPr>
            <a:r>
              <a:rPr sz="3200" b="1" i="0">
                <a:solidFill>
                  <a:srgbClr val="0E8782"/>
                </a:solidFill>
                <a:latin typeface="Calibri"/>
              </a:rPr>
              <a:t>19</a:t>
            </a:r>
          </a:p>
        </p:txBody>
      </p:sp>
      <p:sp>
        <p:nvSpPr>
          <p:cNvPr id="14" name="TextBox 13"/>
          <p:cNvSpPr txBox="1"/>
          <p:nvPr/>
        </p:nvSpPr>
        <p:spPr>
          <a:xfrm>
            <a:off x="548640" y="5641848"/>
            <a:ext cx="3108960" cy="365760"/>
          </a:xfrm>
          <a:prstGeom prst="rect">
            <a:avLst/>
          </a:prstGeom>
          <a:noFill/>
        </p:spPr>
        <p:txBody>
          <a:bodyPr wrap="square" lIns="0" rIns="0" tIns="0" bIns="0" anchor="t">
            <a:spAutoFit/>
          </a:bodyPr>
          <a:lstStyle/>
          <a:p>
            <a:pPr algn="l">
              <a:spcAft>
                <a:spcPts val="600"/>
              </a:spcAft>
            </a:pPr>
            <a:r>
              <a:rPr sz="1300" b="0" i="0">
                <a:solidFill>
                  <a:srgbClr val="34454D"/>
                </a:solidFill>
                <a:latin typeface="Calibri"/>
              </a:rPr>
              <a:t>vehicles seen in 2+ of cameras A–C</a:t>
            </a:r>
          </a:p>
        </p:txBody>
      </p:sp>
      <p:pic>
        <p:nvPicPr>
          <p:cNvPr id="15" name="Picture 14" descr="path.png"/>
          <p:cNvPicPr>
            <a:picLocks noChangeAspect="1"/>
          </p:cNvPicPr>
          <p:nvPr/>
        </p:nvPicPr>
        <p:blipFill>
          <a:blip r:embed="rId4"/>
          <a:stretch>
            <a:fillRect/>
          </a:stretch>
        </p:blipFill>
        <p:spPr>
          <a:xfrm>
            <a:off x="4219956" y="1691640"/>
            <a:ext cx="7242048" cy="45262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RESULTS · UNSUPERVISED</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The SOM organises vehicles by type and colour, not identity</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13</a:t>
            </a:r>
          </a:p>
        </p:txBody>
      </p:sp>
      <p:pic>
        <p:nvPicPr>
          <p:cNvPr id="7" name="Picture 6" descr="som_umatrix.png"/>
          <p:cNvPicPr>
            <a:picLocks noChangeAspect="1"/>
          </p:cNvPicPr>
          <p:nvPr/>
        </p:nvPicPr>
        <p:blipFill>
          <a:blip r:embed="rId4"/>
          <a:stretch>
            <a:fillRect/>
          </a:stretch>
        </p:blipFill>
        <p:spPr>
          <a:xfrm>
            <a:off x="662940" y="1691640"/>
            <a:ext cx="4526280" cy="4526280"/>
          </a:xfrm>
          <a:prstGeom prst="rect">
            <a:avLst/>
          </a:prstGeom>
        </p:spPr>
      </p:pic>
      <p:sp>
        <p:nvSpPr>
          <p:cNvPr id="8" name="TextBox 7"/>
          <p:cNvSpPr txBox="1"/>
          <p:nvPr/>
        </p:nvSpPr>
        <p:spPr>
          <a:xfrm>
            <a:off x="5760720" y="1691640"/>
            <a:ext cx="5852160" cy="365760"/>
          </a:xfrm>
          <a:prstGeom prst="rect">
            <a:avLst/>
          </a:prstGeom>
          <a:noFill/>
        </p:spPr>
        <p:txBody>
          <a:bodyPr wrap="square" lIns="0" rIns="0" tIns="0" bIns="0" anchor="t">
            <a:spAutoFit/>
          </a:bodyPr>
          <a:lstStyle/>
          <a:p>
            <a:pPr algn="l">
              <a:spcAft>
                <a:spcPts val="600"/>
              </a:spcAft>
            </a:pPr>
            <a:r>
              <a:rPr sz="1600" b="1" i="0">
                <a:solidFill>
                  <a:srgbClr val="111820"/>
                </a:solidFill>
                <a:latin typeface="Calibri"/>
              </a:rPr>
              <a:t>Node purity (10×10 map)</a:t>
            </a:r>
          </a:p>
        </p:txBody>
      </p:sp>
      <p:sp>
        <p:nvSpPr>
          <p:cNvPr id="9" name="TextBox 8"/>
          <p:cNvSpPr txBox="1"/>
          <p:nvPr/>
        </p:nvSpPr>
        <p:spPr>
          <a:xfrm>
            <a:off x="5760720" y="2194560"/>
            <a:ext cx="1371600" cy="365760"/>
          </a:xfrm>
          <a:prstGeom prst="rect">
            <a:avLst/>
          </a:prstGeom>
          <a:noFill/>
        </p:spPr>
        <p:txBody>
          <a:bodyPr wrap="square" lIns="0" rIns="0" tIns="0" bIns="0" anchor="t">
            <a:spAutoFit/>
          </a:bodyPr>
          <a:lstStyle/>
          <a:p>
            <a:pPr algn="l">
              <a:spcAft>
                <a:spcPts val="600"/>
              </a:spcAft>
            </a:pPr>
            <a:r>
              <a:rPr sz="1500" b="0" i="0">
                <a:solidFill>
                  <a:srgbClr val="34454D"/>
                </a:solidFill>
                <a:latin typeface="Calibri"/>
              </a:rPr>
              <a:t>type</a:t>
            </a:r>
          </a:p>
        </p:txBody>
      </p:sp>
      <p:sp>
        <p:nvSpPr>
          <p:cNvPr id="10" name="Rectangle 9"/>
          <p:cNvSpPr/>
          <p:nvPr/>
        </p:nvSpPr>
        <p:spPr>
          <a:xfrm>
            <a:off x="7132320" y="2249424"/>
            <a:ext cx="2873419" cy="292608"/>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10097179" y="2194560"/>
            <a:ext cx="731520" cy="365760"/>
          </a:xfrm>
          <a:prstGeom prst="rect">
            <a:avLst/>
          </a:prstGeom>
          <a:noFill/>
        </p:spPr>
        <p:txBody>
          <a:bodyPr wrap="square" lIns="0" rIns="0" tIns="0" bIns="0" anchor="t">
            <a:spAutoFit/>
          </a:bodyPr>
          <a:lstStyle/>
          <a:p>
            <a:pPr algn="l">
              <a:spcAft>
                <a:spcPts val="600"/>
              </a:spcAft>
            </a:pPr>
            <a:r>
              <a:rPr sz="1500" b="1" i="0">
                <a:solidFill>
                  <a:srgbClr val="111820"/>
                </a:solidFill>
                <a:latin typeface="Calibri"/>
              </a:rPr>
              <a:t>0.75</a:t>
            </a:r>
          </a:p>
        </p:txBody>
      </p:sp>
      <p:sp>
        <p:nvSpPr>
          <p:cNvPr id="12" name="TextBox 11"/>
          <p:cNvSpPr txBox="1"/>
          <p:nvPr/>
        </p:nvSpPr>
        <p:spPr>
          <a:xfrm>
            <a:off x="5760720" y="2743200"/>
            <a:ext cx="1371600" cy="365760"/>
          </a:xfrm>
          <a:prstGeom prst="rect">
            <a:avLst/>
          </a:prstGeom>
          <a:noFill/>
        </p:spPr>
        <p:txBody>
          <a:bodyPr wrap="square" lIns="0" rIns="0" tIns="0" bIns="0" anchor="t">
            <a:spAutoFit/>
          </a:bodyPr>
          <a:lstStyle/>
          <a:p>
            <a:pPr algn="l">
              <a:spcAft>
                <a:spcPts val="600"/>
              </a:spcAft>
            </a:pPr>
            <a:r>
              <a:rPr sz="1500" b="0" i="0">
                <a:solidFill>
                  <a:srgbClr val="34454D"/>
                </a:solidFill>
                <a:latin typeface="Calibri"/>
              </a:rPr>
              <a:t>colour</a:t>
            </a:r>
          </a:p>
        </p:txBody>
      </p:sp>
      <p:sp>
        <p:nvSpPr>
          <p:cNvPr id="13" name="Rectangle 12"/>
          <p:cNvSpPr/>
          <p:nvPr/>
        </p:nvSpPr>
        <p:spPr>
          <a:xfrm>
            <a:off x="7132320" y="2798064"/>
            <a:ext cx="2572658" cy="292608"/>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4" name="TextBox 13"/>
          <p:cNvSpPr txBox="1"/>
          <p:nvPr/>
        </p:nvSpPr>
        <p:spPr>
          <a:xfrm>
            <a:off x="9796418" y="2743200"/>
            <a:ext cx="731520" cy="365760"/>
          </a:xfrm>
          <a:prstGeom prst="rect">
            <a:avLst/>
          </a:prstGeom>
          <a:noFill/>
        </p:spPr>
        <p:txBody>
          <a:bodyPr wrap="square" lIns="0" rIns="0" tIns="0" bIns="0" anchor="t">
            <a:spAutoFit/>
          </a:bodyPr>
          <a:lstStyle/>
          <a:p>
            <a:pPr algn="l">
              <a:spcAft>
                <a:spcPts val="600"/>
              </a:spcAft>
            </a:pPr>
            <a:r>
              <a:rPr sz="1500" b="1" i="0">
                <a:solidFill>
                  <a:srgbClr val="111820"/>
                </a:solidFill>
                <a:latin typeface="Calibri"/>
              </a:rPr>
              <a:t>0.67</a:t>
            </a:r>
          </a:p>
        </p:txBody>
      </p:sp>
      <p:sp>
        <p:nvSpPr>
          <p:cNvPr id="15" name="TextBox 14"/>
          <p:cNvSpPr txBox="1"/>
          <p:nvPr/>
        </p:nvSpPr>
        <p:spPr>
          <a:xfrm>
            <a:off x="5760720" y="3291839"/>
            <a:ext cx="1371600" cy="365760"/>
          </a:xfrm>
          <a:prstGeom prst="rect">
            <a:avLst/>
          </a:prstGeom>
          <a:noFill/>
        </p:spPr>
        <p:txBody>
          <a:bodyPr wrap="square" lIns="0" rIns="0" tIns="0" bIns="0" anchor="t">
            <a:spAutoFit/>
          </a:bodyPr>
          <a:lstStyle/>
          <a:p>
            <a:pPr algn="l">
              <a:spcAft>
                <a:spcPts val="600"/>
              </a:spcAft>
            </a:pPr>
            <a:r>
              <a:rPr sz="1500" b="0" i="0">
                <a:solidFill>
                  <a:srgbClr val="34454D"/>
                </a:solidFill>
                <a:latin typeface="Calibri"/>
              </a:rPr>
              <a:t>vehicle ID</a:t>
            </a:r>
          </a:p>
        </p:txBody>
      </p:sp>
      <p:sp>
        <p:nvSpPr>
          <p:cNvPr id="16" name="Rectangle 15"/>
          <p:cNvSpPr/>
          <p:nvPr/>
        </p:nvSpPr>
        <p:spPr>
          <a:xfrm>
            <a:off x="7132320" y="3346703"/>
            <a:ext cx="1054975" cy="292608"/>
          </a:xfrm>
          <a:prstGeom prst="rect">
            <a:avLst/>
          </a:prstGeom>
          <a:solidFill>
            <a:srgbClr val="F2A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7" name="TextBox 16"/>
          <p:cNvSpPr txBox="1"/>
          <p:nvPr/>
        </p:nvSpPr>
        <p:spPr>
          <a:xfrm>
            <a:off x="8278735" y="3291839"/>
            <a:ext cx="731520" cy="365760"/>
          </a:xfrm>
          <a:prstGeom prst="rect">
            <a:avLst/>
          </a:prstGeom>
          <a:noFill/>
        </p:spPr>
        <p:txBody>
          <a:bodyPr wrap="square" lIns="0" rIns="0" tIns="0" bIns="0" anchor="t">
            <a:spAutoFit/>
          </a:bodyPr>
          <a:lstStyle/>
          <a:p>
            <a:pPr algn="l">
              <a:spcAft>
                <a:spcPts val="600"/>
              </a:spcAft>
            </a:pPr>
            <a:r>
              <a:rPr sz="1500" b="1" i="0">
                <a:solidFill>
                  <a:srgbClr val="111820"/>
                </a:solidFill>
                <a:latin typeface="Calibri"/>
              </a:rPr>
              <a:t>0.27</a:t>
            </a:r>
          </a:p>
        </p:txBody>
      </p:sp>
      <p:sp>
        <p:nvSpPr>
          <p:cNvPr id="18" name="TextBox 17"/>
          <p:cNvSpPr txBox="1"/>
          <p:nvPr/>
        </p:nvSpPr>
        <p:spPr>
          <a:xfrm>
            <a:off x="5760720" y="4023360"/>
            <a:ext cx="5852160" cy="365760"/>
          </a:xfrm>
          <a:prstGeom prst="rect">
            <a:avLst/>
          </a:prstGeom>
          <a:noFill/>
        </p:spPr>
        <p:txBody>
          <a:bodyPr wrap="square" lIns="0" rIns="0" tIns="0" bIns="0" anchor="t">
            <a:spAutoFit/>
          </a:bodyPr>
          <a:lstStyle/>
          <a:p>
            <a:pPr algn="l">
              <a:spcAft>
                <a:spcPts val="600"/>
              </a:spcAft>
            </a:pPr>
            <a:r>
              <a:rPr sz="1600" b="1" i="0">
                <a:solidFill>
                  <a:srgbClr val="111820"/>
                </a:solidFill>
                <a:latin typeface="Calibri"/>
              </a:rPr>
              <a:t>As a Re-ID pre-filter (plates hidden)</a:t>
            </a:r>
          </a:p>
        </p:txBody>
      </p:sp>
      <p:graphicFrame>
        <p:nvGraphicFramePr>
          <p:cNvPr id="19" name="Table 18"/>
          <p:cNvGraphicFramePr>
            <a:graphicFrameLocks noGrp="1"/>
          </p:cNvGraphicFramePr>
          <p:nvPr/>
        </p:nvGraphicFramePr>
        <p:xfrm>
          <a:off x="5760720" y="4480560"/>
          <a:ext cx="5852160" cy="1463040"/>
        </p:xfrm>
        <a:graphic>
          <a:graphicData uri="http://schemas.openxmlformats.org/drawingml/2006/table">
            <a:tbl>
              <a:tblPr firstRow="1" bandRow="1">
                <a:tableStyleId>{5C22544A-7EE6-4342-B048-85BDC9FD1C3A}</a:tableStyleId>
              </a:tblPr>
              <a:tblGrid>
                <a:gridCol w="1463040"/>
                <a:gridCol w="1463040"/>
                <a:gridCol w="1463040"/>
                <a:gridCol w="1463040"/>
              </a:tblGrid>
              <a:tr h="365760">
                <a:tc>
                  <a:txBody>
                    <a:bodyPr/>
                    <a:lstStyle/>
                    <a:p>
                      <a:r>
                        <a:rPr sz="1400" b="1">
                          <a:solidFill>
                            <a:srgbClr val="FFFFFF"/>
                          </a:solidFill>
                          <a:latin typeface="Calibri"/>
                        </a:rPr>
                        <a:t>radius</a:t>
                      </a:r>
                    </a:p>
                  </a:txBody>
                  <a:tcPr>
                    <a:solidFill>
                      <a:srgbClr val="34454D"/>
                    </a:solidFill>
                  </a:tcPr>
                </a:tc>
                <a:tc>
                  <a:txBody>
                    <a:bodyPr/>
                    <a:lstStyle/>
                    <a:p>
                      <a:r>
                        <a:rPr sz="1400" b="1">
                          <a:solidFill>
                            <a:srgbClr val="FFFFFF"/>
                          </a:solidFill>
                          <a:latin typeface="Calibri"/>
                        </a:rPr>
                        <a:t>kept</a:t>
                      </a:r>
                    </a:p>
                  </a:txBody>
                  <a:tcPr>
                    <a:solidFill>
                      <a:srgbClr val="34454D"/>
                    </a:solidFill>
                  </a:tcPr>
                </a:tc>
                <a:tc>
                  <a:txBody>
                    <a:bodyPr/>
                    <a:lstStyle/>
                    <a:p>
                      <a:r>
                        <a:rPr sz="1400" b="1">
                          <a:solidFill>
                            <a:srgbClr val="FFFFFF"/>
                          </a:solidFill>
                          <a:latin typeface="Calibri"/>
                        </a:rPr>
                        <a:t>true matches kept</a:t>
                      </a:r>
                    </a:p>
                  </a:txBody>
                  <a:tcPr>
                    <a:solidFill>
                      <a:srgbClr val="34454D"/>
                    </a:solidFill>
                  </a:tcPr>
                </a:tc>
                <a:tc>
                  <a:txBody>
                    <a:bodyPr/>
                    <a:lstStyle/>
                    <a:p>
                      <a:r>
                        <a:rPr sz="1400" b="1">
                          <a:solidFill>
                            <a:srgbClr val="FFFFFF"/>
                          </a:solidFill>
                          <a:latin typeface="Calibri"/>
                        </a:rPr>
                        <a:t>mAP</a:t>
                      </a:r>
                    </a:p>
                  </a:txBody>
                  <a:tcPr>
                    <a:solidFill>
                      <a:srgbClr val="34454D"/>
                    </a:solidFill>
                  </a:tcPr>
                </a:tc>
              </a:tr>
              <a:tr h="365760">
                <a:tc>
                  <a:txBody>
                    <a:bodyPr/>
                    <a:lstStyle/>
                    <a:p>
                      <a:r>
                        <a:rPr sz="1400" b="0">
                          <a:solidFill>
                            <a:srgbClr val="111820"/>
                          </a:solidFill>
                          <a:latin typeface="Calibri"/>
                        </a:rPr>
                        <a:t>1</a:t>
                      </a:r>
                    </a:p>
                  </a:txBody>
                  <a:tcPr>
                    <a:solidFill>
                      <a:srgbClr val="EAF7F6"/>
                    </a:solidFill>
                  </a:tcPr>
                </a:tc>
                <a:tc>
                  <a:txBody>
                    <a:bodyPr/>
                    <a:lstStyle/>
                    <a:p>
                      <a:r>
                        <a:rPr sz="1400" b="0">
                          <a:solidFill>
                            <a:srgbClr val="111820"/>
                          </a:solidFill>
                          <a:latin typeface="Calibri"/>
                        </a:rPr>
                        <a:t>7%</a:t>
                      </a:r>
                    </a:p>
                  </a:txBody>
                  <a:tcPr>
                    <a:solidFill>
                      <a:srgbClr val="EAF7F6"/>
                    </a:solidFill>
                  </a:tcPr>
                </a:tc>
                <a:tc>
                  <a:txBody>
                    <a:bodyPr/>
                    <a:lstStyle/>
                    <a:p>
                      <a:r>
                        <a:rPr sz="1400" b="0">
                          <a:solidFill>
                            <a:srgbClr val="111820"/>
                          </a:solidFill>
                          <a:latin typeface="Calibri"/>
                        </a:rPr>
                        <a:t>32%</a:t>
                      </a:r>
                    </a:p>
                  </a:txBody>
                  <a:tcPr>
                    <a:solidFill>
                      <a:srgbClr val="EAF7F6"/>
                    </a:solidFill>
                  </a:tcPr>
                </a:tc>
                <a:tc>
                  <a:txBody>
                    <a:bodyPr/>
                    <a:lstStyle/>
                    <a:p>
                      <a:r>
                        <a:rPr sz="1400" b="0">
                          <a:solidFill>
                            <a:srgbClr val="111820"/>
                          </a:solidFill>
                          <a:latin typeface="Calibri"/>
                        </a:rPr>
                        <a:t>24.6</a:t>
                      </a:r>
                    </a:p>
                  </a:txBody>
                  <a:tcPr>
                    <a:solidFill>
                      <a:srgbClr val="EAF7F6"/>
                    </a:solidFill>
                  </a:tcPr>
                </a:tc>
              </a:tr>
              <a:tr h="365760">
                <a:tc>
                  <a:txBody>
                    <a:bodyPr/>
                    <a:lstStyle/>
                    <a:p>
                      <a:r>
                        <a:rPr sz="1400" b="0">
                          <a:solidFill>
                            <a:srgbClr val="111820"/>
                          </a:solidFill>
                          <a:latin typeface="Calibri"/>
                        </a:rPr>
                        <a:t>2</a:t>
                      </a:r>
                    </a:p>
                  </a:txBody>
                  <a:tcPr>
                    <a:solidFill>
                      <a:srgbClr val="FFFFFF"/>
                    </a:solidFill>
                  </a:tcPr>
                </a:tc>
                <a:tc>
                  <a:txBody>
                    <a:bodyPr/>
                    <a:lstStyle/>
                    <a:p>
                      <a:r>
                        <a:rPr sz="1400" b="0">
                          <a:solidFill>
                            <a:srgbClr val="111820"/>
                          </a:solidFill>
                          <a:latin typeface="Calibri"/>
                        </a:rPr>
                        <a:t>17%</a:t>
                      </a:r>
                    </a:p>
                  </a:txBody>
                  <a:tcPr>
                    <a:solidFill>
                      <a:srgbClr val="FFFFFF"/>
                    </a:solidFill>
                  </a:tcPr>
                </a:tc>
                <a:tc>
                  <a:txBody>
                    <a:bodyPr/>
                    <a:lstStyle/>
                    <a:p>
                      <a:r>
                        <a:rPr sz="1400" b="0">
                          <a:solidFill>
                            <a:srgbClr val="111820"/>
                          </a:solidFill>
                          <a:latin typeface="Calibri"/>
                        </a:rPr>
                        <a:t>44%</a:t>
                      </a:r>
                    </a:p>
                  </a:txBody>
                  <a:tcPr>
                    <a:solidFill>
                      <a:srgbClr val="FFFFFF"/>
                    </a:solidFill>
                  </a:tcPr>
                </a:tc>
                <a:tc>
                  <a:txBody>
                    <a:bodyPr/>
                    <a:lstStyle/>
                    <a:p>
                      <a:r>
                        <a:rPr sz="1400" b="0">
                          <a:solidFill>
                            <a:srgbClr val="111820"/>
                          </a:solidFill>
                          <a:latin typeface="Calibri"/>
                        </a:rPr>
                        <a:t>28.9</a:t>
                      </a:r>
                    </a:p>
                  </a:txBody>
                  <a:tcPr>
                    <a:solidFill>
                      <a:srgbClr val="FFFFFF"/>
                    </a:solidFill>
                  </a:tcPr>
                </a:tc>
              </a:tr>
              <a:tr h="365760">
                <a:tc>
                  <a:txBody>
                    <a:bodyPr/>
                    <a:lstStyle/>
                    <a:p>
                      <a:r>
                        <a:rPr sz="1400" b="0">
                          <a:solidFill>
                            <a:srgbClr val="111820"/>
                          </a:solidFill>
                          <a:latin typeface="Calibri"/>
                        </a:rPr>
                        <a:t>3</a:t>
                      </a:r>
                    </a:p>
                  </a:txBody>
                  <a:tcPr>
                    <a:solidFill>
                      <a:srgbClr val="EAF7F6"/>
                    </a:solidFill>
                  </a:tcPr>
                </a:tc>
                <a:tc>
                  <a:txBody>
                    <a:bodyPr/>
                    <a:lstStyle/>
                    <a:p>
                      <a:r>
                        <a:rPr sz="1400" b="0">
                          <a:solidFill>
                            <a:srgbClr val="111820"/>
                          </a:solidFill>
                          <a:latin typeface="Calibri"/>
                        </a:rPr>
                        <a:t>30%</a:t>
                      </a:r>
                    </a:p>
                  </a:txBody>
                  <a:tcPr>
                    <a:solidFill>
                      <a:srgbClr val="EAF7F6"/>
                    </a:solidFill>
                  </a:tcPr>
                </a:tc>
                <a:tc>
                  <a:txBody>
                    <a:bodyPr/>
                    <a:lstStyle/>
                    <a:p>
                      <a:r>
                        <a:rPr sz="1400" b="0">
                          <a:solidFill>
                            <a:srgbClr val="111820"/>
                          </a:solidFill>
                          <a:latin typeface="Calibri"/>
                        </a:rPr>
                        <a:t>54%</a:t>
                      </a:r>
                    </a:p>
                  </a:txBody>
                  <a:tcPr>
                    <a:solidFill>
                      <a:srgbClr val="EAF7F6"/>
                    </a:solidFill>
                  </a:tcPr>
                </a:tc>
                <a:tc>
                  <a:txBody>
                    <a:bodyPr/>
                    <a:lstStyle/>
                    <a:p>
                      <a:r>
                        <a:rPr sz="1400" b="0">
                          <a:solidFill>
                            <a:srgbClr val="111820"/>
                          </a:solidFill>
                          <a:latin typeface="Calibri"/>
                        </a:rPr>
                        <a:t>31.7</a:t>
                      </a:r>
                    </a:p>
                  </a:txBody>
                  <a:tcPr>
                    <a:solidFill>
                      <a:srgbClr val="EAF7F6"/>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LESSONS LEARNED</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Two pitfalls found — and fixed — during evaluation</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14</a:t>
            </a:r>
          </a:p>
        </p:txBody>
      </p:sp>
      <p:sp>
        <p:nvSpPr>
          <p:cNvPr id="7" name="Rounded Rectangle 6"/>
          <p:cNvSpPr/>
          <p:nvPr/>
        </p:nvSpPr>
        <p:spPr>
          <a:xfrm>
            <a:off x="548640" y="1783080"/>
            <a:ext cx="5394960" cy="4389120"/>
          </a:xfrm>
          <a:prstGeom prst="roundRect">
            <a:avLst>
              <a:gd name="adj" fmla="val 5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Oval 7"/>
          <p:cNvSpPr/>
          <p:nvPr/>
        </p:nvSpPr>
        <p:spPr>
          <a:xfrm>
            <a:off x="822959" y="2011680"/>
            <a:ext cx="548640" cy="54864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FFFFFF"/>
                </a:solidFill>
                <a:latin typeface="Calibri"/>
              </a:rPr>
              <a:t>1</a:t>
            </a:r>
          </a:p>
        </p:txBody>
      </p:sp>
      <p:sp>
        <p:nvSpPr>
          <p:cNvPr id="9" name="TextBox 8"/>
          <p:cNvSpPr txBox="1"/>
          <p:nvPr/>
        </p:nvSpPr>
        <p:spPr>
          <a:xfrm>
            <a:off x="1554480" y="2075688"/>
            <a:ext cx="4206240" cy="457200"/>
          </a:xfrm>
          <a:prstGeom prst="rect">
            <a:avLst/>
          </a:prstGeom>
          <a:noFill/>
        </p:spPr>
        <p:txBody>
          <a:bodyPr wrap="square" lIns="0" rIns="0" tIns="0" bIns="0" anchor="t">
            <a:spAutoFit/>
          </a:bodyPr>
          <a:lstStyle/>
          <a:p>
            <a:pPr algn="l">
              <a:spcAft>
                <a:spcPts val="600"/>
              </a:spcAft>
            </a:pPr>
            <a:r>
              <a:rPr sz="2200" b="1" i="0">
                <a:solidFill>
                  <a:srgbClr val="111820"/>
                </a:solidFill>
                <a:latin typeface="Calibri"/>
              </a:rPr>
              <a:t>Stacking leak</a:t>
            </a:r>
          </a:p>
        </p:txBody>
      </p:sp>
      <p:sp>
        <p:nvSpPr>
          <p:cNvPr id="10" name="TextBox 9"/>
          <p:cNvSpPr txBox="1"/>
          <p:nvPr/>
        </p:nvSpPr>
        <p:spPr>
          <a:xfrm>
            <a:off x="822959" y="2788920"/>
            <a:ext cx="4846320" cy="1005840"/>
          </a:xfrm>
          <a:prstGeom prst="rect">
            <a:avLst/>
          </a:prstGeom>
          <a:noFill/>
        </p:spPr>
        <p:txBody>
          <a:bodyPr wrap="square" lIns="0" rIns="0" tIns="0" bIns="0" anchor="t">
            <a:spAutoFit/>
          </a:bodyPr>
          <a:lstStyle/>
          <a:p>
            <a:pPr algn="l">
              <a:spcAft>
                <a:spcPts val="600"/>
              </a:spcAft>
            </a:pPr>
            <a:r>
              <a:rPr sz="1500" b="1" i="0">
                <a:solidFill>
                  <a:srgbClr val="F2A33A"/>
                </a:solidFill>
                <a:latin typeface="Calibri"/>
              </a:rPr>
              <a:t>Problem  </a:t>
            </a:r>
            <a:r>
              <a:rPr sz="1500" b="0" i="0">
                <a:solidFill>
                  <a:srgbClr val="34454D"/>
                </a:solidFill>
                <a:latin typeface="Calibri"/>
              </a:rPr>
              <a:t>Colour/type features for RF training came from a probe fitted on the same vehicles → near-perfect, over-trusted.</a:t>
            </a:r>
          </a:p>
        </p:txBody>
      </p:sp>
      <p:sp>
        <p:nvSpPr>
          <p:cNvPr id="11" name="TextBox 10"/>
          <p:cNvSpPr txBox="1"/>
          <p:nvPr/>
        </p:nvSpPr>
        <p:spPr>
          <a:xfrm>
            <a:off x="822959" y="3840480"/>
            <a:ext cx="4846320" cy="914400"/>
          </a:xfrm>
          <a:prstGeom prst="rect">
            <a:avLst/>
          </a:prstGeom>
          <a:noFill/>
        </p:spPr>
        <p:txBody>
          <a:bodyPr wrap="square" lIns="0" rIns="0" tIns="0" bIns="0" anchor="t">
            <a:spAutoFit/>
          </a:bodyPr>
          <a:lstStyle/>
          <a:p>
            <a:pPr algn="l">
              <a:spcAft>
                <a:spcPts val="600"/>
              </a:spcAft>
            </a:pPr>
            <a:r>
              <a:rPr sz="1500" b="1" i="0">
                <a:solidFill>
                  <a:srgbClr val="0E8782"/>
                </a:solidFill>
                <a:latin typeface="Calibri"/>
              </a:rPr>
              <a:t>Fix  </a:t>
            </a:r>
            <a:r>
              <a:rPr sz="1500" b="0" i="0">
                <a:solidFill>
                  <a:srgbClr val="34454D"/>
                </a:solidFill>
                <a:latin typeface="Calibri"/>
              </a:rPr>
              <a:t>Out-of-fold probabilities and LDA projections (GroupKFold by vehicle)</a:t>
            </a:r>
          </a:p>
        </p:txBody>
      </p:sp>
      <p:sp>
        <p:nvSpPr>
          <p:cNvPr id="12" name="Rounded Rectangle 11"/>
          <p:cNvSpPr/>
          <p:nvPr/>
        </p:nvSpPr>
        <p:spPr>
          <a:xfrm>
            <a:off x="822959" y="4983480"/>
            <a:ext cx="4846320" cy="868680"/>
          </a:xfrm>
          <a:prstGeom prst="roundRect">
            <a:avLst>
              <a:gd name="adj" fmla="val 15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65C95A"/>
                </a:solidFill>
                <a:latin typeface="Calibri"/>
              </a:rPr>
              <a:t>Rank-1, plates hidden: 38 → 56</a:t>
            </a:r>
          </a:p>
        </p:txBody>
      </p:sp>
      <p:sp>
        <p:nvSpPr>
          <p:cNvPr id="13" name="Rounded Rectangle 12"/>
          <p:cNvSpPr/>
          <p:nvPr/>
        </p:nvSpPr>
        <p:spPr>
          <a:xfrm>
            <a:off x="6172200" y="1783080"/>
            <a:ext cx="5394960" cy="4389120"/>
          </a:xfrm>
          <a:prstGeom prst="roundRect">
            <a:avLst>
              <a:gd name="adj" fmla="val 5000"/>
            </a:avLst>
          </a:prstGeom>
          <a:solidFill>
            <a:srgbClr val="EA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4" name="Oval 13"/>
          <p:cNvSpPr/>
          <p:nvPr/>
        </p:nvSpPr>
        <p:spPr>
          <a:xfrm>
            <a:off x="6446520" y="2011680"/>
            <a:ext cx="548640" cy="54864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800" b="1">
                <a:solidFill>
                  <a:srgbClr val="FFFFFF"/>
                </a:solidFill>
                <a:latin typeface="Calibri"/>
              </a:rPr>
              <a:t>2</a:t>
            </a:r>
          </a:p>
        </p:txBody>
      </p:sp>
      <p:sp>
        <p:nvSpPr>
          <p:cNvPr id="15" name="TextBox 14"/>
          <p:cNvSpPr txBox="1"/>
          <p:nvPr/>
        </p:nvSpPr>
        <p:spPr>
          <a:xfrm>
            <a:off x="7178040" y="2075688"/>
            <a:ext cx="4206240" cy="457200"/>
          </a:xfrm>
          <a:prstGeom prst="rect">
            <a:avLst/>
          </a:prstGeom>
          <a:noFill/>
        </p:spPr>
        <p:txBody>
          <a:bodyPr wrap="square" lIns="0" rIns="0" tIns="0" bIns="0" anchor="t">
            <a:spAutoFit/>
          </a:bodyPr>
          <a:lstStyle/>
          <a:p>
            <a:pPr algn="l">
              <a:spcAft>
                <a:spcPts val="600"/>
              </a:spcAft>
            </a:pPr>
            <a:r>
              <a:rPr sz="2200" b="1" i="0">
                <a:solidFill>
                  <a:srgbClr val="111820"/>
                </a:solidFill>
                <a:latin typeface="Calibri"/>
              </a:rPr>
              <a:t>Non-monotonic splits</a:t>
            </a:r>
          </a:p>
        </p:txBody>
      </p:sp>
      <p:sp>
        <p:nvSpPr>
          <p:cNvPr id="16" name="TextBox 15"/>
          <p:cNvSpPr txBox="1"/>
          <p:nvPr/>
        </p:nvSpPr>
        <p:spPr>
          <a:xfrm>
            <a:off x="6446520" y="2788920"/>
            <a:ext cx="4846320" cy="1005840"/>
          </a:xfrm>
          <a:prstGeom prst="rect">
            <a:avLst/>
          </a:prstGeom>
          <a:noFill/>
        </p:spPr>
        <p:txBody>
          <a:bodyPr wrap="square" lIns="0" rIns="0" tIns="0" bIns="0" anchor="t">
            <a:spAutoFit/>
          </a:bodyPr>
          <a:lstStyle/>
          <a:p>
            <a:pPr algn="l">
              <a:spcAft>
                <a:spcPts val="600"/>
              </a:spcAft>
            </a:pPr>
            <a:r>
              <a:rPr sz="1500" b="1" i="0">
                <a:solidFill>
                  <a:srgbClr val="F2A33A"/>
                </a:solidFill>
                <a:latin typeface="Calibri"/>
              </a:rPr>
              <a:t>Problem  </a:t>
            </a:r>
            <a:r>
              <a:rPr sz="1500" b="0" i="0">
                <a:solidFill>
                  <a:srgbClr val="34454D"/>
                </a:solidFill>
                <a:latin typeface="Calibri"/>
              </a:rPr>
              <a:t>Higher similarity could lower the match score under large viewpoint changes.</a:t>
            </a:r>
          </a:p>
        </p:txBody>
      </p:sp>
      <p:sp>
        <p:nvSpPr>
          <p:cNvPr id="17" name="TextBox 16"/>
          <p:cNvSpPr txBox="1"/>
          <p:nvPr/>
        </p:nvSpPr>
        <p:spPr>
          <a:xfrm>
            <a:off x="6446520" y="3840480"/>
            <a:ext cx="4846320" cy="914400"/>
          </a:xfrm>
          <a:prstGeom prst="rect">
            <a:avLst/>
          </a:prstGeom>
          <a:noFill/>
        </p:spPr>
        <p:txBody>
          <a:bodyPr wrap="square" lIns="0" rIns="0" tIns="0" bIns="0" anchor="t">
            <a:spAutoFit/>
          </a:bodyPr>
          <a:lstStyle/>
          <a:p>
            <a:pPr algn="l">
              <a:spcAft>
                <a:spcPts val="600"/>
              </a:spcAft>
            </a:pPr>
            <a:r>
              <a:rPr sz="1500" b="1" i="0">
                <a:solidFill>
                  <a:srgbClr val="0E8782"/>
                </a:solidFill>
                <a:latin typeface="Calibri"/>
              </a:rPr>
              <a:t>Fix  </a:t>
            </a:r>
            <a:r>
              <a:rPr sz="1500" b="0" i="0">
                <a:solidFill>
                  <a:srgbClr val="34454D"/>
                </a:solidFill>
                <a:latin typeface="Calibri"/>
              </a:rPr>
              <a:t>scikit-learn monotonic constraints on every similarity feature</a:t>
            </a:r>
          </a:p>
        </p:txBody>
      </p:sp>
      <p:sp>
        <p:nvSpPr>
          <p:cNvPr id="18" name="Rounded Rectangle 17"/>
          <p:cNvSpPr/>
          <p:nvPr/>
        </p:nvSpPr>
        <p:spPr>
          <a:xfrm>
            <a:off x="6446520" y="4983480"/>
            <a:ext cx="4846320" cy="868680"/>
          </a:xfrm>
          <a:prstGeom prst="roundRect">
            <a:avLst>
              <a:gd name="adj" fmla="val 15000"/>
            </a:avLst>
          </a:prstGeom>
          <a:solidFill>
            <a:srgbClr val="11182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65C95A"/>
                </a:solidFill>
                <a:latin typeface="Calibri"/>
              </a:rPr>
              <a:t>mAP, plates hidden: 21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SYSTEM DEMONSTRATION</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Live demo: the Streamlit app</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15</a:t>
            </a:r>
          </a:p>
        </p:txBody>
      </p:sp>
      <p:pic>
        <p:nvPicPr>
          <p:cNvPr id="7" name="Picture 6" descr="search.png"/>
          <p:cNvPicPr>
            <a:picLocks noChangeAspect="1"/>
          </p:cNvPicPr>
          <p:nvPr/>
        </p:nvPicPr>
        <p:blipFill>
          <a:blip r:embed="rId4"/>
          <a:stretch>
            <a:fillRect/>
          </a:stretch>
        </p:blipFill>
        <p:spPr>
          <a:xfrm>
            <a:off x="548640" y="2108835"/>
            <a:ext cx="5394959" cy="3371850"/>
          </a:xfrm>
          <a:prstGeom prst="rect">
            <a:avLst/>
          </a:prstGeom>
        </p:spPr>
      </p:pic>
      <p:sp>
        <p:nvSpPr>
          <p:cNvPr id="8" name="TextBox 7"/>
          <p:cNvSpPr txBox="1"/>
          <p:nvPr/>
        </p:nvSpPr>
        <p:spPr>
          <a:xfrm>
            <a:off x="548640" y="5943600"/>
            <a:ext cx="5394960" cy="274320"/>
          </a:xfrm>
          <a:prstGeom prst="rect">
            <a:avLst/>
          </a:prstGeom>
          <a:noFill/>
        </p:spPr>
        <p:txBody>
          <a:bodyPr wrap="square" lIns="0" rIns="0" tIns="0" bIns="0" anchor="t">
            <a:spAutoFit/>
          </a:bodyPr>
          <a:lstStyle/>
          <a:p>
            <a:pPr algn="ctr">
              <a:spcAft>
                <a:spcPts val="600"/>
              </a:spcAft>
            </a:pPr>
            <a:r>
              <a:rPr sz="1300" b="0" i="0">
                <a:solidFill>
                  <a:srgbClr val="60727C"/>
                </a:solidFill>
                <a:latin typeface="Calibri"/>
              </a:rPr>
              <a:t>Stage 1 · describe (red + sedan) → ranked candidates → confirm</a:t>
            </a:r>
          </a:p>
        </p:txBody>
      </p:sp>
      <p:pic>
        <p:nvPicPr>
          <p:cNvPr id="9" name="Picture 8" descr="path.png"/>
          <p:cNvPicPr>
            <a:picLocks noChangeAspect="1"/>
          </p:cNvPicPr>
          <p:nvPr/>
        </p:nvPicPr>
        <p:blipFill>
          <a:blip r:embed="rId5"/>
          <a:stretch>
            <a:fillRect/>
          </a:stretch>
        </p:blipFill>
        <p:spPr>
          <a:xfrm>
            <a:off x="6172200" y="2108835"/>
            <a:ext cx="5394959" cy="3371850"/>
          </a:xfrm>
          <a:prstGeom prst="rect">
            <a:avLst/>
          </a:prstGeom>
        </p:spPr>
      </p:pic>
      <p:sp>
        <p:nvSpPr>
          <p:cNvPr id="10" name="TextBox 9"/>
          <p:cNvSpPr txBox="1"/>
          <p:nvPr/>
        </p:nvSpPr>
        <p:spPr>
          <a:xfrm>
            <a:off x="6172200" y="5943600"/>
            <a:ext cx="5394960" cy="274320"/>
          </a:xfrm>
          <a:prstGeom prst="rect">
            <a:avLst/>
          </a:prstGeom>
          <a:noFill/>
        </p:spPr>
        <p:txBody>
          <a:bodyPr wrap="square" lIns="0" rIns="0" tIns="0" bIns="0" anchor="t">
            <a:spAutoFit/>
          </a:bodyPr>
          <a:lstStyle/>
          <a:p>
            <a:pPr algn="ctr">
              <a:spcAft>
                <a:spcPts val="600"/>
              </a:spcAft>
            </a:pPr>
            <a:r>
              <a:rPr sz="1300" b="0" i="0">
                <a:solidFill>
                  <a:srgbClr val="60727C"/>
                </a:solidFill>
                <a:latin typeface="Calibri"/>
              </a:rPr>
              <a:t>Stage 2 · route confirmed in camA → camB → camC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229600" cy="274320"/>
          </a:xfrm>
          <a:prstGeom prst="rect">
            <a:avLst/>
          </a:prstGeom>
          <a:noFill/>
        </p:spPr>
        <p:txBody>
          <a:bodyPr wrap="square" lIns="0" rIns="0" tIns="0" bIns="0" anchor="t">
            <a:spAutoFit/>
          </a:bodyPr>
          <a:lstStyle/>
          <a:p>
            <a:pPr algn="l">
              <a:spcAft>
                <a:spcPts val="600"/>
              </a:spcAft>
            </a:pPr>
            <a:r>
              <a:rPr sz="1200" b="1" i="0">
                <a:solidFill>
                  <a:srgbClr val="0E8782"/>
                </a:solidFill>
                <a:latin typeface="Calibri"/>
              </a:rPr>
              <a:t>LOOKING AHEAD</a:t>
            </a:r>
          </a:p>
        </p:txBody>
      </p:sp>
      <p:sp>
        <p:nvSpPr>
          <p:cNvPr id="3" name="Title"/>
          <p:cNvSpPr txBox="1"/>
          <p:nvPr/>
        </p:nvSpPr>
        <p:spPr>
          <a:xfrm>
            <a:off x="548640" y="603504"/>
            <a:ext cx="9509760" cy="822960"/>
          </a:xfrm>
          <a:prstGeom prst="rect">
            <a:avLst/>
          </a:prstGeom>
          <a:noFill/>
        </p:spPr>
        <p:txBody>
          <a:bodyPr wrap="square" lIns="0" rIns="0" tIns="0" bIns="0" anchor="t">
            <a:spAutoFit/>
          </a:bodyPr>
          <a:lstStyle/>
          <a:p>
            <a:pPr algn="l">
              <a:spcAft>
                <a:spcPts val="600"/>
              </a:spcAft>
            </a:pPr>
            <a:r>
              <a:rPr sz="3000" b="1" i="0">
                <a:solidFill>
                  <a:srgbClr val="111820"/>
                </a:solidFill>
                <a:latin typeface="Calibri"/>
              </a:rPr>
              <a:t>Limitations and future work</a:t>
            </a:r>
          </a:p>
        </p:txBody>
      </p:sp>
      <p:pic>
        <p:nvPicPr>
          <p:cNvPr id="4" name="Logo" descr="nus_iss_logo.png"/>
          <p:cNvPicPr>
            <a:picLocks noChangeAspect="1"/>
          </p:cNvPicPr>
          <p:nvPr/>
        </p:nvPicPr>
        <p:blipFill>
          <a:blip r:embed="rId2"/>
          <a:stretch>
            <a:fillRect/>
          </a:stretch>
        </p:blipFill>
        <p:spPr>
          <a:xfrm>
            <a:off x="10378440" y="292608"/>
            <a:ext cx="1325880" cy="401253"/>
          </a:xfrm>
          <a:prstGeom prst="rect">
            <a:avLst/>
          </a:prstGeom>
        </p:spPr>
      </p:pic>
      <p:sp>
        <p:nvSpPr>
          <p:cNvPr id="5" name="Footer"/>
          <p:cNvSpPr txBox="1"/>
          <p:nvPr/>
        </p:nvSpPr>
        <p:spPr>
          <a:xfrm>
            <a:off x="548640" y="6446520"/>
            <a:ext cx="5486400" cy="274320"/>
          </a:xfrm>
          <a:prstGeom prst="rect">
            <a:avLst/>
          </a:prstGeom>
          <a:noFill/>
        </p:spPr>
        <p:txBody>
          <a:bodyPr wrap="square" lIns="0" rIns="0" tIns="0" bIns="0" anchor="t">
            <a:spAutoFit/>
          </a:bodyPr>
          <a:lstStyle/>
          <a:p>
            <a:pPr algn="l">
              <a:spcAft>
                <a:spcPts val="600"/>
              </a:spcAft>
            </a:pPr>
            <a:r>
              <a:rPr sz="1000" b="0" i="0">
                <a:solidFill>
                  <a:srgbClr val="60727C"/>
                </a:solidFill>
                <a:latin typeface="Calibri"/>
              </a:rPr>
              <a:t>V-Trace · Group 21 · Gurneet Kaur Bhuller</a:t>
            </a:r>
          </a:p>
        </p:txBody>
      </p:sp>
      <p:sp>
        <p:nvSpPr>
          <p:cNvPr id="6" name="Slide number"/>
          <p:cNvSpPr txBox="1"/>
          <p:nvPr/>
        </p:nvSpPr>
        <p:spPr>
          <a:xfrm>
            <a:off x="11155680" y="6446520"/>
            <a:ext cx="502920" cy="274320"/>
          </a:xfrm>
          <a:prstGeom prst="rect">
            <a:avLst/>
          </a:prstGeom>
          <a:noFill/>
        </p:spPr>
        <p:txBody>
          <a:bodyPr wrap="square" lIns="0" rIns="0" tIns="0" bIns="0" anchor="t">
            <a:spAutoFit/>
          </a:bodyPr>
          <a:lstStyle/>
          <a:p>
            <a:pPr algn="r">
              <a:spcAft>
                <a:spcPts val="600"/>
              </a:spcAft>
            </a:pPr>
            <a:r>
              <a:rPr sz="1000" b="0" i="0">
                <a:solidFill>
                  <a:srgbClr val="60727C"/>
                </a:solidFill>
                <a:latin typeface="Calibri"/>
              </a:rPr>
              <a:t>16</a:t>
            </a:r>
          </a:p>
        </p:txBody>
      </p:sp>
      <p:sp>
        <p:nvSpPr>
          <p:cNvPr id="7" name="Oval 6"/>
          <p:cNvSpPr/>
          <p:nvPr/>
        </p:nvSpPr>
        <p:spPr>
          <a:xfrm>
            <a:off x="548640" y="1783080"/>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1</a:t>
            </a:r>
          </a:p>
        </p:txBody>
      </p:sp>
      <p:sp>
        <p:nvSpPr>
          <p:cNvPr id="8" name="TextBox 7"/>
          <p:cNvSpPr txBox="1"/>
          <p:nvPr/>
        </p:nvSpPr>
        <p:spPr>
          <a:xfrm>
            <a:off x="1280160" y="1801368"/>
            <a:ext cx="2926080" cy="457200"/>
          </a:xfrm>
          <a:prstGeom prst="rect">
            <a:avLst/>
          </a:prstGeom>
          <a:noFill/>
        </p:spPr>
        <p:txBody>
          <a:bodyPr wrap="square" lIns="0" rIns="0" tIns="0" bIns="0" anchor="ctr">
            <a:spAutoFit/>
          </a:bodyPr>
          <a:lstStyle/>
          <a:p>
            <a:pPr algn="l">
              <a:spcAft>
                <a:spcPts val="600"/>
              </a:spcAft>
            </a:pPr>
            <a:r>
              <a:rPr sz="1900" b="1" i="0">
                <a:solidFill>
                  <a:srgbClr val="111820"/>
                </a:solidFill>
                <a:latin typeface="Calibri"/>
              </a:rPr>
              <a:t>Re-ID metric</a:t>
            </a:r>
          </a:p>
        </p:txBody>
      </p:sp>
      <p:sp>
        <p:nvSpPr>
          <p:cNvPr id="9" name="TextBox 8"/>
          <p:cNvSpPr txBox="1"/>
          <p:nvPr/>
        </p:nvSpPr>
        <p:spPr>
          <a:xfrm>
            <a:off x="4206240" y="1801368"/>
            <a:ext cx="7406640" cy="502920"/>
          </a:xfrm>
          <a:prstGeom prst="rect">
            <a:avLst/>
          </a:prstGeom>
          <a:noFill/>
        </p:spPr>
        <p:txBody>
          <a:bodyPr wrap="square" lIns="0" rIns="0" tIns="0" bIns="0" anchor="ctr">
            <a:spAutoFit/>
          </a:bodyPr>
          <a:lstStyle/>
          <a:p>
            <a:pPr algn="l">
              <a:spcAft>
                <a:spcPts val="600"/>
              </a:spcAft>
            </a:pPr>
            <a:r>
              <a:rPr sz="1600" b="0" i="0">
                <a:solidFill>
                  <a:srgbClr val="34454D"/>
                </a:solidFill>
                <a:latin typeface="Calibri"/>
              </a:rPr>
              <a:t>linear LDA on 150 vehicles → all 576 VeRi IDs, triplet-loss fine-tuning</a:t>
            </a:r>
          </a:p>
        </p:txBody>
      </p:sp>
      <p:sp>
        <p:nvSpPr>
          <p:cNvPr id="10" name="Oval 9"/>
          <p:cNvSpPr/>
          <p:nvPr/>
        </p:nvSpPr>
        <p:spPr>
          <a:xfrm>
            <a:off x="548640" y="2651760"/>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2</a:t>
            </a:r>
          </a:p>
        </p:txBody>
      </p:sp>
      <p:sp>
        <p:nvSpPr>
          <p:cNvPr id="11" name="TextBox 10"/>
          <p:cNvSpPr txBox="1"/>
          <p:nvPr/>
        </p:nvSpPr>
        <p:spPr>
          <a:xfrm>
            <a:off x="1280160" y="2670048"/>
            <a:ext cx="2926080" cy="457200"/>
          </a:xfrm>
          <a:prstGeom prst="rect">
            <a:avLst/>
          </a:prstGeom>
          <a:noFill/>
        </p:spPr>
        <p:txBody>
          <a:bodyPr wrap="square" lIns="0" rIns="0" tIns="0" bIns="0" anchor="ctr">
            <a:spAutoFit/>
          </a:bodyPr>
          <a:lstStyle/>
          <a:p>
            <a:pPr algn="l">
              <a:spcAft>
                <a:spcPts val="600"/>
              </a:spcAft>
            </a:pPr>
            <a:r>
              <a:rPr sz="1900" b="1" i="0">
                <a:solidFill>
                  <a:srgbClr val="111820"/>
                </a:solidFill>
                <a:latin typeface="Calibri"/>
              </a:rPr>
              <a:t>Plates</a:t>
            </a:r>
          </a:p>
        </p:txBody>
      </p:sp>
      <p:sp>
        <p:nvSpPr>
          <p:cNvPr id="12" name="TextBox 11"/>
          <p:cNvSpPr txBox="1"/>
          <p:nvPr/>
        </p:nvSpPr>
        <p:spPr>
          <a:xfrm>
            <a:off x="4206240" y="2670048"/>
            <a:ext cx="7406640" cy="502920"/>
          </a:xfrm>
          <a:prstGeom prst="rect">
            <a:avLst/>
          </a:prstGeom>
          <a:noFill/>
        </p:spPr>
        <p:txBody>
          <a:bodyPr wrap="square" lIns="0" rIns="0" tIns="0" bIns="0" anchor="ctr">
            <a:spAutoFit/>
          </a:bodyPr>
          <a:lstStyle/>
          <a:p>
            <a:pPr algn="l">
              <a:spcAft>
                <a:spcPts val="600"/>
              </a:spcAft>
            </a:pPr>
            <a:r>
              <a:rPr sz="1600" b="0" i="0">
                <a:solidFill>
                  <a:srgbClr val="34454D"/>
                </a:solidFill>
                <a:latin typeface="Calibri"/>
              </a:rPr>
              <a:t>synthetic plate strings; OCR on whole crops → plate detector + real plate data</a:t>
            </a:r>
          </a:p>
        </p:txBody>
      </p:sp>
      <p:sp>
        <p:nvSpPr>
          <p:cNvPr id="13" name="Oval 12"/>
          <p:cNvSpPr/>
          <p:nvPr/>
        </p:nvSpPr>
        <p:spPr>
          <a:xfrm>
            <a:off x="548640" y="3520439"/>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3</a:t>
            </a:r>
          </a:p>
        </p:txBody>
      </p:sp>
      <p:sp>
        <p:nvSpPr>
          <p:cNvPr id="14" name="TextBox 13"/>
          <p:cNvSpPr txBox="1"/>
          <p:nvPr/>
        </p:nvSpPr>
        <p:spPr>
          <a:xfrm>
            <a:off x="1280160" y="3538727"/>
            <a:ext cx="2926080" cy="457200"/>
          </a:xfrm>
          <a:prstGeom prst="rect">
            <a:avLst/>
          </a:prstGeom>
          <a:noFill/>
        </p:spPr>
        <p:txBody>
          <a:bodyPr wrap="square" lIns="0" rIns="0" tIns="0" bIns="0" anchor="ctr">
            <a:spAutoFit/>
          </a:bodyPr>
          <a:lstStyle/>
          <a:p>
            <a:pPr algn="l">
              <a:spcAft>
                <a:spcPts val="600"/>
              </a:spcAft>
            </a:pPr>
            <a:r>
              <a:rPr sz="1900" b="1" i="0">
                <a:solidFill>
                  <a:srgbClr val="111820"/>
                </a:solidFill>
                <a:latin typeface="Calibri"/>
              </a:rPr>
              <a:t>Learned fusion</a:t>
            </a:r>
          </a:p>
        </p:txBody>
      </p:sp>
      <p:sp>
        <p:nvSpPr>
          <p:cNvPr id="15" name="TextBox 14"/>
          <p:cNvSpPr txBox="1"/>
          <p:nvPr/>
        </p:nvSpPr>
        <p:spPr>
          <a:xfrm>
            <a:off x="4206240" y="3538727"/>
            <a:ext cx="7406640" cy="502920"/>
          </a:xfrm>
          <a:prstGeom prst="rect">
            <a:avLst/>
          </a:prstGeom>
          <a:noFill/>
        </p:spPr>
        <p:txBody>
          <a:bodyPr wrap="square" lIns="0" rIns="0" tIns="0" bIns="0" anchor="ctr">
            <a:spAutoFit/>
          </a:bodyPr>
          <a:lstStyle/>
          <a:p>
            <a:pPr algn="l">
              <a:spcAft>
                <a:spcPts val="600"/>
              </a:spcAft>
            </a:pPr>
            <a:r>
              <a:rPr sz="1600" b="0" i="0">
                <a:solidFill>
                  <a:srgbClr val="34454D"/>
                </a:solidFill>
                <a:latin typeface="Calibri"/>
              </a:rPr>
              <a:t>pairwise classifier → learning-to-rank, validation split for model choice</a:t>
            </a:r>
          </a:p>
        </p:txBody>
      </p:sp>
      <p:sp>
        <p:nvSpPr>
          <p:cNvPr id="16" name="Oval 15"/>
          <p:cNvSpPr/>
          <p:nvPr/>
        </p:nvSpPr>
        <p:spPr>
          <a:xfrm>
            <a:off x="548640" y="4389120"/>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4</a:t>
            </a:r>
          </a:p>
        </p:txBody>
      </p:sp>
      <p:sp>
        <p:nvSpPr>
          <p:cNvPr id="17" name="TextBox 16"/>
          <p:cNvSpPr txBox="1"/>
          <p:nvPr/>
        </p:nvSpPr>
        <p:spPr>
          <a:xfrm>
            <a:off x="1280160" y="4407407"/>
            <a:ext cx="2926080" cy="457200"/>
          </a:xfrm>
          <a:prstGeom prst="rect">
            <a:avLst/>
          </a:prstGeom>
          <a:noFill/>
        </p:spPr>
        <p:txBody>
          <a:bodyPr wrap="square" lIns="0" rIns="0" tIns="0" bIns="0" anchor="ctr">
            <a:spAutoFit/>
          </a:bodyPr>
          <a:lstStyle/>
          <a:p>
            <a:pPr algn="l">
              <a:spcAft>
                <a:spcPts val="600"/>
              </a:spcAft>
            </a:pPr>
            <a:r>
              <a:rPr sz="1900" b="1" i="0">
                <a:solidFill>
                  <a:srgbClr val="111820"/>
                </a:solidFill>
                <a:latin typeface="Calibri"/>
              </a:rPr>
              <a:t>Demo footage</a:t>
            </a:r>
          </a:p>
        </p:txBody>
      </p:sp>
      <p:sp>
        <p:nvSpPr>
          <p:cNvPr id="18" name="TextBox 17"/>
          <p:cNvSpPr txBox="1"/>
          <p:nvPr/>
        </p:nvSpPr>
        <p:spPr>
          <a:xfrm>
            <a:off x="4206240" y="4407407"/>
            <a:ext cx="7406640" cy="502920"/>
          </a:xfrm>
          <a:prstGeom prst="rect">
            <a:avLst/>
          </a:prstGeom>
          <a:noFill/>
        </p:spPr>
        <p:txBody>
          <a:bodyPr wrap="square" lIns="0" rIns="0" tIns="0" bIns="0" anchor="ctr">
            <a:spAutoFit/>
          </a:bodyPr>
          <a:lstStyle/>
          <a:p>
            <a:pPr algn="l">
              <a:spcAft>
                <a:spcPts val="600"/>
              </a:spcAft>
            </a:pPr>
            <a:r>
              <a:rPr sz="1600" b="0" i="0">
                <a:solidFill>
                  <a:srgbClr val="34454D"/>
                </a:solidFill>
                <a:latin typeface="Calibri"/>
              </a:rPr>
              <a:t>three zones of one recording → separate physical cameras (e.g. CityFlow)</a:t>
            </a:r>
          </a:p>
        </p:txBody>
      </p:sp>
      <p:sp>
        <p:nvSpPr>
          <p:cNvPr id="19" name="Oval 18"/>
          <p:cNvSpPr/>
          <p:nvPr/>
        </p:nvSpPr>
        <p:spPr>
          <a:xfrm>
            <a:off x="548640" y="5257800"/>
            <a:ext cx="502920" cy="502920"/>
          </a:xfrm>
          <a:prstGeom prst="ellipse">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FFFFFF"/>
                </a:solidFill>
                <a:latin typeface="Calibri"/>
              </a:rPr>
              <a:t>5</a:t>
            </a:r>
          </a:p>
        </p:txBody>
      </p:sp>
      <p:sp>
        <p:nvSpPr>
          <p:cNvPr id="20" name="TextBox 19"/>
          <p:cNvSpPr txBox="1"/>
          <p:nvPr/>
        </p:nvSpPr>
        <p:spPr>
          <a:xfrm>
            <a:off x="1280160" y="5276088"/>
            <a:ext cx="2926080" cy="457200"/>
          </a:xfrm>
          <a:prstGeom prst="rect">
            <a:avLst/>
          </a:prstGeom>
          <a:noFill/>
        </p:spPr>
        <p:txBody>
          <a:bodyPr wrap="square" lIns="0" rIns="0" tIns="0" bIns="0" anchor="ctr">
            <a:spAutoFit/>
          </a:bodyPr>
          <a:lstStyle/>
          <a:p>
            <a:pPr algn="l">
              <a:spcAft>
                <a:spcPts val="600"/>
              </a:spcAft>
            </a:pPr>
            <a:r>
              <a:rPr sz="1900" b="1" i="0">
                <a:solidFill>
                  <a:srgbClr val="111820"/>
                </a:solidFill>
                <a:latin typeface="Calibri"/>
              </a:rPr>
              <a:t>Deployment</a:t>
            </a:r>
          </a:p>
        </p:txBody>
      </p:sp>
      <p:sp>
        <p:nvSpPr>
          <p:cNvPr id="21" name="TextBox 20"/>
          <p:cNvSpPr txBox="1"/>
          <p:nvPr/>
        </p:nvSpPr>
        <p:spPr>
          <a:xfrm>
            <a:off x="4206240" y="5276088"/>
            <a:ext cx="7406640" cy="502920"/>
          </a:xfrm>
          <a:prstGeom prst="rect">
            <a:avLst/>
          </a:prstGeom>
          <a:noFill/>
        </p:spPr>
        <p:txBody>
          <a:bodyPr wrap="square" lIns="0" rIns="0" tIns="0" bIns="0" anchor="ctr">
            <a:spAutoFit/>
          </a:bodyPr>
          <a:lstStyle/>
          <a:p>
            <a:pPr algn="l">
              <a:spcAft>
                <a:spcPts val="600"/>
              </a:spcAft>
            </a:pPr>
            <a:r>
              <a:rPr sz="1600" b="0" i="0">
                <a:solidFill>
                  <a:srgbClr val="34454D"/>
                </a:solidFill>
                <a:latin typeface="Calibri"/>
              </a:rPr>
              <a:t>uploaded files → live RTSP streams; travel-time priors between cameras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820"/>
        </a:solidFill>
        <a:effectLst/>
      </p:bgPr>
    </p:bg>
    <p:spTree>
      <p:nvGrpSpPr>
        <p:cNvPr id="1" name=""/>
        <p:cNvGrpSpPr/>
        <p:nvPr/>
      </p:nvGrpSpPr>
      <p:grpSpPr/>
      <p:sp>
        <p:nvSpPr>
          <p:cNvPr id="2" name="Rounded Rectangle 1"/>
          <p:cNvSpPr/>
          <p:nvPr/>
        </p:nvSpPr>
        <p:spPr>
          <a:xfrm>
            <a:off x="640080" y="548640"/>
            <a:ext cx="2514600" cy="82296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pic>
        <p:nvPicPr>
          <p:cNvPr id="3" name="Picture 2" descr="nus_iss_logo.png"/>
          <p:cNvPicPr>
            <a:picLocks noChangeAspect="1"/>
          </p:cNvPicPr>
          <p:nvPr/>
        </p:nvPicPr>
        <p:blipFill>
          <a:blip r:embed="rId3"/>
          <a:stretch>
            <a:fillRect/>
          </a:stretch>
        </p:blipFill>
        <p:spPr>
          <a:xfrm>
            <a:off x="713232" y="603504"/>
            <a:ext cx="2377440" cy="719488"/>
          </a:xfrm>
          <a:prstGeom prst="rect">
            <a:avLst/>
          </a:prstGeom>
        </p:spPr>
      </p:pic>
      <p:sp>
        <p:nvSpPr>
          <p:cNvPr id="4" name="TextBox 3"/>
          <p:cNvSpPr txBox="1"/>
          <p:nvPr/>
        </p:nvSpPr>
        <p:spPr>
          <a:xfrm>
            <a:off x="640080" y="1737360"/>
            <a:ext cx="10515600" cy="731520"/>
          </a:xfrm>
          <a:prstGeom prst="rect">
            <a:avLst/>
          </a:prstGeom>
          <a:noFill/>
        </p:spPr>
        <p:txBody>
          <a:bodyPr wrap="square" lIns="0" rIns="0" tIns="0" bIns="0" anchor="t">
            <a:spAutoFit/>
          </a:bodyPr>
          <a:lstStyle/>
          <a:p>
            <a:pPr algn="l">
              <a:spcAft>
                <a:spcPts val="600"/>
              </a:spcAft>
            </a:pPr>
            <a:r>
              <a:rPr sz="4000" b="1" i="0">
                <a:solidFill>
                  <a:srgbClr val="FFFFFF"/>
                </a:solidFill>
                <a:latin typeface="Calibri"/>
              </a:rPr>
              <a:t>Conclusion</a:t>
            </a:r>
          </a:p>
        </p:txBody>
      </p:sp>
      <p:sp>
        <p:nvSpPr>
          <p:cNvPr id="5" name="TextBox 4"/>
          <p:cNvSpPr txBox="1"/>
          <p:nvPr/>
        </p:nvSpPr>
        <p:spPr>
          <a:xfrm>
            <a:off x="640080" y="2743200"/>
            <a:ext cx="3474720" cy="731520"/>
          </a:xfrm>
          <a:prstGeom prst="rect">
            <a:avLst/>
          </a:prstGeom>
          <a:noFill/>
        </p:spPr>
        <p:txBody>
          <a:bodyPr wrap="square" lIns="0" rIns="0" tIns="0" bIns="0" anchor="t">
            <a:spAutoFit/>
          </a:bodyPr>
          <a:lstStyle/>
          <a:p>
            <a:pPr algn="l">
              <a:spcAft>
                <a:spcPts val="600"/>
              </a:spcAft>
            </a:pPr>
            <a:r>
              <a:rPr sz="4000" b="1" i="0">
                <a:solidFill>
                  <a:srgbClr val="65C95A"/>
                </a:solidFill>
                <a:latin typeface="Calibri"/>
              </a:rPr>
              <a:t>84%</a:t>
            </a:r>
          </a:p>
        </p:txBody>
      </p:sp>
      <p:sp>
        <p:nvSpPr>
          <p:cNvPr id="6" name="TextBox 5"/>
          <p:cNvSpPr txBox="1"/>
          <p:nvPr/>
        </p:nvSpPr>
        <p:spPr>
          <a:xfrm>
            <a:off x="640080" y="3566160"/>
            <a:ext cx="3291840" cy="914400"/>
          </a:xfrm>
          <a:prstGeom prst="rect">
            <a:avLst/>
          </a:prstGeom>
          <a:noFill/>
        </p:spPr>
        <p:txBody>
          <a:bodyPr wrap="square" lIns="0" rIns="0" tIns="0" bIns="0" anchor="t">
            <a:spAutoFit/>
          </a:bodyPr>
          <a:lstStyle/>
          <a:p>
            <a:pPr algn="l">
              <a:spcAft>
                <a:spcPts val="600"/>
              </a:spcAft>
            </a:pPr>
            <a:r>
              <a:rPr sz="1500" b="0" i="0">
                <a:solidFill>
                  <a:srgbClr val="D3DEE2"/>
                </a:solidFill>
                <a:latin typeface="Calibri"/>
              </a:rPr>
              <a:t>right vehicle in the top 5 from colour + type + partial plate</a:t>
            </a:r>
          </a:p>
        </p:txBody>
      </p:sp>
      <p:sp>
        <p:nvSpPr>
          <p:cNvPr id="7" name="TextBox 6"/>
          <p:cNvSpPr txBox="1"/>
          <p:nvPr/>
        </p:nvSpPr>
        <p:spPr>
          <a:xfrm>
            <a:off x="4389120" y="2743200"/>
            <a:ext cx="3474720" cy="731520"/>
          </a:xfrm>
          <a:prstGeom prst="rect">
            <a:avLst/>
          </a:prstGeom>
          <a:noFill/>
        </p:spPr>
        <p:txBody>
          <a:bodyPr wrap="square" lIns="0" rIns="0" tIns="0" bIns="0" anchor="t">
            <a:spAutoFit/>
          </a:bodyPr>
          <a:lstStyle/>
          <a:p>
            <a:pPr algn="l">
              <a:spcAft>
                <a:spcPts val="600"/>
              </a:spcAft>
            </a:pPr>
            <a:r>
              <a:rPr sz="4000" b="1" i="0">
                <a:solidFill>
                  <a:srgbClr val="F2A33A"/>
                </a:solidFill>
                <a:latin typeface="Calibri"/>
              </a:rPr>
              <a:t>100 → 3.6</a:t>
            </a:r>
          </a:p>
        </p:txBody>
      </p:sp>
      <p:sp>
        <p:nvSpPr>
          <p:cNvPr id="8" name="TextBox 7"/>
          <p:cNvSpPr txBox="1"/>
          <p:nvPr/>
        </p:nvSpPr>
        <p:spPr>
          <a:xfrm>
            <a:off x="4389120" y="3566160"/>
            <a:ext cx="3291840" cy="914400"/>
          </a:xfrm>
          <a:prstGeom prst="rect">
            <a:avLst/>
          </a:prstGeom>
          <a:noFill/>
        </p:spPr>
        <p:txBody>
          <a:bodyPr wrap="square" lIns="0" rIns="0" tIns="0" bIns="0" anchor="t">
            <a:spAutoFit/>
          </a:bodyPr>
          <a:lstStyle/>
          <a:p>
            <a:pPr algn="l">
              <a:spcAft>
                <a:spcPts val="600"/>
              </a:spcAft>
            </a:pPr>
            <a:r>
              <a:rPr sz="1500" b="0" i="0">
                <a:solidFill>
                  <a:srgbClr val="D3DEE2"/>
                </a:solidFill>
                <a:latin typeface="Calibri"/>
              </a:rPr>
              <a:t>plate-only mAP as plates degrade; fusion stays ≥ appearance</a:t>
            </a:r>
          </a:p>
        </p:txBody>
      </p:sp>
      <p:sp>
        <p:nvSpPr>
          <p:cNvPr id="9" name="TextBox 8"/>
          <p:cNvSpPr txBox="1"/>
          <p:nvPr/>
        </p:nvSpPr>
        <p:spPr>
          <a:xfrm>
            <a:off x="8138159" y="2743200"/>
            <a:ext cx="3474720" cy="731520"/>
          </a:xfrm>
          <a:prstGeom prst="rect">
            <a:avLst/>
          </a:prstGeom>
          <a:noFill/>
        </p:spPr>
        <p:txBody>
          <a:bodyPr wrap="square" lIns="0" rIns="0" tIns="0" bIns="0" anchor="t">
            <a:spAutoFit/>
          </a:bodyPr>
          <a:lstStyle/>
          <a:p>
            <a:pPr algn="l">
              <a:spcAft>
                <a:spcPts val="600"/>
              </a:spcAft>
            </a:pPr>
            <a:r>
              <a:rPr sz="4000" b="1" i="0">
                <a:solidFill>
                  <a:srgbClr val="65C95A"/>
                </a:solidFill>
                <a:latin typeface="Calibri"/>
              </a:rPr>
              <a:t>27 → 48</a:t>
            </a:r>
          </a:p>
        </p:txBody>
      </p:sp>
      <p:sp>
        <p:nvSpPr>
          <p:cNvPr id="10" name="TextBox 9"/>
          <p:cNvSpPr txBox="1"/>
          <p:nvPr/>
        </p:nvSpPr>
        <p:spPr>
          <a:xfrm>
            <a:off x="8138159" y="3566160"/>
            <a:ext cx="3291840" cy="914400"/>
          </a:xfrm>
          <a:prstGeom prst="rect">
            <a:avLst/>
          </a:prstGeom>
          <a:noFill/>
        </p:spPr>
        <p:txBody>
          <a:bodyPr wrap="square" lIns="0" rIns="0" tIns="0" bIns="0" anchor="t">
            <a:spAutoFit/>
          </a:bodyPr>
          <a:lstStyle/>
          <a:p>
            <a:pPr algn="l">
              <a:spcAft>
                <a:spcPts val="600"/>
              </a:spcAft>
            </a:pPr>
            <a:r>
              <a:rPr sz="1500" b="0" i="0">
                <a:solidFill>
                  <a:srgbClr val="D3DEE2"/>
                </a:solidFill>
                <a:latin typeface="Calibri"/>
              </a:rPr>
              <a:t>Re-ID mAP, plates hidden, after learning a metric from 150 vehicles</a:t>
            </a:r>
          </a:p>
        </p:txBody>
      </p:sp>
      <p:sp>
        <p:nvSpPr>
          <p:cNvPr id="11" name="TextBox 10"/>
          <p:cNvSpPr txBox="1"/>
          <p:nvPr/>
        </p:nvSpPr>
        <p:spPr>
          <a:xfrm>
            <a:off x="640080" y="5029200"/>
            <a:ext cx="10789920" cy="548640"/>
          </a:xfrm>
          <a:prstGeom prst="rect">
            <a:avLst/>
          </a:prstGeom>
          <a:noFill/>
        </p:spPr>
        <p:txBody>
          <a:bodyPr wrap="square" lIns="0" rIns="0" tIns="0" bIns="0" anchor="t">
            <a:spAutoFit/>
          </a:bodyPr>
          <a:lstStyle/>
          <a:p>
            <a:pPr algn="l">
              <a:spcAft>
                <a:spcPts val="600"/>
              </a:spcAft>
            </a:pPr>
            <a:r>
              <a:rPr sz="2000" b="1" i="0">
                <a:solidFill>
                  <a:srgbClr val="B8E9E6"/>
                </a:solidFill>
                <a:latin typeface="Calibri"/>
              </a:rPr>
              <a:t>Ranked, evidence-backed sightings for human review — never an identity claim.</a:t>
            </a:r>
          </a:p>
        </p:txBody>
      </p:sp>
      <p:sp>
        <p:nvSpPr>
          <p:cNvPr id="12" name="TextBox 11"/>
          <p:cNvSpPr txBox="1"/>
          <p:nvPr/>
        </p:nvSpPr>
        <p:spPr>
          <a:xfrm>
            <a:off x="640080" y="5852160"/>
            <a:ext cx="10789920" cy="457200"/>
          </a:xfrm>
          <a:prstGeom prst="rect">
            <a:avLst/>
          </a:prstGeom>
          <a:noFill/>
        </p:spPr>
        <p:txBody>
          <a:bodyPr wrap="square" lIns="0" rIns="0" tIns="0" bIns="0" anchor="t">
            <a:spAutoFit/>
          </a:bodyPr>
          <a:lstStyle/>
          <a:p>
            <a:pPr algn="l">
              <a:spcAft>
                <a:spcPts val="600"/>
              </a:spcAft>
            </a:pPr>
            <a:r>
              <a:rPr sz="1600" b="0" i="0">
                <a:solidFill>
                  <a:srgbClr val="FFFFFF"/>
                </a:solidFill>
                <a:latin typeface="Calibri"/>
              </a:rPr>
              <a:t>Thank you · Questions?    github.com/GurneetKB/V-Trace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