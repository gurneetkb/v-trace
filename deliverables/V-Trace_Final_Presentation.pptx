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CLIP zero-shot</c:v>
                </c:pt>
              </c:strCache>
            </c:strRef>
          </c:tx>
          <c:spPr>
            <a:solidFill>
              <a:srgbClr val="B9C3CC"/>
            </a:solidFill>
          </c:spPr>
          <c:cat>
            <c:strRef>
              <c:f>Sheet1!$A$2:$A$3</c:f>
              <c:strCache>
                <c:ptCount val="2"/>
                <c:pt idx="0">
                  <c:v>Colour</c:v>
                </c:pt>
                <c:pt idx="1">
                  <c:v>Type</c:v>
                </c:pt>
              </c:strCache>
            </c:strRef>
          </c:cat>
          <c:val>
            <c:numRef>
              <c:f>Sheet1!$B$2:$B$3</c:f>
              <c:numCache>
                <c:formatCode>General</c:formatCode>
                <c:ptCount val="2"/>
                <c:pt idx="0">
                  <c:v>67.0</c:v>
                </c:pt>
                <c:pt idx="1">
                  <c:v>38.3</c:v>
                </c:pt>
              </c:numCache>
            </c:numRef>
          </c:val>
        </c:ser>
        <c:ser>
          <c:idx val="1"/>
          <c:order val="1"/>
          <c:tx>
            <c:strRef>
              <c:f>Sheet1!$C$1</c:f>
              <c:strCache>
                <c:ptCount val="1"/>
                <c:pt idx="0">
                  <c:v>Supervised probe</c:v>
                </c:pt>
              </c:strCache>
            </c:strRef>
          </c:tx>
          <c:spPr>
            <a:solidFill>
              <a:srgbClr val="12A7A1"/>
            </a:solidFill>
          </c:spPr>
          <c:cat>
            <c:strRef>
              <c:f>Sheet1!$A$2:$A$3</c:f>
              <c:strCache>
                <c:ptCount val="2"/>
                <c:pt idx="0">
                  <c:v>Colour</c:v>
                </c:pt>
                <c:pt idx="1">
                  <c:v>Type</c:v>
                </c:pt>
              </c:strCache>
            </c:strRef>
          </c:cat>
          <c:val>
            <c:numRef>
              <c:f>Sheet1!$C$2:$C$3</c:f>
              <c:numCache>
                <c:formatCode>General</c:formatCode>
                <c:ptCount val="2"/>
                <c:pt idx="0">
                  <c:v>72.9</c:v>
                </c:pt>
                <c:pt idx="1">
                  <c:v>79.3</c:v>
                </c:pt>
              </c:numCache>
            </c:numRef>
          </c:val>
        </c:ser>
        <c:dLbls>
          <c:numFmt formatCode="0" sourceLinked="0"/>
          <c:txPr>
            <a:bodyPr/>
            <a:lstStyle/>
            <a:p>
              <a:pPr>
                <a:defRPr sz="1100">
                  <a:solidFill>
                    <a:srgbClr val="2B333C"/>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6DEE6"/>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6EBEF"/>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B333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Rank-1</c:v>
                </c:pt>
              </c:strCache>
            </c:strRef>
          </c:tx>
          <c:spPr>
            <a:solidFill>
              <a:srgbClr val="15324B"/>
            </a:solidFill>
          </c:spPr>
          <c:cat>
            <c:strRef>
              <c:f>Sheet1!$A$2:$A$4</c:f>
              <c:strCache>
                <c:ptCount val="3"/>
                <c:pt idx="0">
                  <c:v>colour + type</c:v>
                </c:pt>
                <c:pt idx="1">
                  <c:v>partial plate</c:v>
                </c:pt>
                <c:pt idx="2">
                  <c:v>colour + type
+ partial plate</c:v>
                </c:pt>
              </c:strCache>
            </c:strRef>
          </c:cat>
          <c:val>
            <c:numRef>
              <c:f>Sheet1!$B$2:$B$4</c:f>
              <c:numCache>
                <c:formatCode>General</c:formatCode>
                <c:ptCount val="3"/>
                <c:pt idx="0">
                  <c:v>16.0</c:v>
                </c:pt>
                <c:pt idx="1">
                  <c:v>21.0</c:v>
                </c:pt>
                <c:pt idx="2">
                  <c:v>58.0</c:v>
                </c:pt>
              </c:numCache>
            </c:numRef>
          </c:val>
        </c:ser>
        <c:ser>
          <c:idx val="1"/>
          <c:order val="1"/>
          <c:tx>
            <c:strRef>
              <c:f>Sheet1!$C$1</c:f>
              <c:strCache>
                <c:ptCount val="1"/>
                <c:pt idx="0">
                  <c:v>Rank-5</c:v>
                </c:pt>
              </c:strCache>
            </c:strRef>
          </c:tx>
          <c:spPr>
            <a:solidFill>
              <a:srgbClr val="5DC55B"/>
            </a:solidFill>
          </c:spPr>
          <c:cat>
            <c:strRef>
              <c:f>Sheet1!$A$2:$A$4</c:f>
              <c:strCache>
                <c:ptCount val="3"/>
                <c:pt idx="0">
                  <c:v>colour + type</c:v>
                </c:pt>
                <c:pt idx="1">
                  <c:v>partial plate</c:v>
                </c:pt>
                <c:pt idx="2">
                  <c:v>colour + type
+ partial plate</c:v>
                </c:pt>
              </c:strCache>
            </c:strRef>
          </c:cat>
          <c:val>
            <c:numRef>
              <c:f>Sheet1!$C$2:$C$4</c:f>
              <c:numCache>
                <c:formatCode>General</c:formatCode>
                <c:ptCount val="3"/>
                <c:pt idx="0">
                  <c:v>45.0</c:v>
                </c:pt>
                <c:pt idx="1">
                  <c:v>49.0</c:v>
                </c:pt>
                <c:pt idx="2">
                  <c:v>84.0</c:v>
                </c:pt>
              </c:numCache>
            </c:numRef>
          </c:val>
        </c:ser>
        <c:dLbls>
          <c:numFmt formatCode="0" sourceLinked="0"/>
          <c:txPr>
            <a:bodyPr/>
            <a:lstStyle/>
            <a:p>
              <a:pPr>
                <a:defRPr sz="1100">
                  <a:solidFill>
                    <a:srgbClr val="2B333C"/>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6DEE6"/>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6EBEF"/>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B333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Plate only</c:v>
                </c:pt>
              </c:strCache>
            </c:strRef>
          </c:tx>
          <c:spPr>
            <a:solidFill>
              <a:srgbClr val="E39B57"/>
            </a:solidFill>
          </c:spPr>
          <c:cat>
            <c:strRef>
              <c:f>Sheet1!$A$2:$A$5</c:f>
              <c:strCache>
                <c:ptCount val="4"/>
                <c:pt idx="0">
                  <c:v>Clear</c:v>
                </c:pt>
                <c:pt idx="1">
                  <c:v>Partial</c:v>
                </c:pt>
                <c:pt idx="2">
                  <c:v>Blurred</c:v>
                </c:pt>
                <c:pt idx="3">
                  <c:v>Hidden</c:v>
                </c:pt>
              </c:strCache>
            </c:strRef>
          </c:cat>
          <c:val>
            <c:numRef>
              <c:f>Sheet1!$B$2:$B$5</c:f>
              <c:numCache>
                <c:formatCode>General</c:formatCode>
                <c:ptCount val="4"/>
                <c:pt idx="0">
                  <c:v>100.0</c:v>
                </c:pt>
                <c:pt idx="1">
                  <c:v>30.2</c:v>
                </c:pt>
                <c:pt idx="2">
                  <c:v>44.8</c:v>
                </c:pt>
                <c:pt idx="3">
                  <c:v>3.6</c:v>
                </c:pt>
              </c:numCache>
            </c:numRef>
          </c:val>
        </c:ser>
        <c:ser>
          <c:idx val="1"/>
          <c:order val="1"/>
          <c:tx>
            <c:strRef>
              <c:f>Sheet1!$C$1</c:f>
              <c:strCache>
                <c:ptCount val="1"/>
                <c:pt idx="0">
                  <c:v>Appearance only</c:v>
                </c:pt>
              </c:strCache>
            </c:strRef>
          </c:tx>
          <c:spPr>
            <a:solidFill>
              <a:srgbClr val="B9C3CC"/>
            </a:solidFill>
          </c:spPr>
          <c:cat>
            <c:strRef>
              <c:f>Sheet1!$A$2:$A$5</c:f>
              <c:strCache>
                <c:ptCount val="4"/>
                <c:pt idx="0">
                  <c:v>Clear</c:v>
                </c:pt>
                <c:pt idx="1">
                  <c:v>Partial</c:v>
                </c:pt>
                <c:pt idx="2">
                  <c:v>Blurred</c:v>
                </c:pt>
                <c:pt idx="3">
                  <c:v>Hidden</c:v>
                </c:pt>
              </c:strCache>
            </c:strRef>
          </c:cat>
          <c:val>
            <c:numRef>
              <c:f>Sheet1!$C$2:$C$5</c:f>
              <c:numCache>
                <c:formatCode>General</c:formatCode>
                <c:ptCount val="4"/>
                <c:pt idx="0">
                  <c:v>27.1</c:v>
                </c:pt>
                <c:pt idx="1">
                  <c:v>27.1</c:v>
                </c:pt>
                <c:pt idx="2">
                  <c:v>27.1</c:v>
                </c:pt>
                <c:pt idx="3">
                  <c:v>27.1</c:v>
                </c:pt>
              </c:numCache>
            </c:numRef>
          </c:val>
        </c:ser>
        <c:ser>
          <c:idx val="2"/>
          <c:order val="2"/>
          <c:tx>
            <c:strRef>
              <c:f>Sheet1!$D$1</c:f>
              <c:strCache>
                <c:ptCount val="1"/>
                <c:pt idx="0">
                  <c:v>Learned metric</c:v>
                </c:pt>
              </c:strCache>
            </c:strRef>
          </c:tx>
          <c:spPr>
            <a:solidFill>
              <a:srgbClr val="5DC55B"/>
            </a:solidFill>
          </c:spPr>
          <c:cat>
            <c:strRef>
              <c:f>Sheet1!$A$2:$A$5</c:f>
              <c:strCache>
                <c:ptCount val="4"/>
                <c:pt idx="0">
                  <c:v>Clear</c:v>
                </c:pt>
                <c:pt idx="1">
                  <c:v>Partial</c:v>
                </c:pt>
                <c:pt idx="2">
                  <c:v>Blurred</c:v>
                </c:pt>
                <c:pt idx="3">
                  <c:v>Hidden</c:v>
                </c:pt>
              </c:strCache>
            </c:strRef>
          </c:cat>
          <c:val>
            <c:numRef>
              <c:f>Sheet1!$D$2:$D$5</c:f>
              <c:numCache>
                <c:formatCode>General</c:formatCode>
                <c:ptCount val="4"/>
                <c:pt idx="0">
                  <c:v>48.0</c:v>
                </c:pt>
                <c:pt idx="1">
                  <c:v>48.0</c:v>
                </c:pt>
                <c:pt idx="2">
                  <c:v>48.0</c:v>
                </c:pt>
                <c:pt idx="3">
                  <c:v>48.0</c:v>
                </c:pt>
              </c:numCache>
            </c:numRef>
          </c:val>
        </c:ser>
        <c:ser>
          <c:idx val="3"/>
          <c:order val="3"/>
          <c:tx>
            <c:strRef>
              <c:f>Sheet1!$E$1</c:f>
              <c:strCache>
                <c:ptCount val="1"/>
                <c:pt idx="0">
                  <c:v>Weighted fusion</c:v>
                </c:pt>
              </c:strCache>
            </c:strRef>
          </c:tx>
          <c:spPr>
            <a:solidFill>
              <a:srgbClr val="12A7A1"/>
            </a:solidFill>
          </c:spPr>
          <c:cat>
            <c:strRef>
              <c:f>Sheet1!$A$2:$A$5</c:f>
              <c:strCache>
                <c:ptCount val="4"/>
                <c:pt idx="0">
                  <c:v>Clear</c:v>
                </c:pt>
                <c:pt idx="1">
                  <c:v>Partial</c:v>
                </c:pt>
                <c:pt idx="2">
                  <c:v>Blurred</c:v>
                </c:pt>
                <c:pt idx="3">
                  <c:v>Hidden</c:v>
                </c:pt>
              </c:strCache>
            </c:strRef>
          </c:cat>
          <c:val>
            <c:numRef>
              <c:f>Sheet1!$E$2:$E$5</c:f>
              <c:numCache>
                <c:formatCode>General</c:formatCode>
                <c:ptCount val="4"/>
                <c:pt idx="0">
                  <c:v>99.3</c:v>
                </c:pt>
                <c:pt idx="1">
                  <c:v>63.5</c:v>
                </c:pt>
                <c:pt idx="2">
                  <c:v>69.5</c:v>
                </c:pt>
                <c:pt idx="3">
                  <c:v>43.3</c:v>
                </c:pt>
              </c:numCache>
            </c:numRef>
          </c:val>
        </c:ser>
        <c:ser>
          <c:idx val="4"/>
          <c:order val="4"/>
          <c:tx>
            <c:strRef>
              <c:f>Sheet1!$F$1</c:f>
              <c:strCache>
                <c:ptCount val="1"/>
                <c:pt idx="0">
                  <c:v>Random Forest</c:v>
                </c:pt>
              </c:strCache>
            </c:strRef>
          </c:tx>
          <c:spPr>
            <a:solidFill>
              <a:srgbClr val="15324B"/>
            </a:solidFill>
          </c:spPr>
          <c:cat>
            <c:strRef>
              <c:f>Sheet1!$A$2:$A$5</c:f>
              <c:strCache>
                <c:ptCount val="4"/>
                <c:pt idx="0">
                  <c:v>Clear</c:v>
                </c:pt>
                <c:pt idx="1">
                  <c:v>Partial</c:v>
                </c:pt>
                <c:pt idx="2">
                  <c:v>Blurred</c:v>
                </c:pt>
                <c:pt idx="3">
                  <c:v>Hidden</c:v>
                </c:pt>
              </c:strCache>
            </c:strRef>
          </c:cat>
          <c:val>
            <c:numRef>
              <c:f>Sheet1!$F$2:$F$5</c:f>
              <c:numCache>
                <c:formatCode>General</c:formatCode>
                <c:ptCount val="4"/>
                <c:pt idx="0">
                  <c:v>88.1</c:v>
                </c:pt>
                <c:pt idx="1">
                  <c:v>59.3</c:v>
                </c:pt>
                <c:pt idx="2">
                  <c:v>48.2</c:v>
                </c:pt>
                <c:pt idx="3">
                  <c:v>42.4</c:v>
                </c:pt>
              </c:numCache>
            </c:numRef>
          </c:val>
        </c:ser>
        <c:dLbls>
          <c:numFmt formatCode="0" sourceLinked="0"/>
          <c:txPr>
            <a:bodyPr/>
            <a:lstStyle/>
            <a:p>
              <a:pPr>
                <a:defRPr sz="1100">
                  <a:solidFill>
                    <a:srgbClr val="2B333C"/>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6DEE6"/>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6EBEF"/>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B333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Rank-1</c:v>
                </c:pt>
              </c:strCache>
            </c:strRef>
          </c:tx>
          <c:spPr>
            <a:solidFill>
              <a:srgbClr val="15324B"/>
            </a:solidFill>
          </c:spPr>
          <c:cat>
            <c:strRef>
              <c:f>Sheet1!$A$2:$A$10</c:f>
              <c:strCache>
                <c:ptCount val="9"/>
                <c:pt idx="0">
                  <c:v>Colour agreement</c:v>
                </c:pt>
                <c:pt idx="1">
                  <c:v>Type agreement</c:v>
                </c:pt>
                <c:pt idx="2">
                  <c:v>Distinctive cues</c:v>
                </c:pt>
                <c:pt idx="3">
                  <c:v>HSV histogram</c:v>
                </c:pt>
                <c:pt idx="4">
                  <c:v>CLIP cosine</c:v>
                </c:pt>
                <c:pt idx="5">
                  <c:v>ResNet appearance</c:v>
                </c:pt>
                <c:pt idx="6">
                  <c:v>Random Forest</c:v>
                </c:pt>
                <c:pt idx="7">
                  <c:v>Weighted fusion</c:v>
                </c:pt>
                <c:pt idx="8">
                  <c:v>Learned metric</c:v>
                </c:pt>
              </c:strCache>
            </c:strRef>
          </c:cat>
          <c:val>
            <c:numRef>
              <c:f>Sheet1!$B$2:$B$10</c:f>
              <c:numCache>
                <c:formatCode>General</c:formatCode>
                <c:ptCount val="9"/>
                <c:pt idx="0">
                  <c:v>5.3</c:v>
                </c:pt>
                <c:pt idx="1">
                  <c:v>7.0</c:v>
                </c:pt>
                <c:pt idx="2">
                  <c:v>13.0</c:v>
                </c:pt>
                <c:pt idx="3">
                  <c:v>24.0</c:v>
                </c:pt>
                <c:pt idx="4">
                  <c:v>58.3</c:v>
                </c:pt>
                <c:pt idx="5">
                  <c:v>61.3</c:v>
                </c:pt>
                <c:pt idx="6">
                  <c:v>69.7</c:v>
                </c:pt>
                <c:pt idx="7">
                  <c:v>71.3</c:v>
                </c:pt>
                <c:pt idx="8">
                  <c:v>77.0</c:v>
                </c:pt>
              </c:numCache>
            </c:numRef>
          </c:val>
        </c:ser>
        <c:ser>
          <c:idx val="1"/>
          <c:order val="1"/>
          <c:tx>
            <c:strRef>
              <c:f>Sheet1!$C$1</c:f>
              <c:strCache>
                <c:ptCount val="1"/>
                <c:pt idx="0">
                  <c:v>mAP</c:v>
                </c:pt>
              </c:strCache>
            </c:strRef>
          </c:tx>
          <c:spPr>
            <a:solidFill>
              <a:srgbClr val="12A7A1"/>
            </a:solidFill>
          </c:spPr>
          <c:cat>
            <c:strRef>
              <c:f>Sheet1!$A$2:$A$10</c:f>
              <c:strCache>
                <c:ptCount val="9"/>
                <c:pt idx="0">
                  <c:v>Colour agreement</c:v>
                </c:pt>
                <c:pt idx="1">
                  <c:v>Type agreement</c:v>
                </c:pt>
                <c:pt idx="2">
                  <c:v>Distinctive cues</c:v>
                </c:pt>
                <c:pt idx="3">
                  <c:v>HSV histogram</c:v>
                </c:pt>
                <c:pt idx="4">
                  <c:v>CLIP cosine</c:v>
                </c:pt>
                <c:pt idx="5">
                  <c:v>ResNet appearance</c:v>
                </c:pt>
                <c:pt idx="6">
                  <c:v>Random Forest</c:v>
                </c:pt>
                <c:pt idx="7">
                  <c:v>Weighted fusion</c:v>
                </c:pt>
                <c:pt idx="8">
                  <c:v>Learned metric</c:v>
                </c:pt>
              </c:strCache>
            </c:strRef>
          </c:cat>
          <c:val>
            <c:numRef>
              <c:f>Sheet1!$C$2:$C$10</c:f>
              <c:numCache>
                <c:formatCode>General</c:formatCode>
                <c:ptCount val="9"/>
                <c:pt idx="0">
                  <c:v>11.3</c:v>
                </c:pt>
                <c:pt idx="1">
                  <c:v>10.3</c:v>
                </c:pt>
                <c:pt idx="2">
                  <c:v>9.1</c:v>
                </c:pt>
                <c:pt idx="3">
                  <c:v>12.7</c:v>
                </c:pt>
                <c:pt idx="4">
                  <c:v>28.2</c:v>
                </c:pt>
                <c:pt idx="5">
                  <c:v>27.1</c:v>
                </c:pt>
                <c:pt idx="6">
                  <c:v>42.4</c:v>
                </c:pt>
                <c:pt idx="7">
                  <c:v>43.3</c:v>
                </c:pt>
                <c:pt idx="8">
                  <c:v>48.0</c:v>
                </c:pt>
              </c:numCache>
            </c:numRef>
          </c:val>
        </c:ser>
        <c:dLbls>
          <c:numFmt formatCode="0" sourceLinked="0"/>
          <c:txPr>
            <a:bodyPr/>
            <a:lstStyle/>
            <a:p>
              <a:pPr>
                <a:defRPr sz="1100">
                  <a:solidFill>
                    <a:srgbClr val="2B333C"/>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D6DEE6"/>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6EBEF"/>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B333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I'm Gurneet Kaur Bhuller from Group 21. This is V-Trace, a multi-attribute vehicle re-identification system. In the next twelve minutes I'll recap the problem, explain how V-Trace works, show how I evaluated it on the VeRi-776 benchmark and on multi-camera demo footage, share what I learned, and then demonstrate the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of the problem. A licence plate is the strongest single clue, but CCTV often can't read it: too small, blurred, occluded or facing away. On the VeRi-776 benchmark a plate-only search is perfect with clear plates, drops to 30 percent mean average precision with partial plates, and to 3.6 percent when the plate is hidden. Investigators also start from a partial description, not a clean image. So the objective stays the same as in my proposal: search and re-identify a vehicle using all available evidence, with a human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workflow, as in the proposal, now with a sixth step. Upload the camera videos; the demo cameras are preloaded. Describe the vehicle with whatever is known. Stage one ranks every tracked vehicle. The user confirms the right candidate, which becomes the visual query. Stage two re-identifies it in the other cameras. And the new trace step suggests the route and lets the user confirm the sighting in each camera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as built. Each uploaded video is one camera. YOLO11 detects vehicles and ByteTrack links them into tracks; each track becomes a tracklet with four good crops and an evidence frame. From the crops V-Trace computes its descriptors, including a learned re-identification metric. The user's description is matched in stage one; after confirmation, stage two compares the confirmed vehicle with every tracklet in the other cameras using an eleven-feature evidence vector, and the route view links the sightings across cameras. Everything runs in a Streamlit app with an admin sign-in.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tracklet gets several descriptors. ResNet-50 and CLIP embeddings describe its appearance, and a projection learned from VeRi vehicle identities with linear discriminant analysis turns them into the main re-identification cue: it keeps what separates two cars and suppresses viewpoint and lighting. Colour and type come from a supervised probe on CLIP; an HSV histogram is a hand-crafted colour cue; EasyOCR reads plates only when confident, with question marks as wildcards; and CLIP scores distinctive cues such as a roof rack or decal.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confirmed vehicle and every candidate in another camera, V-Trace builds an eleven-number evidence vector. Four scorers are compared: appearance only, the learned metric, a transparent weighted fusion, and a Random Forest with monotonic constraints. Route tracing suggests one sighting per camera only when it clearly beats that camera's runner-up, and shows the top three per camera so the user confirms each hop. Every confirmed sighting joins the query set, so the middle camera bridges a far, small view and a near, large view. When the cameras share a clock, a time window rejects impossible jumps.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asks for at least three of four technique groups; V-Trace integrates all four. Supervised: LDA metric learning on vehicle identities, the Random Forest matcher and the colour-type probe. Unsupervised: a Self-Organising Map of the embeddings. Deep learning: YOLO11, ResNet-50, CLIP and EasyOCR. Hybrid and ensemble: fusion of eleven evidence features. Intelligent sensing and sense-making: the chain from raw video to a confirmed route.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data, as planned. VeRi-776 answers whether the method works: images of one vehicle passing one camera are grouped into tracklets, the same unit my video pipeline produces, with 150 training and 100 test vehicles that never overlap. The demo footage answers whether the software works end to end: an openly licensed street recording is cut into three camera zones along the road, so the same cars really pass camera A, then B, then C, and a fourth camera on another road is a distractor. A reference tracking of the full frame gives pseudo ground truth for measuring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results. Colour and type on 830 VeRi test tracklets: zero-shot CLIP gets 67 percent on colour but only 38 on type, because it confuses sedan, hatchback and estate; a linear probe trained on VeRi labels reaches 73 and 79. Stage one description search: each cue alone is weak, but colour plus type plus a partial plate puts the right vehicle in the top five for 84 percent of queries — exactly what a human needs to confirm from a short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tests the main hypothesis. VeRi has no plate text, so each vehicle gets a synthetic plate that is degraded per sighting: clear, partial, blurred or hidden. Plate-only search falls from 100 to 3.6 percent mean average precision. Appearance alone is flat at 27. Fused evidence stays far above it at every level, and the transparent weighted fusion is the best fusion everywhere, ahead of the Random Forest. One honest twist: with no plate at all, the learned metric on its own is best, at 48, because colour and type are already inside the learned embedding and the attribute guesses add noise.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plates hidden, which cues matter? The generic ResNet and CLIP embeddings reach about 60 percent rank-one. Learning a projection from just 150 labelled VeRi vehicles lifts that to 77 percent and nearly doubles mean average precision, from 27 to 48. Colour, type and distinctive cues are far too coarse to rank on their own. The Random Forest puts almost half its importance on the learned metric.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real video. On the four demo cameras I measured re-identification against a reference: the uncropped clip is tracked once and every camera tracklet is mapped back onto it, so these numbers are pseudo ground truth. Here fusion beats appearance alone and the learned metric alone, because colour and type reject look-alike cars. The automatic route suggestion is conservative: when it suggests a camera it is right 70 percent of the time. With one click per camera the right car is among the three shown for about two thirds of hops, and the screenshot shows the red Citroën confirmed in cameras A, B and C, in time order.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Self-Organising Map is trained without labels. Its nodes are fairly pure for type and colour but not for identity. Used as a candidate pre-filter it removes 70 to 94 percent of candidates but drops too many true matches, so accuracy goes down. That is a useful negative result: the SOM is good for exploring the footage, not for filtering re-identification candidates at this scale.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lessons. First, a stacking leak: the forest was trained on colour and type probabilities from a probe fitted on the same vehicles, so they looked almost perfect and the forest over-trusted them; on new vehicles it ranked worse than appearance alone. Out-of-fold features grouped by vehicle fixed it, and I applied the same rule to the learned metric. Second, the forest learned splits where higher similarity lowered the score; monotonic constraints fixed that. That second choice was informed by test queries, so the forest-versus-fusion comparison is indicative, and a validation split is the proper next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app. It has one search page. After the admin signs in, the four demo cameras are already loaded. Step one: I describe the target as a red sedan; the red Citroën in camera A is ranked first and I select it. Step three shows the best three matches in every other camera, like a re-identification result list; the starred match in camera B is the same car, so I confirm it, camera C is re-ranked against both views, and I confirm the sighting there. Step two now shows the full route from camera A to B to C in time order.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The learned metric is linear and trained on only 150 vehicles; using all VeRi training identities or fine-tuning the backbone with a triplet loss is the clearest gain. Plates in the benchmark are synthetic and OCR runs on whole-vehicle crops. The forest optimises pair classification rather than ranking. The demo cameras are zones of one recording, not separate physical cameras. And the pipeline works frame by frame, so live camera streams are a small change.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V-Trace starts from incomplete information, retrieves likely candidates, keeps a human confirmation step, and then re-identifies and traces the vehicle across cameras using several complementary kinds of evidence, with the user confirming each hop. Plate-only search collapses when plates degrade, while fused evidence holds up. Description search finds the right vehicle in the top five for 84 percent of queries, and learning a metric from 150 vehicles nearly doubles re-identification mAP. Thank you —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chart" Target="../charts/chart1.xml"/><Relationship Id="rId5"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7.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nus_iss_logo.png"/>
          <p:cNvPicPr>
            <a:picLocks noChangeAspect="1"/>
          </p:cNvPicPr>
          <p:nvPr/>
        </p:nvPicPr>
        <p:blipFill>
          <a:blip r:embed="rId3"/>
          <a:stretch>
            <a:fillRect/>
          </a:stretch>
        </p:blipFill>
        <p:spPr>
          <a:xfrm>
            <a:off x="10424160" y="146304"/>
            <a:ext cx="1691640" cy="744860"/>
          </a:xfrm>
          <a:prstGeom prst="rect">
            <a:avLst/>
          </a:prstGeom>
        </p:spPr>
      </p:pic>
      <p:pic>
        <p:nvPicPr>
          <p:cNvPr id="4" name="Picture 3" descr="vtrace_logo_dark.png"/>
          <p:cNvPicPr>
            <a:picLocks noChangeAspect="1"/>
          </p:cNvPicPr>
          <p:nvPr/>
        </p:nvPicPr>
        <p:blipFill>
          <a:blip r:embed="rId5"/>
          <a:stretch>
            <a:fillRect/>
          </a:stretch>
        </p:blipFill>
        <p:spPr>
          <a:xfrm>
            <a:off x="502920" y="1051560"/>
            <a:ext cx="7863840" cy="2165080"/>
          </a:xfrm>
          <a:prstGeom prst="rect">
            <a:avLst/>
          </a:prstGeom>
        </p:spPr>
      </p:pic>
      <p:sp>
        <p:nvSpPr>
          <p:cNvPr id="5" name="TextBox 4"/>
          <p:cNvSpPr txBox="1"/>
          <p:nvPr/>
        </p:nvSpPr>
        <p:spPr>
          <a:xfrm>
            <a:off x="685800" y="3886200"/>
            <a:ext cx="8229600" cy="457200"/>
          </a:xfrm>
          <a:prstGeom prst="rect">
            <a:avLst/>
          </a:prstGeom>
          <a:noFill/>
        </p:spPr>
        <p:txBody>
          <a:bodyPr wrap="square" lIns="0" rIns="0" tIns="0" bIns="0" anchor="t">
            <a:spAutoFit/>
          </a:bodyPr>
          <a:lstStyle/>
          <a:p>
            <a:pPr algn="l">
              <a:spcAft>
                <a:spcPts val="600"/>
              </a:spcAft>
            </a:pPr>
            <a:r>
              <a:rPr sz="2200" b="1" i="0">
                <a:solidFill>
                  <a:srgbClr val="5DC55B"/>
                </a:solidFill>
                <a:latin typeface="Aptos Display"/>
              </a:rPr>
              <a:t>DESCRIBE  →  SEARCH  →  CONFIRM  →  RE-IDENTIFY  →  TRACE</a:t>
            </a:r>
          </a:p>
        </p:txBody>
      </p:sp>
      <p:sp>
        <p:nvSpPr>
          <p:cNvPr id="6" name="TextBox 5"/>
          <p:cNvSpPr txBox="1"/>
          <p:nvPr/>
        </p:nvSpPr>
        <p:spPr>
          <a:xfrm>
            <a:off x="685800" y="4617720"/>
            <a:ext cx="8229600" cy="457200"/>
          </a:xfrm>
          <a:prstGeom prst="rect">
            <a:avLst/>
          </a:prstGeom>
          <a:noFill/>
        </p:spPr>
        <p:txBody>
          <a:bodyPr wrap="square" lIns="0" rIns="0" tIns="0" bIns="0" anchor="t">
            <a:spAutoFit/>
          </a:bodyPr>
          <a:lstStyle/>
          <a:p>
            <a:pPr algn="l">
              <a:spcAft>
                <a:spcPts val="600"/>
              </a:spcAft>
            </a:pPr>
            <a:r>
              <a:rPr sz="2600" b="0" i="0">
                <a:solidFill>
                  <a:srgbClr val="B8E9E6"/>
                </a:solidFill>
                <a:latin typeface="Aptos"/>
              </a:rPr>
              <a:t>Multi-Attribute Vehicle Re-Identification System</a:t>
            </a:r>
          </a:p>
        </p:txBody>
      </p:sp>
      <p:sp>
        <p:nvSpPr>
          <p:cNvPr id="7" name="TextBox 6"/>
          <p:cNvSpPr txBox="1"/>
          <p:nvPr/>
        </p:nvSpPr>
        <p:spPr>
          <a:xfrm>
            <a:off x="685800" y="5440680"/>
            <a:ext cx="8229600" cy="365760"/>
          </a:xfrm>
          <a:prstGeom prst="rect">
            <a:avLst/>
          </a:prstGeom>
          <a:noFill/>
        </p:spPr>
        <p:txBody>
          <a:bodyPr wrap="square" lIns="0" rIns="0" tIns="0" bIns="0" anchor="t">
            <a:spAutoFit/>
          </a:bodyPr>
          <a:lstStyle/>
          <a:p>
            <a:pPr algn="l">
              <a:spcAft>
                <a:spcPts val="600"/>
              </a:spcAft>
            </a:pPr>
            <a:r>
              <a:rPr sz="1700" b="0" i="0">
                <a:solidFill>
                  <a:srgbClr val="FFFFFF"/>
                </a:solidFill>
                <a:latin typeface="Aptos"/>
              </a:rPr>
              <a:t>Gurneet Kaur Bhuller  |  Group 21</a:t>
            </a:r>
          </a:p>
        </p:txBody>
      </p:sp>
      <p:sp>
        <p:nvSpPr>
          <p:cNvPr id="8" name="TextBox 7"/>
          <p:cNvSpPr txBox="1"/>
          <p:nvPr/>
        </p:nvSpPr>
        <p:spPr>
          <a:xfrm>
            <a:off x="685800" y="5897880"/>
            <a:ext cx="8229600" cy="274320"/>
          </a:xfrm>
          <a:prstGeom prst="rect">
            <a:avLst/>
          </a:prstGeom>
          <a:noFill/>
        </p:spPr>
        <p:txBody>
          <a:bodyPr wrap="square" lIns="0" rIns="0" tIns="0" bIns="0" anchor="t">
            <a:spAutoFit/>
          </a:bodyPr>
          <a:lstStyle/>
          <a:p>
            <a:pPr algn="l">
              <a:spcAft>
                <a:spcPts val="600"/>
              </a:spcAft>
            </a:pPr>
            <a:r>
              <a:rPr sz="1200" b="0" i="0">
                <a:solidFill>
                  <a:srgbClr val="AEB8C2"/>
                </a:solidFill>
                <a:latin typeface="Aptos"/>
              </a:rPr>
              <a:t>Pattern Recognition Systems · Final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The Problem</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A plate is powerful evidence — but CCTV does not always give us a readable plate.</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2</a:t>
            </a:r>
          </a:p>
        </p:txBody>
      </p:sp>
      <p:sp>
        <p:nvSpPr>
          <p:cNvPr id="7" name="Rounded Rectangle 6"/>
          <p:cNvSpPr/>
          <p:nvPr/>
        </p:nvSpPr>
        <p:spPr>
          <a:xfrm>
            <a:off x="548640" y="1600200"/>
            <a:ext cx="3520440" cy="301752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3108960" cy="411480"/>
          </a:xfrm>
          <a:prstGeom prst="rect">
            <a:avLst/>
          </a:prstGeom>
          <a:noFill/>
        </p:spPr>
        <p:txBody>
          <a:bodyPr wrap="square" lIns="0" rIns="0" tIns="0" bIns="0" anchor="t">
            <a:spAutoFit/>
          </a:bodyPr>
          <a:lstStyle/>
          <a:p>
            <a:pPr algn="l">
              <a:spcAft>
                <a:spcPts val="600"/>
              </a:spcAft>
            </a:pPr>
            <a:r>
              <a:rPr sz="2000" b="1" i="0">
                <a:solidFill>
                  <a:srgbClr val="4FA5B5"/>
                </a:solidFill>
                <a:latin typeface="Aptos Display"/>
              </a:rPr>
              <a:t>01</a:t>
            </a:r>
          </a:p>
        </p:txBody>
      </p:sp>
      <p:sp>
        <p:nvSpPr>
          <p:cNvPr id="9" name="TextBox 8"/>
          <p:cNvSpPr txBox="1"/>
          <p:nvPr/>
        </p:nvSpPr>
        <p:spPr>
          <a:xfrm>
            <a:off x="777240" y="2286000"/>
            <a:ext cx="3108960" cy="457200"/>
          </a:xfrm>
          <a:prstGeom prst="rect">
            <a:avLst/>
          </a:prstGeom>
          <a:noFill/>
        </p:spPr>
        <p:txBody>
          <a:bodyPr wrap="square" lIns="0" rIns="0" tIns="0" bIns="0" anchor="t">
            <a:spAutoFit/>
          </a:bodyPr>
          <a:lstStyle/>
          <a:p>
            <a:pPr algn="l">
              <a:spcAft>
                <a:spcPts val="600"/>
              </a:spcAft>
            </a:pPr>
            <a:r>
              <a:rPr sz="2000" b="1" i="0">
                <a:solidFill>
                  <a:srgbClr val="161B22"/>
                </a:solidFill>
                <a:latin typeface="Aptos Display"/>
              </a:rPr>
              <a:t>CLEAR PLATE</a:t>
            </a:r>
          </a:p>
        </p:txBody>
      </p:sp>
      <p:sp>
        <p:nvSpPr>
          <p:cNvPr id="10" name="TextBox 9"/>
          <p:cNvSpPr txBox="1"/>
          <p:nvPr/>
        </p:nvSpPr>
        <p:spPr>
          <a:xfrm>
            <a:off x="777240" y="2834640"/>
            <a:ext cx="3108960" cy="731520"/>
          </a:xfrm>
          <a:prstGeom prst="rect">
            <a:avLst/>
          </a:prstGeom>
          <a:noFill/>
        </p:spPr>
        <p:txBody>
          <a:bodyPr wrap="square" lIns="0" rIns="0" tIns="0" bIns="0" anchor="t">
            <a:spAutoFit/>
          </a:bodyPr>
          <a:lstStyle/>
          <a:p>
            <a:pPr algn="l">
              <a:spcAft>
                <a:spcPts val="600"/>
              </a:spcAft>
            </a:pPr>
            <a:r>
              <a:rPr sz="1500" b="0" i="0">
                <a:solidFill>
                  <a:srgbClr val="2B333C"/>
                </a:solidFill>
                <a:latin typeface="Aptos"/>
              </a:rPr>
              <a:t>Strong identifier</a:t>
            </a:r>
          </a:p>
        </p:txBody>
      </p:sp>
      <p:sp>
        <p:nvSpPr>
          <p:cNvPr id="11" name="TextBox 10"/>
          <p:cNvSpPr txBox="1"/>
          <p:nvPr/>
        </p:nvSpPr>
        <p:spPr>
          <a:xfrm>
            <a:off x="777240" y="3657600"/>
            <a:ext cx="3108960" cy="548640"/>
          </a:xfrm>
          <a:prstGeom prst="rect">
            <a:avLst/>
          </a:prstGeom>
          <a:noFill/>
        </p:spPr>
        <p:txBody>
          <a:bodyPr wrap="square" lIns="0" rIns="0" tIns="0" bIns="0" anchor="t">
            <a:spAutoFit/>
          </a:bodyPr>
          <a:lstStyle/>
          <a:p>
            <a:pPr algn="l">
              <a:spcAft>
                <a:spcPts val="600"/>
              </a:spcAft>
            </a:pPr>
            <a:r>
              <a:rPr sz="2800" b="1" i="0">
                <a:solidFill>
                  <a:srgbClr val="4FA5B5"/>
                </a:solidFill>
                <a:latin typeface="Aptos Display"/>
              </a:rPr>
              <a:t>100.0%</a:t>
            </a:r>
            <a:r>
              <a:rPr sz="1200" b="0" i="0">
                <a:solidFill>
                  <a:srgbClr val="5C6670"/>
                </a:solidFill>
                <a:latin typeface="Aptos"/>
              </a:rPr>
              <a:t>  plate-only mAP</a:t>
            </a:r>
          </a:p>
        </p:txBody>
      </p:sp>
      <p:sp>
        <p:nvSpPr>
          <p:cNvPr id="12" name="Rounded Rectangle 11"/>
          <p:cNvSpPr/>
          <p:nvPr/>
        </p:nvSpPr>
        <p:spPr>
          <a:xfrm>
            <a:off x="4343400" y="1600200"/>
            <a:ext cx="3520440" cy="3017520"/>
          </a:xfrm>
          <a:prstGeom prst="roundRect">
            <a:avLst>
              <a:gd name="adj" fmla="val 3500"/>
            </a:avLst>
          </a:prstGeom>
          <a:solidFill>
            <a:srgbClr val="F4E9E0"/>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83080"/>
            <a:ext cx="3108960" cy="411480"/>
          </a:xfrm>
          <a:prstGeom prst="rect">
            <a:avLst/>
          </a:prstGeom>
          <a:noFill/>
        </p:spPr>
        <p:txBody>
          <a:bodyPr wrap="square" lIns="0" rIns="0" tIns="0" bIns="0" anchor="t">
            <a:spAutoFit/>
          </a:bodyPr>
          <a:lstStyle/>
          <a:p>
            <a:pPr algn="l">
              <a:spcAft>
                <a:spcPts val="600"/>
              </a:spcAft>
            </a:pPr>
            <a:r>
              <a:rPr sz="2000" b="1" i="0">
                <a:solidFill>
                  <a:srgbClr val="D08A55"/>
                </a:solidFill>
                <a:latin typeface="Aptos Display"/>
              </a:rPr>
              <a:t>02</a:t>
            </a:r>
          </a:p>
        </p:txBody>
      </p:sp>
      <p:sp>
        <p:nvSpPr>
          <p:cNvPr id="14" name="TextBox 13"/>
          <p:cNvSpPr txBox="1"/>
          <p:nvPr/>
        </p:nvSpPr>
        <p:spPr>
          <a:xfrm>
            <a:off x="4572000" y="2286000"/>
            <a:ext cx="3108960" cy="457200"/>
          </a:xfrm>
          <a:prstGeom prst="rect">
            <a:avLst/>
          </a:prstGeom>
          <a:noFill/>
        </p:spPr>
        <p:txBody>
          <a:bodyPr wrap="square" lIns="0" rIns="0" tIns="0" bIns="0" anchor="t">
            <a:spAutoFit/>
          </a:bodyPr>
          <a:lstStyle/>
          <a:p>
            <a:pPr algn="l">
              <a:spcAft>
                <a:spcPts val="600"/>
              </a:spcAft>
            </a:pPr>
            <a:r>
              <a:rPr sz="2000" b="1" i="0">
                <a:solidFill>
                  <a:srgbClr val="161B22"/>
                </a:solidFill>
                <a:latin typeface="Aptos Display"/>
              </a:rPr>
              <a:t>PARTIAL PLATE</a:t>
            </a:r>
          </a:p>
        </p:txBody>
      </p:sp>
      <p:sp>
        <p:nvSpPr>
          <p:cNvPr id="15" name="TextBox 14"/>
          <p:cNvSpPr txBox="1"/>
          <p:nvPr/>
        </p:nvSpPr>
        <p:spPr>
          <a:xfrm>
            <a:off x="4572000" y="2834640"/>
            <a:ext cx="3108960" cy="731520"/>
          </a:xfrm>
          <a:prstGeom prst="rect">
            <a:avLst/>
          </a:prstGeom>
          <a:noFill/>
        </p:spPr>
        <p:txBody>
          <a:bodyPr wrap="square" lIns="0" rIns="0" tIns="0" bIns="0" anchor="t">
            <a:spAutoFit/>
          </a:bodyPr>
          <a:lstStyle/>
          <a:p>
            <a:pPr algn="l">
              <a:spcAft>
                <a:spcPts val="600"/>
              </a:spcAft>
            </a:pPr>
            <a:r>
              <a:rPr sz="1500" b="0" i="0">
                <a:solidFill>
                  <a:srgbClr val="2B333C"/>
                </a:solidFill>
                <a:latin typeface="Aptos"/>
              </a:rPr>
              <a:t>Useful, but not enough alone</a:t>
            </a:r>
          </a:p>
        </p:txBody>
      </p:sp>
      <p:sp>
        <p:nvSpPr>
          <p:cNvPr id="16" name="TextBox 15"/>
          <p:cNvSpPr txBox="1"/>
          <p:nvPr/>
        </p:nvSpPr>
        <p:spPr>
          <a:xfrm>
            <a:off x="4572000" y="3657600"/>
            <a:ext cx="3108960" cy="548640"/>
          </a:xfrm>
          <a:prstGeom prst="rect">
            <a:avLst/>
          </a:prstGeom>
          <a:noFill/>
        </p:spPr>
        <p:txBody>
          <a:bodyPr wrap="square" lIns="0" rIns="0" tIns="0" bIns="0" anchor="t">
            <a:spAutoFit/>
          </a:bodyPr>
          <a:lstStyle/>
          <a:p>
            <a:pPr algn="l">
              <a:spcAft>
                <a:spcPts val="600"/>
              </a:spcAft>
            </a:pPr>
            <a:r>
              <a:rPr sz="2800" b="1" i="0">
                <a:solidFill>
                  <a:srgbClr val="D08A55"/>
                </a:solidFill>
                <a:latin typeface="Aptos Display"/>
              </a:rPr>
              <a:t>30.2%</a:t>
            </a:r>
            <a:r>
              <a:rPr sz="1200" b="0" i="0">
                <a:solidFill>
                  <a:srgbClr val="5C6670"/>
                </a:solidFill>
                <a:latin typeface="Aptos"/>
              </a:rPr>
              <a:t>  plate-only mAP</a:t>
            </a:r>
          </a:p>
        </p:txBody>
      </p:sp>
      <p:sp>
        <p:nvSpPr>
          <p:cNvPr id="17" name="Rounded Rectangle 16"/>
          <p:cNvSpPr/>
          <p:nvPr/>
        </p:nvSpPr>
        <p:spPr>
          <a:xfrm>
            <a:off x="8138160" y="1600200"/>
            <a:ext cx="3520440" cy="3017520"/>
          </a:xfrm>
          <a:prstGeom prst="roundRect">
            <a:avLst>
              <a:gd name="adj" fmla="val 3500"/>
            </a:avLst>
          </a:prstGeom>
          <a:solidFill>
            <a:srgbClr val="E9E7F5"/>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1783080"/>
            <a:ext cx="3108960" cy="411480"/>
          </a:xfrm>
          <a:prstGeom prst="rect">
            <a:avLst/>
          </a:prstGeom>
          <a:noFill/>
        </p:spPr>
        <p:txBody>
          <a:bodyPr wrap="square" lIns="0" rIns="0" tIns="0" bIns="0" anchor="t">
            <a:spAutoFit/>
          </a:bodyPr>
          <a:lstStyle/>
          <a:p>
            <a:pPr algn="l">
              <a:spcAft>
                <a:spcPts val="600"/>
              </a:spcAft>
            </a:pPr>
            <a:r>
              <a:rPr sz="2000" b="1" i="0">
                <a:solidFill>
                  <a:srgbClr val="7E6DB8"/>
                </a:solidFill>
                <a:latin typeface="Aptos Display"/>
              </a:rPr>
              <a:t>03</a:t>
            </a:r>
          </a:p>
        </p:txBody>
      </p:sp>
      <p:sp>
        <p:nvSpPr>
          <p:cNvPr id="19" name="TextBox 18"/>
          <p:cNvSpPr txBox="1"/>
          <p:nvPr/>
        </p:nvSpPr>
        <p:spPr>
          <a:xfrm>
            <a:off x="8366760" y="2286000"/>
            <a:ext cx="3108960" cy="457200"/>
          </a:xfrm>
          <a:prstGeom prst="rect">
            <a:avLst/>
          </a:prstGeom>
          <a:noFill/>
        </p:spPr>
        <p:txBody>
          <a:bodyPr wrap="square" lIns="0" rIns="0" tIns="0" bIns="0" anchor="t">
            <a:spAutoFit/>
          </a:bodyPr>
          <a:lstStyle/>
          <a:p>
            <a:pPr algn="l">
              <a:spcAft>
                <a:spcPts val="600"/>
              </a:spcAft>
            </a:pPr>
            <a:r>
              <a:rPr sz="2000" b="1" i="0">
                <a:solidFill>
                  <a:srgbClr val="161B22"/>
                </a:solidFill>
                <a:latin typeface="Aptos Display"/>
              </a:rPr>
              <a:t>NO PLATE</a:t>
            </a:r>
          </a:p>
        </p:txBody>
      </p:sp>
      <p:sp>
        <p:nvSpPr>
          <p:cNvPr id="20" name="TextBox 19"/>
          <p:cNvSpPr txBox="1"/>
          <p:nvPr/>
        </p:nvSpPr>
        <p:spPr>
          <a:xfrm>
            <a:off x="8366760" y="2834640"/>
            <a:ext cx="3108960" cy="731520"/>
          </a:xfrm>
          <a:prstGeom prst="rect">
            <a:avLst/>
          </a:prstGeom>
          <a:noFill/>
        </p:spPr>
        <p:txBody>
          <a:bodyPr wrap="square" lIns="0" rIns="0" tIns="0" bIns="0" anchor="t">
            <a:spAutoFit/>
          </a:bodyPr>
          <a:lstStyle/>
          <a:p>
            <a:pPr algn="l">
              <a:spcAft>
                <a:spcPts val="600"/>
              </a:spcAft>
            </a:pPr>
            <a:r>
              <a:rPr sz="1500" b="0" i="0">
                <a:solidFill>
                  <a:srgbClr val="2B333C"/>
                </a:solidFill>
                <a:latin typeface="Aptos"/>
              </a:rPr>
              <a:t>Only appearance remains: colour · type · shape · cues</a:t>
            </a:r>
          </a:p>
        </p:txBody>
      </p:sp>
      <p:sp>
        <p:nvSpPr>
          <p:cNvPr id="21" name="TextBox 20"/>
          <p:cNvSpPr txBox="1"/>
          <p:nvPr/>
        </p:nvSpPr>
        <p:spPr>
          <a:xfrm>
            <a:off x="8366760" y="3657600"/>
            <a:ext cx="3108960" cy="548640"/>
          </a:xfrm>
          <a:prstGeom prst="rect">
            <a:avLst/>
          </a:prstGeom>
          <a:noFill/>
        </p:spPr>
        <p:txBody>
          <a:bodyPr wrap="square" lIns="0" rIns="0" tIns="0" bIns="0" anchor="t">
            <a:spAutoFit/>
          </a:bodyPr>
          <a:lstStyle/>
          <a:p>
            <a:pPr algn="l">
              <a:spcAft>
                <a:spcPts val="600"/>
              </a:spcAft>
            </a:pPr>
            <a:r>
              <a:rPr sz="2800" b="1" i="0">
                <a:solidFill>
                  <a:srgbClr val="7E6DB8"/>
                </a:solidFill>
                <a:latin typeface="Aptos Display"/>
              </a:rPr>
              <a:t>3.6%</a:t>
            </a:r>
            <a:r>
              <a:rPr sz="1200" b="0" i="0">
                <a:solidFill>
                  <a:srgbClr val="5C6670"/>
                </a:solidFill>
                <a:latin typeface="Aptos"/>
              </a:rPr>
              <a:t>  plate-only mAP</a:t>
            </a:r>
          </a:p>
        </p:txBody>
      </p:sp>
      <p:sp>
        <p:nvSpPr>
          <p:cNvPr id="22" name="TextBox 21"/>
          <p:cNvSpPr txBox="1"/>
          <p:nvPr/>
        </p:nvSpPr>
        <p:spPr>
          <a:xfrm>
            <a:off x="548640" y="4983480"/>
            <a:ext cx="1463040" cy="457200"/>
          </a:xfrm>
          <a:prstGeom prst="rect">
            <a:avLst/>
          </a:prstGeom>
          <a:noFill/>
        </p:spPr>
        <p:txBody>
          <a:bodyPr wrap="square" lIns="0" rIns="0" tIns="0" bIns="0" anchor="ctr">
            <a:spAutoFit/>
          </a:bodyPr>
          <a:lstStyle/>
          <a:p>
            <a:pPr algn="l">
              <a:spcAft>
                <a:spcPts val="600"/>
              </a:spcAft>
            </a:pPr>
            <a:r>
              <a:rPr sz="1800" b="1" i="0">
                <a:solidFill>
                  <a:srgbClr val="12A7A1"/>
                </a:solidFill>
                <a:latin typeface="Aptos Display"/>
              </a:rPr>
              <a:t>Objective</a:t>
            </a:r>
          </a:p>
        </p:txBody>
      </p:sp>
      <p:sp>
        <p:nvSpPr>
          <p:cNvPr id="23" name="TextBox 22"/>
          <p:cNvSpPr txBox="1"/>
          <p:nvPr/>
        </p:nvSpPr>
        <p:spPr>
          <a:xfrm>
            <a:off x="2011680" y="4892040"/>
            <a:ext cx="9601200" cy="731520"/>
          </a:xfrm>
          <a:prstGeom prst="rect">
            <a:avLst/>
          </a:prstGeom>
          <a:noFill/>
        </p:spPr>
        <p:txBody>
          <a:bodyPr wrap="square" lIns="0" rIns="0" tIns="0" bIns="0" anchor="t">
            <a:spAutoFit/>
          </a:bodyPr>
          <a:lstStyle/>
          <a:p>
            <a:pPr algn="l">
              <a:spcAft>
                <a:spcPts val="600"/>
              </a:spcAft>
            </a:pPr>
            <a:r>
              <a:rPr sz="2000" b="1" i="0">
                <a:solidFill>
                  <a:srgbClr val="161B22"/>
                </a:solidFill>
                <a:latin typeface="Aptos Display"/>
              </a:rPr>
              <a:t>Search and re-identify a target vehicle across multiple camera recordings using all available visual evidence.</a:t>
            </a:r>
          </a:p>
        </p:txBody>
      </p:sp>
      <p:sp>
        <p:nvSpPr>
          <p:cNvPr id="24" name="TextBox 23"/>
          <p:cNvSpPr txBox="1"/>
          <p:nvPr/>
        </p:nvSpPr>
        <p:spPr>
          <a:xfrm>
            <a:off x="2011680" y="5897880"/>
            <a:ext cx="9601200" cy="365760"/>
          </a:xfrm>
          <a:prstGeom prst="rect">
            <a:avLst/>
          </a:prstGeom>
          <a:noFill/>
        </p:spPr>
        <p:txBody>
          <a:bodyPr wrap="square" lIns="0" rIns="0" tIns="0" bIns="0" anchor="t">
            <a:spAutoFit/>
          </a:bodyPr>
          <a:lstStyle/>
          <a:p>
            <a:pPr algn="l">
              <a:spcAft>
                <a:spcPts val="600"/>
              </a:spcAft>
            </a:pPr>
            <a:r>
              <a:rPr sz="1300" b="1" i="0">
                <a:solidFill>
                  <a:srgbClr val="161B22"/>
                </a:solidFill>
                <a:latin typeface="Aptos"/>
              </a:rPr>
              <a:t>V-Trace ranks potential matches for human review — it does not claim definitive forensic identity.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How the User Uses V-Trace</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The user starts with what they know — and confirms each step, from the first match to the full route.</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3</a:t>
            </a:r>
          </a:p>
        </p:txBody>
      </p:sp>
      <p:sp>
        <p:nvSpPr>
          <p:cNvPr id="7" name="Rounded Rectangle 6"/>
          <p:cNvSpPr/>
          <p:nvPr/>
        </p:nvSpPr>
        <p:spPr>
          <a:xfrm>
            <a:off x="411480" y="1600200"/>
            <a:ext cx="1664208" cy="329184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64792"/>
            <a:ext cx="1417320" cy="6400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1  UPLOAD</a:t>
            </a:r>
          </a:p>
        </p:txBody>
      </p:sp>
      <p:sp>
        <p:nvSpPr>
          <p:cNvPr id="9" name="TextBox 8"/>
          <p:cNvSpPr txBox="1"/>
          <p:nvPr/>
        </p:nvSpPr>
        <p:spPr>
          <a:xfrm>
            <a:off x="566928"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Camera A.mp4</a:t>
            </a:r>
          </a:p>
          <a:p>
            <a:pPr algn="l">
              <a:spcAft>
                <a:spcPts val="200"/>
              </a:spcAft>
            </a:pPr>
            <a:r>
              <a:rPr sz="1400" b="0" i="0">
                <a:solidFill>
                  <a:srgbClr val="2B333C"/>
                </a:solidFill>
                <a:latin typeface="Aptos"/>
              </a:rPr>
              <a:t>Camera B.mp4</a:t>
            </a:r>
          </a:p>
          <a:p>
            <a:pPr algn="l">
              <a:spcAft>
                <a:spcPts val="200"/>
              </a:spcAft>
            </a:pPr>
            <a:r>
              <a:rPr sz="1400" b="0" i="0">
                <a:solidFill>
                  <a:srgbClr val="2B333C"/>
                </a:solidFill>
                <a:latin typeface="Aptos"/>
              </a:rPr>
              <a:t>Camera C.mp4</a:t>
            </a:r>
          </a:p>
          <a:p>
            <a:pPr algn="l">
              <a:spcAft>
                <a:spcPts val="200"/>
              </a:spcAft>
            </a:pPr>
            <a:r>
              <a:rPr sz="1400" b="0" i="0">
                <a:solidFill>
                  <a:srgbClr val="2B333C"/>
                </a:solidFill>
                <a:latin typeface="Aptos"/>
              </a:rPr>
              <a:t>(demo cameras preloaded)</a:t>
            </a:r>
          </a:p>
        </p:txBody>
      </p:sp>
      <p:sp>
        <p:nvSpPr>
          <p:cNvPr id="10" name="Chevron 9"/>
          <p:cNvSpPr/>
          <p:nvPr/>
        </p:nvSpPr>
        <p:spPr>
          <a:xfrm>
            <a:off x="2121408" y="3017520"/>
            <a:ext cx="201168" cy="41148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368296" y="1600200"/>
            <a:ext cx="1664208" cy="3291840"/>
          </a:xfrm>
          <a:prstGeom prst="roundRect">
            <a:avLst>
              <a:gd name="adj" fmla="val 3500"/>
            </a:avLst>
          </a:prstGeom>
          <a:solidFill>
            <a:srgbClr val="E9E7F5"/>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23744" y="1764792"/>
            <a:ext cx="1417320" cy="6400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2  DESCRIBE</a:t>
            </a:r>
          </a:p>
        </p:txBody>
      </p:sp>
      <p:sp>
        <p:nvSpPr>
          <p:cNvPr id="13" name="TextBox 12"/>
          <p:cNvSpPr txBox="1"/>
          <p:nvPr/>
        </p:nvSpPr>
        <p:spPr>
          <a:xfrm>
            <a:off x="2523744"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Red sedan</a:t>
            </a:r>
          </a:p>
          <a:p>
            <a:pPr algn="l">
              <a:spcAft>
                <a:spcPts val="200"/>
              </a:spcAft>
            </a:pPr>
            <a:r>
              <a:rPr sz="1400" b="0" i="0">
                <a:solidFill>
                  <a:srgbClr val="2B333C"/>
                </a:solidFill>
                <a:latin typeface="Aptos"/>
              </a:rPr>
              <a:t>Plate: SGX12??</a:t>
            </a:r>
          </a:p>
          <a:p>
            <a:pPr algn="l">
              <a:spcAft>
                <a:spcPts val="200"/>
              </a:spcAft>
            </a:pPr>
            <a:r>
              <a:rPr sz="1400" b="0" i="0">
                <a:solidFill>
                  <a:srgbClr val="2B333C"/>
                </a:solidFill>
                <a:latin typeface="Aptos"/>
              </a:rPr>
              <a:t>Roof rack</a:t>
            </a:r>
          </a:p>
        </p:txBody>
      </p:sp>
      <p:sp>
        <p:nvSpPr>
          <p:cNvPr id="14" name="Chevron 13"/>
          <p:cNvSpPr/>
          <p:nvPr/>
        </p:nvSpPr>
        <p:spPr>
          <a:xfrm>
            <a:off x="4078224" y="3017520"/>
            <a:ext cx="201168" cy="41148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25112" y="1600200"/>
            <a:ext cx="1664208" cy="329184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1764792"/>
            <a:ext cx="1417320" cy="6400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3  SEARCH</a:t>
            </a:r>
          </a:p>
        </p:txBody>
      </p:sp>
      <p:sp>
        <p:nvSpPr>
          <p:cNvPr id="17" name="TextBox 16"/>
          <p:cNvSpPr txBox="1"/>
          <p:nvPr/>
        </p:nvSpPr>
        <p:spPr>
          <a:xfrm>
            <a:off x="4480560"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#1  camA · 0:41</a:t>
            </a:r>
          </a:p>
          <a:p>
            <a:pPr algn="l">
              <a:spcAft>
                <a:spcPts val="200"/>
              </a:spcAft>
            </a:pPr>
            <a:r>
              <a:rPr sz="1400" b="0" i="0">
                <a:solidFill>
                  <a:srgbClr val="2B333C"/>
                </a:solidFill>
                <a:latin typeface="Aptos"/>
              </a:rPr>
              <a:t>#2  camA · 0:01</a:t>
            </a:r>
          </a:p>
          <a:p>
            <a:pPr algn="l">
              <a:spcAft>
                <a:spcPts val="200"/>
              </a:spcAft>
            </a:pPr>
            <a:r>
              <a:rPr sz="1400" b="0" i="0">
                <a:solidFill>
                  <a:srgbClr val="2B333C"/>
                </a:solidFill>
                <a:latin typeface="Aptos"/>
              </a:rPr>
              <a:t>#3  camC · 0:03</a:t>
            </a:r>
          </a:p>
        </p:txBody>
      </p:sp>
      <p:sp>
        <p:nvSpPr>
          <p:cNvPr id="18" name="Chevron 17"/>
          <p:cNvSpPr/>
          <p:nvPr/>
        </p:nvSpPr>
        <p:spPr>
          <a:xfrm>
            <a:off x="6035040" y="3017520"/>
            <a:ext cx="201168" cy="41148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81928" y="1600200"/>
            <a:ext cx="1664208" cy="3291840"/>
          </a:xfrm>
          <a:prstGeom prst="roundRect">
            <a:avLst>
              <a:gd name="adj" fmla="val 3500"/>
            </a:avLst>
          </a:prstGeom>
          <a:solidFill>
            <a:srgbClr val="EFF5E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1764792"/>
            <a:ext cx="1417320" cy="640080"/>
          </a:xfrm>
          <a:prstGeom prst="rect">
            <a:avLst/>
          </a:prstGeom>
          <a:noFill/>
        </p:spPr>
        <p:txBody>
          <a:bodyPr wrap="square" lIns="0" rIns="0" tIns="0" bIns="0" anchor="t">
            <a:spAutoFit/>
          </a:bodyPr>
          <a:lstStyle/>
          <a:p>
            <a:pPr algn="l">
              <a:spcAft>
                <a:spcPts val="600"/>
              </a:spcAft>
            </a:pPr>
            <a:r>
              <a:rPr sz="1700" b="1" i="0">
                <a:solidFill>
                  <a:srgbClr val="3E8E3A"/>
                </a:solidFill>
                <a:latin typeface="Aptos Display"/>
              </a:rPr>
              <a:t>4  CONFIRM</a:t>
            </a:r>
          </a:p>
        </p:txBody>
      </p:sp>
      <p:sp>
        <p:nvSpPr>
          <p:cNvPr id="21" name="TextBox 20"/>
          <p:cNvSpPr txBox="1"/>
          <p:nvPr/>
        </p:nvSpPr>
        <p:spPr>
          <a:xfrm>
            <a:off x="6437376"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User selects the most plausible candidate</a:t>
            </a:r>
          </a:p>
        </p:txBody>
      </p:sp>
      <p:sp>
        <p:nvSpPr>
          <p:cNvPr id="22" name="Chevron 21"/>
          <p:cNvSpPr/>
          <p:nvPr/>
        </p:nvSpPr>
        <p:spPr>
          <a:xfrm>
            <a:off x="7991856" y="3017520"/>
            <a:ext cx="201168" cy="41148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38744" y="1600200"/>
            <a:ext cx="1664208" cy="3291840"/>
          </a:xfrm>
          <a:prstGeom prst="roundRect">
            <a:avLst>
              <a:gd name="adj" fmla="val 3500"/>
            </a:avLst>
          </a:prstGeom>
          <a:solidFill>
            <a:srgbClr val="E8F3E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1764792"/>
            <a:ext cx="1417320" cy="640080"/>
          </a:xfrm>
          <a:prstGeom prst="rect">
            <a:avLst/>
          </a:prstGeom>
          <a:noFill/>
        </p:spPr>
        <p:txBody>
          <a:bodyPr wrap="square" lIns="0" rIns="0" tIns="0" bIns="0" anchor="t">
            <a:spAutoFit/>
          </a:bodyPr>
          <a:lstStyle/>
          <a:p>
            <a:pPr algn="l">
              <a:spcAft>
                <a:spcPts val="600"/>
              </a:spcAft>
            </a:pPr>
            <a:r>
              <a:rPr sz="1700" b="1" i="0">
                <a:solidFill>
                  <a:srgbClr val="3E8E3A"/>
                </a:solidFill>
                <a:latin typeface="Aptos Display"/>
              </a:rPr>
              <a:t>5  RE-IDENTIFY</a:t>
            </a:r>
          </a:p>
        </p:txBody>
      </p:sp>
      <p:sp>
        <p:nvSpPr>
          <p:cNvPr id="25" name="TextBox 24"/>
          <p:cNvSpPr txBox="1"/>
          <p:nvPr/>
        </p:nvSpPr>
        <p:spPr>
          <a:xfrm>
            <a:off x="8394192"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Ranked sightings in other videos + frames + timestamps</a:t>
            </a:r>
          </a:p>
        </p:txBody>
      </p:sp>
      <p:sp>
        <p:nvSpPr>
          <p:cNvPr id="26" name="Chevron 25"/>
          <p:cNvSpPr/>
          <p:nvPr/>
        </p:nvSpPr>
        <p:spPr>
          <a:xfrm>
            <a:off x="9948672" y="3017520"/>
            <a:ext cx="201168" cy="41148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95560" y="1600200"/>
            <a:ext cx="1664208" cy="3291840"/>
          </a:xfrm>
          <a:prstGeom prst="roundRect">
            <a:avLst>
              <a:gd name="adj" fmla="val 3500"/>
            </a:avLst>
          </a:prstGeom>
          <a:solidFill>
            <a:srgbClr val="E3F1E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51008" y="1764792"/>
            <a:ext cx="1417320" cy="640080"/>
          </a:xfrm>
          <a:prstGeom prst="rect">
            <a:avLst/>
          </a:prstGeom>
          <a:noFill/>
        </p:spPr>
        <p:txBody>
          <a:bodyPr wrap="square" lIns="0" rIns="0" tIns="0" bIns="0" anchor="t">
            <a:spAutoFit/>
          </a:bodyPr>
          <a:lstStyle/>
          <a:p>
            <a:pPr algn="l">
              <a:spcAft>
                <a:spcPts val="600"/>
              </a:spcAft>
            </a:pPr>
            <a:r>
              <a:rPr sz="1700" b="1" i="0">
                <a:solidFill>
                  <a:srgbClr val="0E8782"/>
                </a:solidFill>
                <a:latin typeface="Aptos Display"/>
              </a:rPr>
              <a:t>6  TRACE</a:t>
            </a:r>
          </a:p>
        </p:txBody>
      </p:sp>
      <p:sp>
        <p:nvSpPr>
          <p:cNvPr id="29" name="TextBox 28"/>
          <p:cNvSpPr txBox="1"/>
          <p:nvPr/>
        </p:nvSpPr>
        <p:spPr>
          <a:xfrm>
            <a:off x="10351008" y="2697480"/>
            <a:ext cx="1417320" cy="2011680"/>
          </a:xfrm>
          <a:prstGeom prst="rect">
            <a:avLst/>
          </a:prstGeom>
          <a:noFill/>
        </p:spPr>
        <p:txBody>
          <a:bodyPr wrap="square" lIns="0" rIns="0" tIns="0" bIns="0" anchor="t">
            <a:spAutoFit/>
          </a:bodyPr>
          <a:lstStyle/>
          <a:p>
            <a:pPr algn="l">
              <a:spcAft>
                <a:spcPts val="200"/>
              </a:spcAft>
            </a:pPr>
            <a:r>
              <a:rPr sz="1400" b="0" i="0">
                <a:solidFill>
                  <a:srgbClr val="2B333C"/>
                </a:solidFill>
                <a:latin typeface="Aptos"/>
              </a:rPr>
              <a:t>Route camA → camB → camC, confirmed per camera</a:t>
            </a:r>
          </a:p>
        </p:txBody>
      </p:sp>
      <p:cxnSp>
        <p:nvCxnSpPr>
          <p:cNvPr id="30" name="Connector 29"/>
          <p:cNvCxnSpPr/>
          <p:nvPr/>
        </p:nvCxnSpPr>
        <p:spPr>
          <a:xfrm>
            <a:off x="914400" y="5257800"/>
            <a:ext cx="4892040" cy="0"/>
          </a:xfrm>
          <a:prstGeom prst="line">
            <a:avLst/>
          </a:prstGeom>
          <a:ln w="19050">
            <a:solidFill>
              <a:srgbClr val="12A7A1"/>
            </a:solidFill>
            <a:prstDash val="sysDot"/>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14400" y="5486400"/>
            <a:ext cx="4892040" cy="365760"/>
          </a:xfrm>
          <a:prstGeom prst="rect">
            <a:avLst/>
          </a:prstGeom>
          <a:noFill/>
        </p:spPr>
        <p:txBody>
          <a:bodyPr wrap="square" lIns="0" rIns="0" tIns="0" bIns="0" anchor="t">
            <a:spAutoFit/>
          </a:bodyPr>
          <a:lstStyle/>
          <a:p>
            <a:pPr algn="ctr">
              <a:spcAft>
                <a:spcPts val="600"/>
              </a:spcAft>
            </a:pPr>
            <a:r>
              <a:rPr sz="1300" b="1" i="0">
                <a:solidFill>
                  <a:srgbClr val="12A7A1"/>
                </a:solidFill>
                <a:latin typeface="Aptos Display"/>
              </a:rPr>
              <a:t>DESCRIPTION-TO-VEHICLE RETRIEVAL</a:t>
            </a:r>
          </a:p>
        </p:txBody>
      </p:sp>
      <p:cxnSp>
        <p:nvCxnSpPr>
          <p:cNvPr id="32" name="Connector 31"/>
          <p:cNvCxnSpPr/>
          <p:nvPr/>
        </p:nvCxnSpPr>
        <p:spPr>
          <a:xfrm>
            <a:off x="6400800" y="5257800"/>
            <a:ext cx="5120640" cy="0"/>
          </a:xfrm>
          <a:prstGeom prst="line">
            <a:avLst/>
          </a:prstGeom>
          <a:ln w="19050">
            <a:solidFill>
              <a:srgbClr val="5DC55B"/>
            </a:solidFill>
            <a:prstDash val="sysDot"/>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0" y="5486400"/>
            <a:ext cx="5120640" cy="365760"/>
          </a:xfrm>
          <a:prstGeom prst="rect">
            <a:avLst/>
          </a:prstGeom>
          <a:noFill/>
        </p:spPr>
        <p:txBody>
          <a:bodyPr wrap="square" lIns="0" rIns="0" tIns="0" bIns="0" anchor="t">
            <a:spAutoFit/>
          </a:bodyPr>
          <a:lstStyle/>
          <a:p>
            <a:pPr algn="ctr">
              <a:spcAft>
                <a:spcPts val="600"/>
              </a:spcAft>
            </a:pPr>
            <a:r>
              <a:rPr sz="1300" b="1" i="0">
                <a:solidFill>
                  <a:srgbClr val="5DC55B"/>
                </a:solidFill>
                <a:latin typeface="Aptos Display"/>
              </a:rPr>
              <a:t>VEHICLE-TO-VEHICLE Re-ID + ROUTE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System Design</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Raw videos become searchable vehicle tracks, then ranked sightings and a confirmed route.</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4</a:t>
            </a:r>
          </a:p>
        </p:txBody>
      </p:sp>
      <p:sp>
        <p:nvSpPr>
          <p:cNvPr id="7" name="Rounded Rectangle 6"/>
          <p:cNvSpPr/>
          <p:nvPr/>
        </p:nvSpPr>
        <p:spPr>
          <a:xfrm>
            <a:off x="365760" y="1600200"/>
            <a:ext cx="1463040" cy="356616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VIDEOS</a:t>
            </a:r>
          </a:p>
        </p:txBody>
      </p:sp>
      <p:sp>
        <p:nvSpPr>
          <p:cNvPr id="9" name="TextBox 8"/>
          <p:cNvSpPr txBox="1"/>
          <p:nvPr/>
        </p:nvSpPr>
        <p:spPr>
          <a:xfrm>
            <a:off x="502920"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Uploaded camera footage</a:t>
            </a:r>
          </a:p>
          <a:p>
            <a:pPr algn="l">
              <a:spcAft>
                <a:spcPts val="300"/>
              </a:spcAft>
            </a:pPr>
            <a:r>
              <a:rPr sz="1300" b="0" i="0">
                <a:solidFill>
                  <a:srgbClr val="2B333C"/>
                </a:solidFill>
                <a:latin typeface="Aptos"/>
              </a:rPr>
              <a:t>(one video = one camera)</a:t>
            </a:r>
          </a:p>
        </p:txBody>
      </p:sp>
      <p:sp>
        <p:nvSpPr>
          <p:cNvPr id="10" name="Chevron 9"/>
          <p:cNvSpPr/>
          <p:nvPr/>
        </p:nvSpPr>
        <p:spPr>
          <a:xfrm>
            <a:off x="1856231"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048256" y="1600200"/>
            <a:ext cx="1463040" cy="356616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5416"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DETECT + TRACK</a:t>
            </a:r>
          </a:p>
        </p:txBody>
      </p:sp>
      <p:sp>
        <p:nvSpPr>
          <p:cNvPr id="13" name="TextBox 12"/>
          <p:cNvSpPr txBox="1"/>
          <p:nvPr/>
        </p:nvSpPr>
        <p:spPr>
          <a:xfrm>
            <a:off x="2185416"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YOLO11n + ByteTrack</a:t>
            </a:r>
          </a:p>
          <a:p>
            <a:pPr algn="l">
              <a:spcAft>
                <a:spcPts val="300"/>
              </a:spcAft>
            </a:pPr>
            <a:r>
              <a:rPr sz="1300" b="0" i="0">
                <a:solidFill>
                  <a:srgbClr val="2B333C"/>
                </a:solidFill>
                <a:latin typeface="Aptos"/>
              </a:rPr>
              <a:t>→ tracklets</a:t>
            </a:r>
          </a:p>
        </p:txBody>
      </p:sp>
      <p:sp>
        <p:nvSpPr>
          <p:cNvPr id="14" name="Chevron 13"/>
          <p:cNvSpPr/>
          <p:nvPr/>
        </p:nvSpPr>
        <p:spPr>
          <a:xfrm>
            <a:off x="3538728"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730752" y="1600200"/>
            <a:ext cx="1463040" cy="356616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7912"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REPRESENT</a:t>
            </a:r>
          </a:p>
        </p:txBody>
      </p:sp>
      <p:sp>
        <p:nvSpPr>
          <p:cNvPr id="17" name="TextBox 16"/>
          <p:cNvSpPr txBox="1"/>
          <p:nvPr/>
        </p:nvSpPr>
        <p:spPr>
          <a:xfrm>
            <a:off x="3867912"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ResNet-50 · CLIP</a:t>
            </a:r>
          </a:p>
          <a:p>
            <a:pPr algn="l">
              <a:spcAft>
                <a:spcPts val="300"/>
              </a:spcAft>
            </a:pPr>
            <a:r>
              <a:rPr sz="1300" b="0" i="0">
                <a:solidFill>
                  <a:srgbClr val="2B333C"/>
                </a:solidFill>
                <a:latin typeface="Aptos"/>
              </a:rPr>
              <a:t>learned metric (LDA)</a:t>
            </a:r>
          </a:p>
          <a:p>
            <a:pPr algn="l">
              <a:spcAft>
                <a:spcPts val="300"/>
              </a:spcAft>
            </a:pPr>
            <a:r>
              <a:rPr sz="1300" b="0" i="0">
                <a:solidFill>
                  <a:srgbClr val="2B333C"/>
                </a:solidFill>
                <a:latin typeface="Aptos"/>
              </a:rPr>
              <a:t>colour · type · plate</a:t>
            </a:r>
          </a:p>
        </p:txBody>
      </p:sp>
      <p:sp>
        <p:nvSpPr>
          <p:cNvPr id="18" name="Chevron 17"/>
          <p:cNvSpPr/>
          <p:nvPr/>
        </p:nvSpPr>
        <p:spPr>
          <a:xfrm>
            <a:off x="5221224"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13248" y="1600200"/>
            <a:ext cx="1463040" cy="3566160"/>
          </a:xfrm>
          <a:prstGeom prst="roundRect">
            <a:avLst>
              <a:gd name="adj" fmla="val 3500"/>
            </a:avLst>
          </a:prstGeom>
          <a:solidFill>
            <a:srgbClr val="E6F2E9"/>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INDEX + SEARCH</a:t>
            </a:r>
          </a:p>
        </p:txBody>
      </p:sp>
      <p:sp>
        <p:nvSpPr>
          <p:cNvPr id="21" name="TextBox 20"/>
          <p:cNvSpPr txBox="1"/>
          <p:nvPr/>
        </p:nvSpPr>
        <p:spPr>
          <a:xfrm>
            <a:off x="5550408"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User description</a:t>
            </a:r>
          </a:p>
          <a:p>
            <a:pPr algn="l">
              <a:spcAft>
                <a:spcPts val="300"/>
              </a:spcAft>
            </a:pPr>
            <a:r>
              <a:rPr sz="1300" b="0" i="0">
                <a:solidFill>
                  <a:srgbClr val="2B333C"/>
                </a:solidFill>
                <a:latin typeface="Aptos"/>
              </a:rPr>
              <a:t>→ ranked candidates</a:t>
            </a:r>
          </a:p>
        </p:txBody>
      </p:sp>
      <p:sp>
        <p:nvSpPr>
          <p:cNvPr id="22" name="Chevron 21"/>
          <p:cNvSpPr/>
          <p:nvPr/>
        </p:nvSpPr>
        <p:spPr>
          <a:xfrm>
            <a:off x="6903720"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95744" y="1600200"/>
            <a:ext cx="1463040" cy="3566160"/>
          </a:xfrm>
          <a:prstGeom prst="roundRect">
            <a:avLst>
              <a:gd name="adj" fmla="val 3500"/>
            </a:avLst>
          </a:prstGeom>
          <a:solidFill>
            <a:srgbClr val="FDF1E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CONFIRM</a:t>
            </a:r>
          </a:p>
        </p:txBody>
      </p:sp>
      <p:sp>
        <p:nvSpPr>
          <p:cNvPr id="25" name="TextBox 24"/>
          <p:cNvSpPr txBox="1"/>
          <p:nvPr/>
        </p:nvSpPr>
        <p:spPr>
          <a:xfrm>
            <a:off x="7232904"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Selected candidate becomes the visual query</a:t>
            </a:r>
          </a:p>
        </p:txBody>
      </p:sp>
      <p:sp>
        <p:nvSpPr>
          <p:cNvPr id="26" name="Chevron 25"/>
          <p:cNvSpPr/>
          <p:nvPr/>
        </p:nvSpPr>
        <p:spPr>
          <a:xfrm>
            <a:off x="8586216"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78240" y="1600200"/>
            <a:ext cx="1463040" cy="3566160"/>
          </a:xfrm>
          <a:prstGeom prst="roundRect">
            <a:avLst>
              <a:gd name="adj" fmla="val 3500"/>
            </a:avLst>
          </a:prstGeom>
          <a:solidFill>
            <a:srgbClr val="DDE7EC"/>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0"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Re-ID + FUSION</a:t>
            </a:r>
          </a:p>
        </p:txBody>
      </p:sp>
      <p:sp>
        <p:nvSpPr>
          <p:cNvPr id="29" name="TextBox 28"/>
          <p:cNvSpPr txBox="1"/>
          <p:nvPr/>
        </p:nvSpPr>
        <p:spPr>
          <a:xfrm>
            <a:off x="8915400"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11 evidence features</a:t>
            </a:r>
          </a:p>
          <a:p>
            <a:pPr algn="l">
              <a:spcAft>
                <a:spcPts val="300"/>
              </a:spcAft>
            </a:pPr>
            <a:r>
              <a:rPr sz="1300" b="0" i="0">
                <a:solidFill>
                  <a:srgbClr val="2B333C"/>
                </a:solidFill>
                <a:latin typeface="Aptos"/>
              </a:rPr>
              <a:t>fusion / Random Forest</a:t>
            </a:r>
          </a:p>
        </p:txBody>
      </p:sp>
      <p:sp>
        <p:nvSpPr>
          <p:cNvPr id="30" name="Chevron 29"/>
          <p:cNvSpPr/>
          <p:nvPr/>
        </p:nvSpPr>
        <p:spPr>
          <a:xfrm>
            <a:off x="10268712" y="3154680"/>
            <a:ext cx="164592" cy="365760"/>
          </a:xfrm>
          <a:prstGeom prst="chevron">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460736" y="1600200"/>
            <a:ext cx="1463040" cy="3566160"/>
          </a:xfrm>
          <a:prstGeom prst="roundRect">
            <a:avLst>
              <a:gd name="adj" fmla="val 3500"/>
            </a:avLst>
          </a:prstGeom>
          <a:solidFill>
            <a:srgbClr val="E3F1E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97896" y="1764792"/>
            <a:ext cx="1234440" cy="73152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TRACE ROUTE</a:t>
            </a:r>
          </a:p>
        </p:txBody>
      </p:sp>
      <p:sp>
        <p:nvSpPr>
          <p:cNvPr id="33" name="TextBox 32"/>
          <p:cNvSpPr txBox="1"/>
          <p:nvPr/>
        </p:nvSpPr>
        <p:spPr>
          <a:xfrm>
            <a:off x="10597896" y="2743200"/>
            <a:ext cx="1234440" cy="2286000"/>
          </a:xfrm>
          <a:prstGeom prst="rect">
            <a:avLst/>
          </a:prstGeom>
          <a:noFill/>
        </p:spPr>
        <p:txBody>
          <a:bodyPr wrap="square" lIns="0" rIns="0" tIns="0" bIns="0" anchor="t">
            <a:spAutoFit/>
          </a:bodyPr>
          <a:lstStyle/>
          <a:p>
            <a:pPr algn="l">
              <a:spcAft>
                <a:spcPts val="300"/>
              </a:spcAft>
            </a:pPr>
            <a:r>
              <a:rPr sz="1300" b="0" i="0">
                <a:solidFill>
                  <a:srgbClr val="2B333C"/>
                </a:solidFill>
                <a:latin typeface="Aptos"/>
              </a:rPr>
              <a:t>Top-3 per camera</a:t>
            </a:r>
          </a:p>
          <a:p>
            <a:pPr algn="l">
              <a:spcAft>
                <a:spcPts val="300"/>
              </a:spcAft>
            </a:pPr>
            <a:r>
              <a:rPr sz="1300" b="0" i="0">
                <a:solidFill>
                  <a:srgbClr val="2B333C"/>
                </a:solidFill>
                <a:latin typeface="Aptos"/>
              </a:rPr>
              <a:t>confirmed hop by hop</a:t>
            </a:r>
          </a:p>
        </p:txBody>
      </p:sp>
      <p:sp>
        <p:nvSpPr>
          <p:cNvPr id="34" name="TextBox 33"/>
          <p:cNvSpPr txBox="1"/>
          <p:nvPr/>
        </p:nvSpPr>
        <p:spPr>
          <a:xfrm>
            <a:off x="411480" y="5532120"/>
            <a:ext cx="11338560" cy="548640"/>
          </a:xfrm>
          <a:prstGeom prst="rect">
            <a:avLst/>
          </a:prstGeom>
          <a:noFill/>
        </p:spPr>
        <p:txBody>
          <a:bodyPr wrap="square" lIns="0" rIns="0" tIns="0" bIns="0" anchor="t">
            <a:spAutoFit/>
          </a:bodyPr>
          <a:lstStyle/>
          <a:p>
            <a:pPr algn="ctr">
              <a:spcAft>
                <a:spcPts val="600"/>
              </a:spcAft>
            </a:pPr>
            <a:r>
              <a:rPr sz="1400" b="1" i="0">
                <a:solidFill>
                  <a:srgbClr val="161B22"/>
                </a:solidFill>
                <a:latin typeface="Aptos"/>
              </a:rPr>
              <a:t>Tracklet = observations of one tracked vehicle while it is visible in one video</a:t>
            </a:r>
          </a:p>
        </p:txBody>
      </p:sp>
      <p:sp>
        <p:nvSpPr>
          <p:cNvPr id="35" name="TextBox 34"/>
          <p:cNvSpPr txBox="1"/>
          <p:nvPr/>
        </p:nvSpPr>
        <p:spPr>
          <a:xfrm>
            <a:off x="411480" y="5897880"/>
            <a:ext cx="11338560" cy="365760"/>
          </a:xfrm>
          <a:prstGeom prst="rect">
            <a:avLst/>
          </a:prstGeom>
          <a:noFill/>
        </p:spPr>
        <p:txBody>
          <a:bodyPr wrap="square" lIns="0" rIns="0" tIns="0" bIns="0" anchor="t">
            <a:spAutoFit/>
          </a:bodyPr>
          <a:lstStyle/>
          <a:p>
            <a:pPr algn="ctr">
              <a:spcAft>
                <a:spcPts val="600"/>
              </a:spcAft>
            </a:pPr>
            <a:r>
              <a:rPr sz="1200" b="0" i="0">
                <a:solidFill>
                  <a:srgbClr val="5C6670"/>
                </a:solidFill>
                <a:latin typeface="Aptos"/>
              </a:rPr>
              <a:t>Streamlit app: Search page (find → route → where else) · Analysis page (benchmark · SOM · tracking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Vehicle Representation</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Every tracklet gets several complementary descriptors — no single cue is required.</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5</a:t>
            </a:r>
          </a:p>
        </p:txBody>
      </p:sp>
      <p:sp>
        <p:nvSpPr>
          <p:cNvPr id="7" name="Rounded Rectangle 6"/>
          <p:cNvSpPr/>
          <p:nvPr/>
        </p:nvSpPr>
        <p:spPr>
          <a:xfrm>
            <a:off x="548640" y="1554480"/>
            <a:ext cx="3520440" cy="214884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3108960" cy="365760"/>
          </a:xfrm>
          <a:prstGeom prst="rect">
            <a:avLst/>
          </a:prstGeom>
          <a:noFill/>
        </p:spPr>
        <p:txBody>
          <a:bodyPr wrap="square" lIns="0" rIns="0" tIns="0" bIns="0" anchor="t">
            <a:spAutoFit/>
          </a:bodyPr>
          <a:lstStyle/>
          <a:p>
            <a:pPr algn="l">
              <a:spcAft>
                <a:spcPts val="600"/>
              </a:spcAft>
            </a:pPr>
            <a:r>
              <a:rPr sz="1800" b="1" i="0">
                <a:solidFill>
                  <a:srgbClr val="4FA5B5"/>
                </a:solidFill>
                <a:latin typeface="Aptos Display"/>
              </a:rPr>
              <a:t>01</a:t>
            </a:r>
          </a:p>
        </p:txBody>
      </p:sp>
      <p:sp>
        <p:nvSpPr>
          <p:cNvPr id="9" name="TextBox 8"/>
          <p:cNvSpPr txBox="1"/>
          <p:nvPr/>
        </p:nvSpPr>
        <p:spPr>
          <a:xfrm>
            <a:off x="777240" y="217627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LEARNED Re-ID METRIC</a:t>
            </a:r>
          </a:p>
        </p:txBody>
      </p:sp>
      <p:sp>
        <p:nvSpPr>
          <p:cNvPr id="10" name="TextBox 9"/>
          <p:cNvSpPr txBox="1"/>
          <p:nvPr/>
        </p:nvSpPr>
        <p:spPr>
          <a:xfrm>
            <a:off x="777240" y="265176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PCA + LDA on [ResNet | CLIP], trained on VeRi vehicle identities — the main Re-ID cue</a:t>
            </a:r>
          </a:p>
        </p:txBody>
      </p:sp>
      <p:sp>
        <p:nvSpPr>
          <p:cNvPr id="11" name="Rounded Rectangle 10"/>
          <p:cNvSpPr/>
          <p:nvPr/>
        </p:nvSpPr>
        <p:spPr>
          <a:xfrm>
            <a:off x="4343400" y="1554480"/>
            <a:ext cx="3520440" cy="214884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37360"/>
            <a:ext cx="3108960" cy="365760"/>
          </a:xfrm>
          <a:prstGeom prst="rect">
            <a:avLst/>
          </a:prstGeom>
          <a:noFill/>
        </p:spPr>
        <p:txBody>
          <a:bodyPr wrap="square" lIns="0" rIns="0" tIns="0" bIns="0" anchor="t">
            <a:spAutoFit/>
          </a:bodyPr>
          <a:lstStyle/>
          <a:p>
            <a:pPr algn="l">
              <a:spcAft>
                <a:spcPts val="600"/>
              </a:spcAft>
            </a:pPr>
            <a:r>
              <a:rPr sz="1800" b="1" i="0">
                <a:solidFill>
                  <a:srgbClr val="4FA5B5"/>
                </a:solidFill>
                <a:latin typeface="Aptos Display"/>
              </a:rPr>
              <a:t>02</a:t>
            </a:r>
          </a:p>
        </p:txBody>
      </p:sp>
      <p:sp>
        <p:nvSpPr>
          <p:cNvPr id="13" name="TextBox 12"/>
          <p:cNvSpPr txBox="1"/>
          <p:nvPr/>
        </p:nvSpPr>
        <p:spPr>
          <a:xfrm>
            <a:off x="4572000" y="217627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APPEARANCE</a:t>
            </a:r>
          </a:p>
        </p:txBody>
      </p:sp>
      <p:sp>
        <p:nvSpPr>
          <p:cNvPr id="14" name="TextBox 13"/>
          <p:cNvSpPr txBox="1"/>
          <p:nvPr/>
        </p:nvSpPr>
        <p:spPr>
          <a:xfrm>
            <a:off x="4572000" y="265176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ResNet-50 (2048-d) + CLIP ViT-B/32 (512-d) embeddings, averaged over 4 crops</a:t>
            </a:r>
          </a:p>
        </p:txBody>
      </p:sp>
      <p:sp>
        <p:nvSpPr>
          <p:cNvPr id="15" name="Rounded Rectangle 14"/>
          <p:cNvSpPr/>
          <p:nvPr/>
        </p:nvSpPr>
        <p:spPr>
          <a:xfrm>
            <a:off x="8138160" y="1554480"/>
            <a:ext cx="3520440" cy="2148840"/>
          </a:xfrm>
          <a:prstGeom prst="roundRect">
            <a:avLst>
              <a:gd name="adj" fmla="val 3500"/>
            </a:avLst>
          </a:prstGeom>
          <a:solidFill>
            <a:srgbClr val="F4E9E0"/>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737360"/>
            <a:ext cx="3108960" cy="365760"/>
          </a:xfrm>
          <a:prstGeom prst="rect">
            <a:avLst/>
          </a:prstGeom>
          <a:noFill/>
        </p:spPr>
        <p:txBody>
          <a:bodyPr wrap="square" lIns="0" rIns="0" tIns="0" bIns="0" anchor="t">
            <a:spAutoFit/>
          </a:bodyPr>
          <a:lstStyle/>
          <a:p>
            <a:pPr algn="l">
              <a:spcAft>
                <a:spcPts val="600"/>
              </a:spcAft>
            </a:pPr>
            <a:r>
              <a:rPr sz="1800" b="1" i="0">
                <a:solidFill>
                  <a:srgbClr val="D08A55"/>
                </a:solidFill>
                <a:latin typeface="Aptos Display"/>
              </a:rPr>
              <a:t>03</a:t>
            </a:r>
          </a:p>
        </p:txBody>
      </p:sp>
      <p:sp>
        <p:nvSpPr>
          <p:cNvPr id="17" name="TextBox 16"/>
          <p:cNvSpPr txBox="1"/>
          <p:nvPr/>
        </p:nvSpPr>
        <p:spPr>
          <a:xfrm>
            <a:off x="8366760" y="217627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COLOUR &amp; TYPE</a:t>
            </a:r>
          </a:p>
        </p:txBody>
      </p:sp>
      <p:sp>
        <p:nvSpPr>
          <p:cNvPr id="18" name="TextBox 17"/>
          <p:cNvSpPr txBox="1"/>
          <p:nvPr/>
        </p:nvSpPr>
        <p:spPr>
          <a:xfrm>
            <a:off x="8366760" y="265176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Supervised linear probe on CLIP (10 colours · 9 types); zero-shot fallback</a:t>
            </a:r>
          </a:p>
        </p:txBody>
      </p:sp>
      <p:sp>
        <p:nvSpPr>
          <p:cNvPr id="19" name="Rounded Rectangle 18"/>
          <p:cNvSpPr/>
          <p:nvPr/>
        </p:nvSpPr>
        <p:spPr>
          <a:xfrm>
            <a:off x="548640" y="3931920"/>
            <a:ext cx="3520440" cy="2148840"/>
          </a:xfrm>
          <a:prstGeom prst="roundRect">
            <a:avLst>
              <a:gd name="adj" fmla="val 3500"/>
            </a:avLst>
          </a:prstGeom>
          <a:solidFill>
            <a:srgbClr val="FDF4E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14800"/>
            <a:ext cx="3108960" cy="365760"/>
          </a:xfrm>
          <a:prstGeom prst="rect">
            <a:avLst/>
          </a:prstGeom>
          <a:noFill/>
        </p:spPr>
        <p:txBody>
          <a:bodyPr wrap="square" lIns="0" rIns="0" tIns="0" bIns="0" anchor="t">
            <a:spAutoFit/>
          </a:bodyPr>
          <a:lstStyle/>
          <a:p>
            <a:pPr algn="l">
              <a:spcAft>
                <a:spcPts val="600"/>
              </a:spcAft>
            </a:pPr>
            <a:r>
              <a:rPr sz="1800" b="1" i="0">
                <a:solidFill>
                  <a:srgbClr val="D08A55"/>
                </a:solidFill>
                <a:latin typeface="Aptos Display"/>
              </a:rPr>
              <a:t>04</a:t>
            </a:r>
          </a:p>
        </p:txBody>
      </p:sp>
      <p:sp>
        <p:nvSpPr>
          <p:cNvPr id="21" name="TextBox 20"/>
          <p:cNvSpPr txBox="1"/>
          <p:nvPr/>
        </p:nvSpPr>
        <p:spPr>
          <a:xfrm>
            <a:off x="777240" y="455371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HSV HISTOGRAM</a:t>
            </a:r>
          </a:p>
        </p:txBody>
      </p:sp>
      <p:sp>
        <p:nvSpPr>
          <p:cNvPr id="22" name="TextBox 21"/>
          <p:cNvSpPr txBox="1"/>
          <p:nvPr/>
        </p:nvSpPr>
        <p:spPr>
          <a:xfrm>
            <a:off x="777240" y="502920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16×4×4 hand-crafted colour histogram of the vehicle centre</a:t>
            </a:r>
          </a:p>
        </p:txBody>
      </p:sp>
      <p:sp>
        <p:nvSpPr>
          <p:cNvPr id="23" name="Rounded Rectangle 22"/>
          <p:cNvSpPr/>
          <p:nvPr/>
        </p:nvSpPr>
        <p:spPr>
          <a:xfrm>
            <a:off x="4343400" y="3931920"/>
            <a:ext cx="3520440" cy="2148840"/>
          </a:xfrm>
          <a:prstGeom prst="roundRect">
            <a:avLst>
              <a:gd name="adj" fmla="val 3500"/>
            </a:avLst>
          </a:prstGeom>
          <a:solidFill>
            <a:srgbClr val="E9E7F5"/>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4114800"/>
            <a:ext cx="3108960" cy="365760"/>
          </a:xfrm>
          <a:prstGeom prst="rect">
            <a:avLst/>
          </a:prstGeom>
          <a:noFill/>
        </p:spPr>
        <p:txBody>
          <a:bodyPr wrap="square" lIns="0" rIns="0" tIns="0" bIns="0" anchor="t">
            <a:spAutoFit/>
          </a:bodyPr>
          <a:lstStyle/>
          <a:p>
            <a:pPr algn="l">
              <a:spcAft>
                <a:spcPts val="600"/>
              </a:spcAft>
            </a:pPr>
            <a:r>
              <a:rPr sz="1800" b="1" i="0">
                <a:solidFill>
                  <a:srgbClr val="7E6DB8"/>
                </a:solidFill>
                <a:latin typeface="Aptos Display"/>
              </a:rPr>
              <a:t>05</a:t>
            </a:r>
          </a:p>
        </p:txBody>
      </p:sp>
      <p:sp>
        <p:nvSpPr>
          <p:cNvPr id="25" name="TextBox 24"/>
          <p:cNvSpPr txBox="1"/>
          <p:nvPr/>
        </p:nvSpPr>
        <p:spPr>
          <a:xfrm>
            <a:off x="4572000" y="455371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LICENCE PLATE</a:t>
            </a:r>
          </a:p>
        </p:txBody>
      </p:sp>
      <p:sp>
        <p:nvSpPr>
          <p:cNvPr id="26" name="TextBox 25"/>
          <p:cNvSpPr txBox="1"/>
          <p:nvPr/>
        </p:nvSpPr>
        <p:spPr>
          <a:xfrm>
            <a:off x="4572000" y="502920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EasyOCR on the largest crops; wildcard (?) Levenshtein matching</a:t>
            </a:r>
          </a:p>
        </p:txBody>
      </p:sp>
      <p:sp>
        <p:nvSpPr>
          <p:cNvPr id="27" name="Rounded Rectangle 26"/>
          <p:cNvSpPr/>
          <p:nvPr/>
        </p:nvSpPr>
        <p:spPr>
          <a:xfrm>
            <a:off x="8138160" y="3931920"/>
            <a:ext cx="3520440" cy="2148840"/>
          </a:xfrm>
          <a:prstGeom prst="roundRect">
            <a:avLst>
              <a:gd name="adj" fmla="val 3500"/>
            </a:avLst>
          </a:prstGeom>
          <a:solidFill>
            <a:srgbClr val="EFED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4114800"/>
            <a:ext cx="3108960" cy="365760"/>
          </a:xfrm>
          <a:prstGeom prst="rect">
            <a:avLst/>
          </a:prstGeom>
          <a:noFill/>
        </p:spPr>
        <p:txBody>
          <a:bodyPr wrap="square" lIns="0" rIns="0" tIns="0" bIns="0" anchor="t">
            <a:spAutoFit/>
          </a:bodyPr>
          <a:lstStyle/>
          <a:p>
            <a:pPr algn="l">
              <a:spcAft>
                <a:spcPts val="600"/>
              </a:spcAft>
            </a:pPr>
            <a:r>
              <a:rPr sz="1800" b="1" i="0">
                <a:solidFill>
                  <a:srgbClr val="7E6DB8"/>
                </a:solidFill>
                <a:latin typeface="Aptos Display"/>
              </a:rPr>
              <a:t>06</a:t>
            </a:r>
          </a:p>
        </p:txBody>
      </p:sp>
      <p:sp>
        <p:nvSpPr>
          <p:cNvPr id="29" name="TextBox 28"/>
          <p:cNvSpPr txBox="1"/>
          <p:nvPr/>
        </p:nvSpPr>
        <p:spPr>
          <a:xfrm>
            <a:off x="8366760" y="4553712"/>
            <a:ext cx="3108960" cy="41148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DISTINCTIVE CUES</a:t>
            </a:r>
          </a:p>
        </p:txBody>
      </p:sp>
      <p:sp>
        <p:nvSpPr>
          <p:cNvPr id="30" name="TextBox 29"/>
          <p:cNvSpPr txBox="1"/>
          <p:nvPr/>
        </p:nvSpPr>
        <p:spPr>
          <a:xfrm>
            <a:off x="8366760" y="5029200"/>
            <a:ext cx="3108960" cy="100584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CLIP text–image score: roof rack · spoiler · dent · decal · roof cargo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Re-Identification &amp; Route Tracing</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Pairwise evidence is fused into one score; the route is suggested, then confirmed camera by camera.</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6</a:t>
            </a:r>
          </a:p>
        </p:txBody>
      </p:sp>
      <p:sp>
        <p:nvSpPr>
          <p:cNvPr id="7" name="Rounded Rectangle 6"/>
          <p:cNvSpPr/>
          <p:nvPr/>
        </p:nvSpPr>
        <p:spPr>
          <a:xfrm>
            <a:off x="548640" y="1554480"/>
            <a:ext cx="5120640" cy="420624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4663440" cy="36576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EVIDENCE VECTOR (11 FEATURES)</a:t>
            </a:r>
          </a:p>
        </p:txBody>
      </p:sp>
      <p:sp>
        <p:nvSpPr>
          <p:cNvPr id="9" name="Rounded Rectangle 8"/>
          <p:cNvSpPr/>
          <p:nvPr/>
        </p:nvSpPr>
        <p:spPr>
          <a:xfrm>
            <a:off x="777240" y="224028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learned-metric cosine</a:t>
            </a:r>
          </a:p>
        </p:txBody>
      </p:sp>
      <p:sp>
        <p:nvSpPr>
          <p:cNvPr id="10" name="Rounded Rectangle 9"/>
          <p:cNvSpPr/>
          <p:nvPr/>
        </p:nvSpPr>
        <p:spPr>
          <a:xfrm>
            <a:off x="3172968" y="224028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ResNet cosine</a:t>
            </a:r>
          </a:p>
        </p:txBody>
      </p:sp>
      <p:sp>
        <p:nvSpPr>
          <p:cNvPr id="11" name="Rounded Rectangle 10"/>
          <p:cNvSpPr/>
          <p:nvPr/>
        </p:nvSpPr>
        <p:spPr>
          <a:xfrm>
            <a:off x="777240" y="274320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CLIP cosine</a:t>
            </a:r>
          </a:p>
        </p:txBody>
      </p:sp>
      <p:sp>
        <p:nvSpPr>
          <p:cNvPr id="12" name="Rounded Rectangle 11"/>
          <p:cNvSpPr/>
          <p:nvPr/>
        </p:nvSpPr>
        <p:spPr>
          <a:xfrm>
            <a:off x="3172968" y="274320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HSV histogram</a:t>
            </a:r>
          </a:p>
        </p:txBody>
      </p:sp>
      <p:sp>
        <p:nvSpPr>
          <p:cNvPr id="13" name="Rounded Rectangle 12"/>
          <p:cNvSpPr/>
          <p:nvPr/>
        </p:nvSpPr>
        <p:spPr>
          <a:xfrm>
            <a:off x="777240" y="324612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colour agreement</a:t>
            </a:r>
          </a:p>
        </p:txBody>
      </p:sp>
      <p:sp>
        <p:nvSpPr>
          <p:cNvPr id="14" name="Rounded Rectangle 13"/>
          <p:cNvSpPr/>
          <p:nvPr/>
        </p:nvSpPr>
        <p:spPr>
          <a:xfrm>
            <a:off x="3172968" y="324612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type agreement</a:t>
            </a:r>
          </a:p>
        </p:txBody>
      </p:sp>
      <p:sp>
        <p:nvSpPr>
          <p:cNvPr id="15" name="Rounded Rectangle 14"/>
          <p:cNvSpPr/>
          <p:nvPr/>
        </p:nvSpPr>
        <p:spPr>
          <a:xfrm>
            <a:off x="777240" y="374904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plate similarity</a:t>
            </a:r>
          </a:p>
        </p:txBody>
      </p:sp>
      <p:sp>
        <p:nvSpPr>
          <p:cNvPr id="16" name="Rounded Rectangle 15"/>
          <p:cNvSpPr/>
          <p:nvPr/>
        </p:nvSpPr>
        <p:spPr>
          <a:xfrm>
            <a:off x="3172968" y="374904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both plates read</a:t>
            </a:r>
          </a:p>
        </p:txBody>
      </p:sp>
      <p:sp>
        <p:nvSpPr>
          <p:cNvPr id="17" name="Rounded Rectangle 16"/>
          <p:cNvSpPr/>
          <p:nvPr/>
        </p:nvSpPr>
        <p:spPr>
          <a:xfrm>
            <a:off x="777240" y="425196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cue agreement</a:t>
            </a:r>
          </a:p>
        </p:txBody>
      </p:sp>
      <p:sp>
        <p:nvSpPr>
          <p:cNvPr id="18" name="Rounded Rectangle 17"/>
          <p:cNvSpPr/>
          <p:nvPr/>
        </p:nvSpPr>
        <p:spPr>
          <a:xfrm>
            <a:off x="3172968" y="4251960"/>
            <a:ext cx="2267712" cy="402336"/>
          </a:xfrm>
          <a:prstGeom prst="roundRect">
            <a:avLst>
              <a:gd name="adj" fmla="val 30000"/>
            </a:avLst>
          </a:prstGeom>
          <a:solidFill>
            <a:srgbClr val="FFFFF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2B333C"/>
                </a:solidFill>
                <a:latin typeface="Aptos"/>
              </a:rPr>
              <a:t>track quality / consistency</a:t>
            </a:r>
          </a:p>
        </p:txBody>
      </p:sp>
      <p:sp>
        <p:nvSpPr>
          <p:cNvPr id="19" name="TextBox 18"/>
          <p:cNvSpPr txBox="1"/>
          <p:nvPr/>
        </p:nvSpPr>
        <p:spPr>
          <a:xfrm>
            <a:off x="777240" y="4846320"/>
            <a:ext cx="4663440" cy="822960"/>
          </a:xfrm>
          <a:prstGeom prst="rect">
            <a:avLst/>
          </a:prstGeom>
          <a:noFill/>
        </p:spPr>
        <p:txBody>
          <a:bodyPr wrap="square" lIns="0" rIns="0" tIns="0" bIns="0" anchor="t">
            <a:spAutoFit/>
          </a:bodyPr>
          <a:lstStyle/>
          <a:p>
            <a:pPr algn="l">
              <a:spcAft>
                <a:spcPts val="600"/>
              </a:spcAft>
            </a:pPr>
            <a:r>
              <a:rPr sz="1300" b="1" i="0">
                <a:solidFill>
                  <a:srgbClr val="0E8782"/>
                </a:solidFill>
                <a:latin typeface="Aptos"/>
              </a:rPr>
              <a:t>Scorers  </a:t>
            </a:r>
            <a:r>
              <a:rPr sz="1300" b="0" i="0">
                <a:solidFill>
                  <a:srgbClr val="2B333C"/>
                </a:solidFill>
                <a:latin typeface="Aptos"/>
              </a:rPr>
              <a:t>appearance only · learned metric · weighted fusion · Random Forest (monotonic)</a:t>
            </a:r>
          </a:p>
        </p:txBody>
      </p:sp>
      <p:sp>
        <p:nvSpPr>
          <p:cNvPr id="20" name="Rounded Rectangle 19"/>
          <p:cNvSpPr/>
          <p:nvPr/>
        </p:nvSpPr>
        <p:spPr>
          <a:xfrm>
            <a:off x="6035040" y="1554480"/>
            <a:ext cx="5623560" cy="4206240"/>
          </a:xfrm>
          <a:prstGeom prst="roundRect">
            <a:avLst>
              <a:gd name="adj" fmla="val 3500"/>
            </a:avLst>
          </a:prstGeom>
          <a:solidFill>
            <a:srgbClr val="E3F1EF"/>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737360"/>
            <a:ext cx="5120640" cy="36576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ROUTE TRACING</a:t>
            </a:r>
          </a:p>
        </p:txBody>
      </p:sp>
      <p:sp>
        <p:nvSpPr>
          <p:cNvPr id="22" name="Rounded Rectangle 21"/>
          <p:cNvSpPr/>
          <p:nvPr/>
        </p:nvSpPr>
        <p:spPr>
          <a:xfrm>
            <a:off x="6355080" y="2240280"/>
            <a:ext cx="1417320" cy="868680"/>
          </a:xfrm>
          <a:prstGeom prst="roundRect">
            <a:avLst>
              <a:gd name="adj" fmla="val 10000"/>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ptos"/>
              </a:rPr>
              <a:t>camA</a:t>
            </a:r>
          </a:p>
          <a:p>
            <a:pPr algn="ctr"/>
            <a:r>
              <a:rPr sz="1300" b="0">
                <a:solidFill>
                  <a:srgbClr val="FFFFFF"/>
                </a:solidFill>
                <a:latin typeface="Aptos"/>
              </a:rPr>
              <a:t>far · small</a:t>
            </a:r>
          </a:p>
        </p:txBody>
      </p:sp>
      <p:sp>
        <p:nvSpPr>
          <p:cNvPr id="23" name="Chevron 22"/>
          <p:cNvSpPr/>
          <p:nvPr/>
        </p:nvSpPr>
        <p:spPr>
          <a:xfrm>
            <a:off x="7818120" y="2487168"/>
            <a:ext cx="228600" cy="365760"/>
          </a:xfrm>
          <a:prstGeom prst="chevron">
            <a:avLst/>
          </a:prstGeom>
          <a:solidFill>
            <a:srgbClr val="5DC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60" y="2240280"/>
            <a:ext cx="1417320" cy="868680"/>
          </a:xfrm>
          <a:prstGeom prst="roundRect">
            <a:avLst>
              <a:gd name="adj" fmla="val 10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ptos"/>
              </a:rPr>
              <a:t>camB</a:t>
            </a:r>
          </a:p>
          <a:p>
            <a:pPr algn="ctr"/>
            <a:r>
              <a:rPr sz="1300" b="0">
                <a:solidFill>
                  <a:srgbClr val="FFFFFF"/>
                </a:solidFill>
                <a:latin typeface="Aptos"/>
              </a:rPr>
              <a:t>mid</a:t>
            </a:r>
          </a:p>
        </p:txBody>
      </p:sp>
      <p:sp>
        <p:nvSpPr>
          <p:cNvPr id="25" name="Chevron 24"/>
          <p:cNvSpPr/>
          <p:nvPr/>
        </p:nvSpPr>
        <p:spPr>
          <a:xfrm>
            <a:off x="9601200" y="2487168"/>
            <a:ext cx="228600" cy="365760"/>
          </a:xfrm>
          <a:prstGeom prst="chevron">
            <a:avLst/>
          </a:prstGeom>
          <a:solidFill>
            <a:srgbClr val="5DC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921240" y="2240280"/>
            <a:ext cx="1417320" cy="868680"/>
          </a:xfrm>
          <a:prstGeom prst="roundRect">
            <a:avLst>
              <a:gd name="adj" fmla="val 10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ptos"/>
              </a:rPr>
              <a:t>camC</a:t>
            </a:r>
          </a:p>
          <a:p>
            <a:pPr algn="ctr"/>
            <a:r>
              <a:rPr sz="1300" b="0">
                <a:solidFill>
                  <a:srgbClr val="FFFFFF"/>
                </a:solidFill>
                <a:latin typeface="Aptos"/>
              </a:rPr>
              <a:t>near · large</a:t>
            </a:r>
          </a:p>
        </p:txBody>
      </p:sp>
      <p:sp>
        <p:nvSpPr>
          <p:cNvPr id="27" name="TextBox 26"/>
          <p:cNvSpPr txBox="1"/>
          <p:nvPr/>
        </p:nvSpPr>
        <p:spPr>
          <a:xfrm>
            <a:off x="6263640" y="3383280"/>
            <a:ext cx="5212080" cy="2286000"/>
          </a:xfrm>
          <a:prstGeom prst="rect">
            <a:avLst/>
          </a:prstGeom>
          <a:noFill/>
        </p:spPr>
        <p:txBody>
          <a:bodyPr wrap="square" lIns="0" rIns="0" tIns="0" bIns="0" anchor="t">
            <a:spAutoFit/>
          </a:bodyPr>
          <a:lstStyle/>
          <a:p>
            <a:pPr algn="l">
              <a:spcAft>
                <a:spcPts val="600"/>
              </a:spcAft>
            </a:pPr>
            <a:r>
              <a:rPr sz="1400" b="0" i="0">
                <a:solidFill>
                  <a:srgbClr val="2B333C"/>
                </a:solidFill>
                <a:latin typeface="Aptos"/>
              </a:rPr>
              <a:t>•  Score each camera's tracklets against </a:t>
            </a:r>
            <a:r>
              <a:rPr sz="1400" b="1" i="0">
                <a:solidFill>
                  <a:srgbClr val="2B333C"/>
                </a:solidFill>
                <a:latin typeface="Aptos"/>
              </a:rPr>
              <a:t>all</a:t>
            </a:r>
            <a:r>
              <a:rPr sz="1400" b="0" i="0">
                <a:solidFill>
                  <a:srgbClr val="2B333C"/>
                </a:solidFill>
                <a:latin typeface="Aptos"/>
              </a:rPr>
              <a:t> known views of the car</a:t>
            </a:r>
          </a:p>
          <a:p>
            <a:pPr algn="l">
              <a:spcAft>
                <a:spcPts val="600"/>
              </a:spcAft>
            </a:pPr>
            <a:r>
              <a:rPr sz="1400" b="0" i="0">
                <a:solidFill>
                  <a:srgbClr val="2B333C"/>
                </a:solidFill>
                <a:latin typeface="Aptos"/>
              </a:rPr>
              <a:t>•  Suggest a camera only if its best clearly beats its runner-up</a:t>
            </a:r>
          </a:p>
          <a:p>
            <a:pPr algn="l">
              <a:spcAft>
                <a:spcPts val="600"/>
              </a:spcAft>
            </a:pPr>
            <a:r>
              <a:rPr sz="1400" b="0" i="0">
                <a:solidFill>
                  <a:srgbClr val="2B333C"/>
                </a:solidFill>
                <a:latin typeface="Aptos"/>
              </a:rPr>
              <a:t>•  Show the top 3 per camera — the user confirms each hop in one click</a:t>
            </a:r>
          </a:p>
          <a:p>
            <a:pPr algn="l">
              <a:spcAft>
                <a:spcPts val="600"/>
              </a:spcAft>
            </a:pPr>
            <a:r>
              <a:rPr sz="1400" b="0" i="0">
                <a:solidFill>
                  <a:srgbClr val="2B333C"/>
                </a:solidFill>
                <a:latin typeface="Aptos"/>
              </a:rPr>
              <a:t>•  Each confirmation re-scores the rest; a time window rejects impossible jumps</a:t>
            </a:r>
          </a:p>
        </p:txBody>
      </p:sp>
      <p:sp>
        <p:nvSpPr>
          <p:cNvPr id="28" name="Rounded Rectangle 27"/>
          <p:cNvSpPr/>
          <p:nvPr/>
        </p:nvSpPr>
        <p:spPr>
          <a:xfrm>
            <a:off x="548640" y="5943600"/>
            <a:ext cx="11109960" cy="502920"/>
          </a:xfrm>
          <a:prstGeom prst="roundRect">
            <a:avLst>
              <a:gd name="adj" fmla="val 12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Aptos Display"/>
              </a:rPr>
              <a:t>EVERY STEP IS A RANKED CANDIDATE FOR HUMAN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Technique Groups</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All four technique groups are implemented, each with a distinct role in the same pipeline.</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7</a:t>
            </a:r>
          </a:p>
        </p:txBody>
      </p:sp>
      <p:sp>
        <p:nvSpPr>
          <p:cNvPr id="7" name="Rounded Rectangle 6"/>
          <p:cNvSpPr/>
          <p:nvPr/>
        </p:nvSpPr>
        <p:spPr>
          <a:xfrm>
            <a:off x="548640" y="1554480"/>
            <a:ext cx="5440680" cy="214884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5029200" cy="4114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1  SUPERVISED / UNSUPERVISED</a:t>
            </a:r>
          </a:p>
        </p:txBody>
      </p:sp>
      <p:sp>
        <p:nvSpPr>
          <p:cNvPr id="9" name="TextBox 8"/>
          <p:cNvSpPr txBox="1"/>
          <p:nvPr/>
        </p:nvSpPr>
        <p:spPr>
          <a:xfrm>
            <a:off x="777240" y="2468880"/>
            <a:ext cx="5029200" cy="1188720"/>
          </a:xfrm>
          <a:prstGeom prst="rect">
            <a:avLst/>
          </a:prstGeom>
          <a:noFill/>
        </p:spPr>
        <p:txBody>
          <a:bodyPr wrap="square" lIns="0" rIns="0" tIns="0" bIns="0" anchor="t">
            <a:spAutoFit/>
          </a:bodyPr>
          <a:lstStyle/>
          <a:p>
            <a:pPr algn="l">
              <a:spcAft>
                <a:spcPts val="400"/>
              </a:spcAft>
            </a:pPr>
            <a:r>
              <a:rPr sz="1500" b="0" i="0">
                <a:solidFill>
                  <a:srgbClr val="2B333C"/>
                </a:solidFill>
                <a:latin typeface="Aptos"/>
              </a:rPr>
              <a:t>Supervised: LDA metric learning · Random Forest same/different matcher · colour/type probe</a:t>
            </a:r>
          </a:p>
          <a:p>
            <a:pPr algn="l">
              <a:spcAft>
                <a:spcPts val="400"/>
              </a:spcAft>
            </a:pPr>
            <a:r>
              <a:rPr sz="1500" b="0" i="0">
                <a:solidFill>
                  <a:srgbClr val="2B333C"/>
                </a:solidFill>
                <a:latin typeface="Aptos"/>
              </a:rPr>
              <a:t>Unsupervised: Self-Organising Map (+ PCA) of vehicle embeddings</a:t>
            </a:r>
          </a:p>
        </p:txBody>
      </p:sp>
      <p:sp>
        <p:nvSpPr>
          <p:cNvPr id="10" name="Rounded Rectangle 9"/>
          <p:cNvSpPr/>
          <p:nvPr/>
        </p:nvSpPr>
        <p:spPr>
          <a:xfrm>
            <a:off x="6217920" y="1554480"/>
            <a:ext cx="5440680" cy="214884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83080"/>
            <a:ext cx="5029200" cy="4114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2  MACHINE / DEEP LEARNING</a:t>
            </a:r>
          </a:p>
        </p:txBody>
      </p:sp>
      <p:sp>
        <p:nvSpPr>
          <p:cNvPr id="12" name="TextBox 11"/>
          <p:cNvSpPr txBox="1"/>
          <p:nvPr/>
        </p:nvSpPr>
        <p:spPr>
          <a:xfrm>
            <a:off x="6446520" y="2468880"/>
            <a:ext cx="5029200" cy="1188720"/>
          </a:xfrm>
          <a:prstGeom prst="rect">
            <a:avLst/>
          </a:prstGeom>
          <a:noFill/>
        </p:spPr>
        <p:txBody>
          <a:bodyPr wrap="square" lIns="0" rIns="0" tIns="0" bIns="0" anchor="t">
            <a:spAutoFit/>
          </a:bodyPr>
          <a:lstStyle/>
          <a:p>
            <a:pPr algn="l">
              <a:spcAft>
                <a:spcPts val="400"/>
              </a:spcAft>
            </a:pPr>
            <a:r>
              <a:rPr sz="1500" b="0" i="0">
                <a:solidFill>
                  <a:srgbClr val="2B333C"/>
                </a:solidFill>
                <a:latin typeface="Aptos"/>
              </a:rPr>
              <a:t>YOLO11n vehicle detection + ByteTrack</a:t>
            </a:r>
          </a:p>
          <a:p>
            <a:pPr algn="l">
              <a:spcAft>
                <a:spcPts val="400"/>
              </a:spcAft>
            </a:pPr>
            <a:r>
              <a:rPr sz="1500" b="0" i="0">
                <a:solidFill>
                  <a:srgbClr val="2B333C"/>
                </a:solidFill>
                <a:latin typeface="Aptos"/>
              </a:rPr>
              <a:t>ResNet-50 / CLIP embeddings · EasyOCR plates</a:t>
            </a:r>
          </a:p>
        </p:txBody>
      </p:sp>
      <p:sp>
        <p:nvSpPr>
          <p:cNvPr id="13" name="Rounded Rectangle 12"/>
          <p:cNvSpPr/>
          <p:nvPr/>
        </p:nvSpPr>
        <p:spPr>
          <a:xfrm>
            <a:off x="548640" y="3977639"/>
            <a:ext cx="5440680" cy="2148840"/>
          </a:xfrm>
          <a:prstGeom prst="roundRect">
            <a:avLst>
              <a:gd name="adj" fmla="val 3500"/>
            </a:avLst>
          </a:prstGeom>
          <a:solidFill>
            <a:srgbClr val="FDF1E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6240"/>
            <a:ext cx="5029200" cy="4114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3  HYBRID / ENSEMBLE</a:t>
            </a:r>
          </a:p>
        </p:txBody>
      </p:sp>
      <p:sp>
        <p:nvSpPr>
          <p:cNvPr id="15" name="TextBox 14"/>
          <p:cNvSpPr txBox="1"/>
          <p:nvPr/>
        </p:nvSpPr>
        <p:spPr>
          <a:xfrm>
            <a:off x="777240" y="4892040"/>
            <a:ext cx="5029200" cy="1188720"/>
          </a:xfrm>
          <a:prstGeom prst="rect">
            <a:avLst/>
          </a:prstGeom>
          <a:noFill/>
        </p:spPr>
        <p:txBody>
          <a:bodyPr wrap="square" lIns="0" rIns="0" tIns="0" bIns="0" anchor="t">
            <a:spAutoFit/>
          </a:bodyPr>
          <a:lstStyle/>
          <a:p>
            <a:pPr algn="l">
              <a:spcAft>
                <a:spcPts val="400"/>
              </a:spcAft>
            </a:pPr>
            <a:r>
              <a:rPr sz="1500" b="0" i="0">
                <a:solidFill>
                  <a:srgbClr val="2B333C"/>
                </a:solidFill>
                <a:latin typeface="Aptos"/>
              </a:rPr>
              <a:t>Random Forest / weighted fusion combine metric + appearance + colour + type + plate + track evidence</a:t>
            </a:r>
          </a:p>
        </p:txBody>
      </p:sp>
      <p:sp>
        <p:nvSpPr>
          <p:cNvPr id="16" name="Rounded Rectangle 15"/>
          <p:cNvSpPr/>
          <p:nvPr/>
        </p:nvSpPr>
        <p:spPr>
          <a:xfrm>
            <a:off x="6217920" y="3977639"/>
            <a:ext cx="5440680" cy="2148840"/>
          </a:xfrm>
          <a:prstGeom prst="roundRect">
            <a:avLst>
              <a:gd name="adj" fmla="val 3500"/>
            </a:avLst>
          </a:prstGeom>
          <a:solidFill>
            <a:srgbClr val="EFF5E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06240"/>
            <a:ext cx="5029200" cy="411480"/>
          </a:xfrm>
          <a:prstGeom prst="rect">
            <a:avLst/>
          </a:prstGeom>
          <a:noFill/>
        </p:spPr>
        <p:txBody>
          <a:bodyPr wrap="square" lIns="0" rIns="0" tIns="0" bIns="0" anchor="t">
            <a:spAutoFit/>
          </a:bodyPr>
          <a:lstStyle/>
          <a:p>
            <a:pPr algn="l">
              <a:spcAft>
                <a:spcPts val="600"/>
              </a:spcAft>
            </a:pPr>
            <a:r>
              <a:rPr sz="1700" b="1" i="0">
                <a:solidFill>
                  <a:srgbClr val="161B22"/>
                </a:solidFill>
                <a:latin typeface="Aptos Display"/>
              </a:rPr>
              <a:t>4  INTELLIGENT SENSING / SENSE-MAKING</a:t>
            </a:r>
          </a:p>
        </p:txBody>
      </p:sp>
      <p:sp>
        <p:nvSpPr>
          <p:cNvPr id="18" name="TextBox 17"/>
          <p:cNvSpPr txBox="1"/>
          <p:nvPr/>
        </p:nvSpPr>
        <p:spPr>
          <a:xfrm>
            <a:off x="6446520" y="4892040"/>
            <a:ext cx="5029200" cy="1188720"/>
          </a:xfrm>
          <a:prstGeom prst="rect">
            <a:avLst/>
          </a:prstGeom>
          <a:noFill/>
        </p:spPr>
        <p:txBody>
          <a:bodyPr wrap="square" lIns="0" rIns="0" tIns="0" bIns="0" anchor="t">
            <a:spAutoFit/>
          </a:bodyPr>
          <a:lstStyle/>
          <a:p>
            <a:pPr algn="l">
              <a:spcAft>
                <a:spcPts val="400"/>
              </a:spcAft>
            </a:pPr>
            <a:r>
              <a:rPr sz="1500" b="0" i="0">
                <a:solidFill>
                  <a:srgbClr val="2B333C"/>
                </a:solidFill>
                <a:latin typeface="Aptos"/>
              </a:rPr>
              <a:t>Raw video → detections → tracks → descriptors → candidates → confirmed target →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Data &amp; Evaluation Protocol</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Benchmark data measures Re-ID performance; multi-camera footage tests the complete workflow.</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8</a:t>
            </a:r>
          </a:p>
        </p:txBody>
      </p:sp>
      <p:sp>
        <p:nvSpPr>
          <p:cNvPr id="7" name="Rounded Rectangle 6"/>
          <p:cNvSpPr/>
          <p:nvPr/>
        </p:nvSpPr>
        <p:spPr>
          <a:xfrm>
            <a:off x="548640" y="1554480"/>
            <a:ext cx="4572000" cy="4206240"/>
          </a:xfrm>
          <a:prstGeom prst="roundRect">
            <a:avLst>
              <a:gd name="adj" fmla="val 3500"/>
            </a:avLst>
          </a:prstGeom>
          <a:solidFill>
            <a:srgbClr val="E9E7F5"/>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4114800" cy="36576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BENCHMARK  |  VeRi-776</a:t>
            </a:r>
          </a:p>
        </p:txBody>
      </p:sp>
      <p:sp>
        <p:nvSpPr>
          <p:cNvPr id="9" name="TextBox 8"/>
          <p:cNvSpPr txBox="1"/>
          <p:nvPr/>
        </p:nvSpPr>
        <p:spPr>
          <a:xfrm>
            <a:off x="777240" y="2286000"/>
            <a:ext cx="4114800" cy="3291840"/>
          </a:xfrm>
          <a:prstGeom prst="rect">
            <a:avLst/>
          </a:prstGeom>
          <a:noFill/>
        </p:spPr>
        <p:txBody>
          <a:bodyPr wrap="square" lIns="0" rIns="0" tIns="0" bIns="0" anchor="t">
            <a:spAutoFit/>
          </a:bodyPr>
          <a:lstStyle/>
          <a:p>
            <a:pPr algn="l">
              <a:spcAft>
                <a:spcPts val="300"/>
              </a:spcAft>
            </a:pPr>
            <a:r>
              <a:rPr sz="1400" b="0" i="0">
                <a:solidFill>
                  <a:srgbClr val="2B333C"/>
                </a:solidFill>
                <a:latin typeface="Aptos"/>
              </a:rPr>
              <a:t>50K+ images · 776 vehicles · 20 cameras</a:t>
            </a:r>
          </a:p>
          <a:p>
            <a:pPr algn="l">
              <a:spcAft>
                <a:spcPts val="300"/>
              </a:spcAft>
            </a:pPr>
            <a:r>
              <a:rPr sz="1400" b="0" i="0">
                <a:solidFill>
                  <a:srgbClr val="2B333C"/>
                </a:solidFill>
                <a:latin typeface="Aptos"/>
              </a:rPr>
              <a:t>150 train / 100 test vehicles (identity-disjoint)</a:t>
            </a:r>
          </a:p>
          <a:p>
            <a:pPr algn="l">
              <a:spcAft>
                <a:spcPts val="300"/>
              </a:spcAft>
            </a:pPr>
            <a:r>
              <a:rPr sz="1400" b="0" i="0">
                <a:solidFill>
                  <a:srgbClr val="2B333C"/>
                </a:solidFill>
                <a:latin typeface="Aptos"/>
              </a:rPr>
              <a:t>1,290 / 830 tracklets · 300 Re-ID queries</a:t>
            </a:r>
          </a:p>
          <a:p>
            <a:pPr algn="l">
              <a:spcAft>
                <a:spcPts val="300"/>
              </a:spcAft>
            </a:pPr>
            <a:r>
              <a:rPr sz="1400" b="0" i="0">
                <a:solidFill>
                  <a:srgbClr val="2B333C"/>
                </a:solidFill>
                <a:latin typeface="Aptos"/>
              </a:rPr>
              <a:t/>
            </a:r>
          </a:p>
          <a:p>
            <a:pPr algn="l">
              <a:spcAft>
                <a:spcPts val="300"/>
              </a:spcAft>
            </a:pPr>
            <a:r>
              <a:rPr sz="1400" b="0" i="0">
                <a:solidFill>
                  <a:srgbClr val="2B333C"/>
                </a:solidFill>
                <a:latin typeface="Aptos"/>
              </a:rPr>
              <a:t>Used for:</a:t>
            </a:r>
          </a:p>
          <a:p>
            <a:pPr algn="l">
              <a:spcAft>
                <a:spcPts val="300"/>
              </a:spcAft>
            </a:pPr>
            <a:r>
              <a:rPr sz="1400" b="0" i="0">
                <a:solidFill>
                  <a:srgbClr val="2B333C"/>
                </a:solidFill>
                <a:latin typeface="Aptos"/>
              </a:rPr>
              <a:t>•  learned metric, probes and Random Forest</a:t>
            </a:r>
          </a:p>
          <a:p>
            <a:pPr algn="l">
              <a:spcAft>
                <a:spcPts val="300"/>
              </a:spcAft>
            </a:pPr>
            <a:r>
              <a:rPr sz="1400" b="0" i="0">
                <a:solidFill>
                  <a:srgbClr val="2B333C"/>
                </a:solidFill>
                <a:latin typeface="Aptos"/>
              </a:rPr>
              <a:t>•  Rank-1 / Rank-5 / mAP · plate degradation</a:t>
            </a:r>
          </a:p>
          <a:p>
            <a:pPr algn="l">
              <a:spcAft>
                <a:spcPts val="300"/>
              </a:spcAft>
            </a:pPr>
            <a:r>
              <a:rPr sz="1400" b="0" i="0">
                <a:solidFill>
                  <a:srgbClr val="2B333C"/>
                </a:solidFill>
                <a:latin typeface="Aptos"/>
              </a:rPr>
              <a:t>•  attribute accuracy · SOM purity</a:t>
            </a:r>
          </a:p>
        </p:txBody>
      </p:sp>
      <p:sp>
        <p:nvSpPr>
          <p:cNvPr id="10" name="Rounded Rectangle 9"/>
          <p:cNvSpPr/>
          <p:nvPr/>
        </p:nvSpPr>
        <p:spPr>
          <a:xfrm>
            <a:off x="5486400" y="1554480"/>
            <a:ext cx="6172200" cy="420624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0" y="1737360"/>
            <a:ext cx="5760720" cy="365760"/>
          </a:xfrm>
          <a:prstGeom prst="rect">
            <a:avLst/>
          </a:prstGeom>
          <a:noFill/>
        </p:spPr>
        <p:txBody>
          <a:bodyPr wrap="square" lIns="0" rIns="0" tIns="0" bIns="0" anchor="t">
            <a:spAutoFit/>
          </a:bodyPr>
          <a:lstStyle/>
          <a:p>
            <a:pPr algn="l">
              <a:spcAft>
                <a:spcPts val="600"/>
              </a:spcAft>
            </a:pPr>
            <a:r>
              <a:rPr sz="1600" b="1" i="0">
                <a:solidFill>
                  <a:srgbClr val="161B22"/>
                </a:solidFill>
                <a:latin typeface="Aptos Display"/>
              </a:rPr>
              <a:t>VIDEO DEMONSTRATION  |  4 CAMERAS</a:t>
            </a:r>
          </a:p>
        </p:txBody>
      </p:sp>
      <p:pic>
        <p:nvPicPr>
          <p:cNvPr id="12" name="Picture 11" descr="demo_zones.jpg"/>
          <p:cNvPicPr>
            <a:picLocks noChangeAspect="1"/>
          </p:cNvPicPr>
          <p:nvPr/>
        </p:nvPicPr>
        <p:blipFill>
          <a:blip r:embed="rId4"/>
          <a:stretch>
            <a:fillRect/>
          </a:stretch>
        </p:blipFill>
        <p:spPr>
          <a:xfrm>
            <a:off x="6134100" y="2194560"/>
            <a:ext cx="4876800" cy="2743200"/>
          </a:xfrm>
          <a:prstGeom prst="rect">
            <a:avLst/>
          </a:prstGeom>
        </p:spPr>
      </p:pic>
      <p:sp>
        <p:nvSpPr>
          <p:cNvPr id="13" name="TextBox 12"/>
          <p:cNvSpPr txBox="1"/>
          <p:nvPr/>
        </p:nvSpPr>
        <p:spPr>
          <a:xfrm>
            <a:off x="5715000" y="5029200"/>
            <a:ext cx="5760720" cy="64008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3 zones of one CC BY 3.0 street clip (same cars pass A → B → C) + camD on another road · 187 tracklets · pseudo ground truth from full-frame tracking</a:t>
            </a:r>
          </a:p>
        </p:txBody>
      </p:sp>
      <p:sp>
        <p:nvSpPr>
          <p:cNvPr id="14" name="TextBox 13"/>
          <p:cNvSpPr txBox="1"/>
          <p:nvPr/>
        </p:nvSpPr>
        <p:spPr>
          <a:xfrm>
            <a:off x="548640" y="5989320"/>
            <a:ext cx="11109960" cy="365760"/>
          </a:xfrm>
          <a:prstGeom prst="rect">
            <a:avLst/>
          </a:prstGeom>
          <a:noFill/>
        </p:spPr>
        <p:txBody>
          <a:bodyPr wrap="square" lIns="0" rIns="0" tIns="0" bIns="0" anchor="t">
            <a:spAutoFit/>
          </a:bodyPr>
          <a:lstStyle/>
          <a:p>
            <a:pPr algn="ctr">
              <a:spcAft>
                <a:spcPts val="600"/>
              </a:spcAft>
            </a:pPr>
            <a:r>
              <a:rPr sz="1500" b="1" i="0">
                <a:solidFill>
                  <a:srgbClr val="15324B"/>
                </a:solidFill>
                <a:latin typeface="Aptos Display"/>
              </a:rPr>
              <a:t>Benchmark = “Does the Re-ID method work?”    |    Videos = “Does the software workflow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Results: Attributes &amp; Description Search</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Supervision doubles type accuracy; combined cues put the right vehicle in the top 5 for 84% of queries.</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9</a:t>
            </a:r>
          </a:p>
        </p:txBody>
      </p:sp>
      <p:sp>
        <p:nvSpPr>
          <p:cNvPr id="7" name="Rounded Rectangle 6"/>
          <p:cNvSpPr/>
          <p:nvPr/>
        </p:nvSpPr>
        <p:spPr>
          <a:xfrm>
            <a:off x="548640" y="1554480"/>
            <a:ext cx="5440680" cy="452628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5029200" cy="36576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ATTRIBUTE ACCURACY (%)</a:t>
            </a:r>
          </a:p>
        </p:txBody>
      </p:sp>
      <p:graphicFrame>
        <p:nvGraphicFramePr>
          <p:cNvPr id="9" name="Chart 8"/>
          <p:cNvGraphicFramePr>
            <a:graphicFrameLocks noGrp="1"/>
          </p:cNvGraphicFramePr>
          <p:nvPr/>
        </p:nvGraphicFramePr>
        <p:xfrm>
          <a:off x="685800" y="2148840"/>
          <a:ext cx="5166360" cy="3840480"/>
        </p:xfrm>
        <a:graphic>
          <a:graphicData uri="http://schemas.openxmlformats.org/drawingml/2006/chart">
            <c:chart xmlns:c="http://schemas.openxmlformats.org/drawingml/2006/chart" r:id="rId4"/>
          </a:graphicData>
        </a:graphic>
      </p:graphicFrame>
      <p:sp>
        <p:nvSpPr>
          <p:cNvPr id="10" name="Rounded Rectangle 9"/>
          <p:cNvSpPr/>
          <p:nvPr/>
        </p:nvSpPr>
        <p:spPr>
          <a:xfrm>
            <a:off x="6217920" y="1554480"/>
            <a:ext cx="5440680" cy="452628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19072"/>
            <a:ext cx="5029200" cy="365760"/>
          </a:xfrm>
          <a:prstGeom prst="rect">
            <a:avLst/>
          </a:prstGeom>
          <a:noFill/>
        </p:spPr>
        <p:txBody>
          <a:bodyPr wrap="square" lIns="0" rIns="0" tIns="0" bIns="0" anchor="t">
            <a:spAutoFit/>
          </a:bodyPr>
          <a:lstStyle/>
          <a:p>
            <a:pPr algn="l">
              <a:spcAft>
                <a:spcPts val="600"/>
              </a:spcAft>
            </a:pPr>
            <a:r>
              <a:rPr sz="1500" b="1" i="0">
                <a:solidFill>
                  <a:srgbClr val="161B22"/>
                </a:solidFill>
                <a:latin typeface="Aptos Display"/>
              </a:rPr>
              <a:t>STAGE 1 DESCRIPTION SEARCH (%)</a:t>
            </a:r>
          </a:p>
        </p:txBody>
      </p:sp>
      <p:graphicFrame>
        <p:nvGraphicFramePr>
          <p:cNvPr id="12" name="Chart 11"/>
          <p:cNvGraphicFramePr>
            <a:graphicFrameLocks noGrp="1"/>
          </p:cNvGraphicFramePr>
          <p:nvPr/>
        </p:nvGraphicFramePr>
        <p:xfrm>
          <a:off x="6355080" y="2148840"/>
          <a:ext cx="5166360" cy="3840480"/>
        </p:xfrm>
        <a:graphic>
          <a:graphicData uri="http://schemas.openxmlformats.org/drawingml/2006/chart">
            <c:chart xmlns:c="http://schemas.openxmlformats.org/drawingml/2006/chart" r:id="rId5"/>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Results: Plate Robustness</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Plate-only search collapses as plates degrade; fused evidence holds up — the main hypothesis.</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10</a:t>
            </a:r>
          </a:p>
        </p:txBody>
      </p:sp>
      <p:graphicFrame>
        <p:nvGraphicFramePr>
          <p:cNvPr id="7" name="Chart 6"/>
          <p:cNvGraphicFramePr>
            <a:graphicFrameLocks noGrp="1"/>
          </p:cNvGraphicFramePr>
          <p:nvPr/>
        </p:nvGraphicFramePr>
        <p:xfrm>
          <a:off x="548640" y="1463040"/>
          <a:ext cx="7863840" cy="4343400"/>
        </p:xfrm>
        <a:graphic>
          <a:graphicData uri="http://schemas.openxmlformats.org/drawingml/2006/chart">
            <c:chart xmlns:c="http://schemas.openxmlformats.org/drawingml/2006/chart" r:id="rId4"/>
          </a:graphicData>
        </a:graphic>
      </p:graphicFrame>
      <p:sp>
        <p:nvSpPr>
          <p:cNvPr id="8" name="Rounded Rectangle 7"/>
          <p:cNvSpPr/>
          <p:nvPr/>
        </p:nvSpPr>
        <p:spPr>
          <a:xfrm>
            <a:off x="8732520" y="1554480"/>
            <a:ext cx="2926080" cy="1261872"/>
          </a:xfrm>
          <a:prstGeom prst="roundRect">
            <a:avLst>
              <a:gd name="adj" fmla="val 3500"/>
            </a:avLst>
          </a:prstGeom>
          <a:solidFill>
            <a:srgbClr val="F4E9E0"/>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1691639"/>
            <a:ext cx="2560320" cy="548640"/>
          </a:xfrm>
          <a:prstGeom prst="rect">
            <a:avLst/>
          </a:prstGeom>
          <a:noFill/>
        </p:spPr>
        <p:txBody>
          <a:bodyPr wrap="square" lIns="0" rIns="0" tIns="0" bIns="0" anchor="t">
            <a:spAutoFit/>
          </a:bodyPr>
          <a:lstStyle/>
          <a:p>
            <a:pPr algn="l">
              <a:spcAft>
                <a:spcPts val="600"/>
              </a:spcAft>
            </a:pPr>
            <a:r>
              <a:rPr sz="2800" b="1" i="0">
                <a:solidFill>
                  <a:srgbClr val="D08A55"/>
                </a:solidFill>
                <a:latin typeface="Aptos Display"/>
              </a:rPr>
              <a:t>100 → 3.6</a:t>
            </a:r>
          </a:p>
        </p:txBody>
      </p:sp>
      <p:sp>
        <p:nvSpPr>
          <p:cNvPr id="10" name="TextBox 9"/>
          <p:cNvSpPr txBox="1"/>
          <p:nvPr/>
        </p:nvSpPr>
        <p:spPr>
          <a:xfrm>
            <a:off x="8961120" y="2331720"/>
            <a:ext cx="2560320" cy="41148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plate-only mAP, clear → hidden</a:t>
            </a:r>
          </a:p>
        </p:txBody>
      </p:sp>
      <p:sp>
        <p:nvSpPr>
          <p:cNvPr id="11" name="Rounded Rectangle 10"/>
          <p:cNvSpPr/>
          <p:nvPr/>
        </p:nvSpPr>
        <p:spPr>
          <a:xfrm>
            <a:off x="8732520" y="2971800"/>
            <a:ext cx="2926080" cy="1261872"/>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3108960"/>
            <a:ext cx="2560320" cy="548640"/>
          </a:xfrm>
          <a:prstGeom prst="rect">
            <a:avLst/>
          </a:prstGeom>
          <a:noFill/>
        </p:spPr>
        <p:txBody>
          <a:bodyPr wrap="square" lIns="0" rIns="0" tIns="0" bIns="0" anchor="t">
            <a:spAutoFit/>
          </a:bodyPr>
          <a:lstStyle/>
          <a:p>
            <a:pPr algn="l">
              <a:spcAft>
                <a:spcPts val="600"/>
              </a:spcAft>
            </a:pPr>
            <a:r>
              <a:rPr sz="2800" b="1" i="0">
                <a:solidFill>
                  <a:srgbClr val="0E8782"/>
                </a:solidFill>
                <a:latin typeface="Aptos Display"/>
              </a:rPr>
              <a:t>63.5</a:t>
            </a:r>
          </a:p>
        </p:txBody>
      </p:sp>
      <p:sp>
        <p:nvSpPr>
          <p:cNvPr id="13" name="TextBox 12"/>
          <p:cNvSpPr txBox="1"/>
          <p:nvPr/>
        </p:nvSpPr>
        <p:spPr>
          <a:xfrm>
            <a:off x="8961120" y="3749039"/>
            <a:ext cx="2560320" cy="41148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weighted fusion mAP, partial plates</a:t>
            </a:r>
          </a:p>
        </p:txBody>
      </p:sp>
      <p:sp>
        <p:nvSpPr>
          <p:cNvPr id="14" name="Rounded Rectangle 13"/>
          <p:cNvSpPr/>
          <p:nvPr/>
        </p:nvSpPr>
        <p:spPr>
          <a:xfrm>
            <a:off x="8732520" y="4389120"/>
            <a:ext cx="2926080" cy="1261872"/>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4526280"/>
            <a:ext cx="2560320" cy="548640"/>
          </a:xfrm>
          <a:prstGeom prst="rect">
            <a:avLst/>
          </a:prstGeom>
          <a:noFill/>
        </p:spPr>
        <p:txBody>
          <a:bodyPr wrap="square" lIns="0" rIns="0" tIns="0" bIns="0" anchor="t">
            <a:spAutoFit/>
          </a:bodyPr>
          <a:lstStyle/>
          <a:p>
            <a:pPr algn="l">
              <a:spcAft>
                <a:spcPts val="600"/>
              </a:spcAft>
            </a:pPr>
            <a:r>
              <a:rPr sz="2800" b="1" i="0">
                <a:solidFill>
                  <a:srgbClr val="0E8782"/>
                </a:solidFill>
                <a:latin typeface="Aptos Display"/>
              </a:rPr>
              <a:t>69.5</a:t>
            </a:r>
          </a:p>
        </p:txBody>
      </p:sp>
      <p:sp>
        <p:nvSpPr>
          <p:cNvPr id="16" name="TextBox 15"/>
          <p:cNvSpPr txBox="1"/>
          <p:nvPr/>
        </p:nvSpPr>
        <p:spPr>
          <a:xfrm>
            <a:off x="8961120" y="5166359"/>
            <a:ext cx="2560320" cy="41148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weighted fusion mAP, blurred plates</a:t>
            </a:r>
          </a:p>
        </p:txBody>
      </p:sp>
      <p:sp>
        <p:nvSpPr>
          <p:cNvPr id="17" name="Rounded Rectangle 16"/>
          <p:cNvSpPr/>
          <p:nvPr/>
        </p:nvSpPr>
        <p:spPr>
          <a:xfrm>
            <a:off x="548640" y="5943600"/>
            <a:ext cx="11109960" cy="502920"/>
          </a:xfrm>
          <a:prstGeom prst="roundRect">
            <a:avLst>
              <a:gd name="adj" fmla="val 12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Display"/>
              </a:rPr>
              <a:t>HYPOTHESIS SUPPORTED: MULTI-EVIDENCE RETRIEVAL DEGRADES GRACEFULLY WHEN THE PLATE FAILS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Results: Which Cues Matter?</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With plates hidden, supervised metric learning is the biggest single gain.</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11</a:t>
            </a:r>
          </a:p>
        </p:txBody>
      </p:sp>
      <p:graphicFrame>
        <p:nvGraphicFramePr>
          <p:cNvPr id="7" name="Chart 6"/>
          <p:cNvGraphicFramePr>
            <a:graphicFrameLocks noGrp="1"/>
          </p:cNvGraphicFramePr>
          <p:nvPr/>
        </p:nvGraphicFramePr>
        <p:xfrm>
          <a:off x="548640" y="1417320"/>
          <a:ext cx="7863840" cy="4937760"/>
        </p:xfrm>
        <a:graphic>
          <a:graphicData uri="http://schemas.openxmlformats.org/drawingml/2006/chart">
            <c:chart xmlns:c="http://schemas.openxmlformats.org/drawingml/2006/chart" r:id="rId4"/>
          </a:graphicData>
        </a:graphic>
      </p:graphicFrame>
      <p:sp>
        <p:nvSpPr>
          <p:cNvPr id="8" name="Rounded Rectangle 7"/>
          <p:cNvSpPr/>
          <p:nvPr/>
        </p:nvSpPr>
        <p:spPr>
          <a:xfrm>
            <a:off x="8732520" y="1554480"/>
            <a:ext cx="2926080" cy="288036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42832" y="1719072"/>
            <a:ext cx="2560320" cy="365760"/>
          </a:xfrm>
          <a:prstGeom prst="rect">
            <a:avLst/>
          </a:prstGeom>
          <a:noFill/>
        </p:spPr>
        <p:txBody>
          <a:bodyPr wrap="square" lIns="0" rIns="0" tIns="0" bIns="0" anchor="t">
            <a:spAutoFit/>
          </a:bodyPr>
          <a:lstStyle/>
          <a:p>
            <a:pPr algn="l">
              <a:spcAft>
                <a:spcPts val="600"/>
              </a:spcAft>
            </a:pPr>
            <a:r>
              <a:rPr sz="1200" b="1" i="0">
                <a:solidFill>
                  <a:srgbClr val="161B22"/>
                </a:solidFill>
                <a:latin typeface="Aptos Display"/>
              </a:rPr>
              <a:t>RANDOM FOREST IMPORTANCE</a:t>
            </a:r>
          </a:p>
        </p:txBody>
      </p:sp>
      <p:sp>
        <p:nvSpPr>
          <p:cNvPr id="10" name="TextBox 9"/>
          <p:cNvSpPr txBox="1"/>
          <p:nvPr/>
        </p:nvSpPr>
        <p:spPr>
          <a:xfrm>
            <a:off x="8942832" y="2148840"/>
            <a:ext cx="256032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metric cos</a:t>
            </a:r>
          </a:p>
        </p:txBody>
      </p:sp>
      <p:sp>
        <p:nvSpPr>
          <p:cNvPr id="11" name="Rectangle 10"/>
          <p:cNvSpPr/>
          <p:nvPr/>
        </p:nvSpPr>
        <p:spPr>
          <a:xfrm>
            <a:off x="8942832" y="2423160"/>
            <a:ext cx="2011680" cy="182880"/>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18520" y="2368296"/>
            <a:ext cx="548640" cy="274320"/>
          </a:xfrm>
          <a:prstGeom prst="rect">
            <a:avLst/>
          </a:prstGeom>
          <a:noFill/>
        </p:spPr>
        <p:txBody>
          <a:bodyPr wrap="square" lIns="0" rIns="0" tIns="0" bIns="0" anchor="t">
            <a:spAutoFit/>
          </a:bodyPr>
          <a:lstStyle/>
          <a:p>
            <a:pPr algn="l">
              <a:spcAft>
                <a:spcPts val="600"/>
              </a:spcAft>
            </a:pPr>
            <a:r>
              <a:rPr sz="1100" b="1" i="0">
                <a:solidFill>
                  <a:srgbClr val="161B22"/>
                </a:solidFill>
                <a:latin typeface="Aptos"/>
              </a:rPr>
              <a:t>0.45</a:t>
            </a:r>
          </a:p>
        </p:txBody>
      </p:sp>
      <p:sp>
        <p:nvSpPr>
          <p:cNvPr id="13" name="TextBox 12"/>
          <p:cNvSpPr txBox="1"/>
          <p:nvPr/>
        </p:nvSpPr>
        <p:spPr>
          <a:xfrm>
            <a:off x="8942832" y="2715768"/>
            <a:ext cx="256032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plate sim</a:t>
            </a:r>
          </a:p>
        </p:txBody>
      </p:sp>
      <p:sp>
        <p:nvSpPr>
          <p:cNvPr id="14" name="Rectangle 13"/>
          <p:cNvSpPr/>
          <p:nvPr/>
        </p:nvSpPr>
        <p:spPr>
          <a:xfrm>
            <a:off x="8942832" y="2990088"/>
            <a:ext cx="607332" cy="182880"/>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14172" y="2935224"/>
            <a:ext cx="548640" cy="274320"/>
          </a:xfrm>
          <a:prstGeom prst="rect">
            <a:avLst/>
          </a:prstGeom>
          <a:noFill/>
        </p:spPr>
        <p:txBody>
          <a:bodyPr wrap="square" lIns="0" rIns="0" tIns="0" bIns="0" anchor="t">
            <a:spAutoFit/>
          </a:bodyPr>
          <a:lstStyle/>
          <a:p>
            <a:pPr algn="l">
              <a:spcAft>
                <a:spcPts val="600"/>
              </a:spcAft>
            </a:pPr>
            <a:r>
              <a:rPr sz="1100" b="1" i="0">
                <a:solidFill>
                  <a:srgbClr val="161B22"/>
                </a:solidFill>
                <a:latin typeface="Aptos"/>
              </a:rPr>
              <a:t>0.13</a:t>
            </a:r>
          </a:p>
        </p:txBody>
      </p:sp>
      <p:sp>
        <p:nvSpPr>
          <p:cNvPr id="16" name="TextBox 15"/>
          <p:cNvSpPr txBox="1"/>
          <p:nvPr/>
        </p:nvSpPr>
        <p:spPr>
          <a:xfrm>
            <a:off x="8942832" y="3282696"/>
            <a:ext cx="256032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color agree</a:t>
            </a:r>
          </a:p>
        </p:txBody>
      </p:sp>
      <p:sp>
        <p:nvSpPr>
          <p:cNvPr id="17" name="Rectangle 16"/>
          <p:cNvSpPr/>
          <p:nvPr/>
        </p:nvSpPr>
        <p:spPr>
          <a:xfrm>
            <a:off x="8942832" y="3557015"/>
            <a:ext cx="570706" cy="182880"/>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7546" y="3502152"/>
            <a:ext cx="548640" cy="274320"/>
          </a:xfrm>
          <a:prstGeom prst="rect">
            <a:avLst/>
          </a:prstGeom>
          <a:noFill/>
        </p:spPr>
        <p:txBody>
          <a:bodyPr wrap="square" lIns="0" rIns="0" tIns="0" bIns="0" anchor="t">
            <a:spAutoFit/>
          </a:bodyPr>
          <a:lstStyle/>
          <a:p>
            <a:pPr algn="l">
              <a:spcAft>
                <a:spcPts val="600"/>
              </a:spcAft>
            </a:pPr>
            <a:r>
              <a:rPr sz="1100" b="1" i="0">
                <a:solidFill>
                  <a:srgbClr val="161B22"/>
                </a:solidFill>
                <a:latin typeface="Aptos"/>
              </a:rPr>
              <a:t>0.13</a:t>
            </a:r>
          </a:p>
        </p:txBody>
      </p:sp>
      <p:sp>
        <p:nvSpPr>
          <p:cNvPr id="19" name="TextBox 18"/>
          <p:cNvSpPr txBox="1"/>
          <p:nvPr/>
        </p:nvSpPr>
        <p:spPr>
          <a:xfrm>
            <a:off x="8942832" y="3849624"/>
            <a:ext cx="256032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track consist</a:t>
            </a:r>
          </a:p>
        </p:txBody>
      </p:sp>
      <p:sp>
        <p:nvSpPr>
          <p:cNvPr id="20" name="Rectangle 19"/>
          <p:cNvSpPr/>
          <p:nvPr/>
        </p:nvSpPr>
        <p:spPr>
          <a:xfrm>
            <a:off x="8942832" y="4123944"/>
            <a:ext cx="296326" cy="182880"/>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3166" y="4069080"/>
            <a:ext cx="548640" cy="274320"/>
          </a:xfrm>
          <a:prstGeom prst="rect">
            <a:avLst/>
          </a:prstGeom>
          <a:noFill/>
        </p:spPr>
        <p:txBody>
          <a:bodyPr wrap="square" lIns="0" rIns="0" tIns="0" bIns="0" anchor="t">
            <a:spAutoFit/>
          </a:bodyPr>
          <a:lstStyle/>
          <a:p>
            <a:pPr algn="l">
              <a:spcAft>
                <a:spcPts val="600"/>
              </a:spcAft>
            </a:pPr>
            <a:r>
              <a:rPr sz="1100" b="1" i="0">
                <a:solidFill>
                  <a:srgbClr val="161B22"/>
                </a:solidFill>
                <a:latin typeface="Aptos"/>
              </a:rPr>
              <a:t>0.07</a:t>
            </a:r>
          </a:p>
        </p:txBody>
      </p:sp>
      <p:sp>
        <p:nvSpPr>
          <p:cNvPr id="22" name="Rounded Rectangle 21"/>
          <p:cNvSpPr/>
          <p:nvPr/>
        </p:nvSpPr>
        <p:spPr>
          <a:xfrm>
            <a:off x="8732520" y="4617720"/>
            <a:ext cx="2926080" cy="164592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42832" y="4754880"/>
            <a:ext cx="2560320" cy="548640"/>
          </a:xfrm>
          <a:prstGeom prst="rect">
            <a:avLst/>
          </a:prstGeom>
          <a:noFill/>
        </p:spPr>
        <p:txBody>
          <a:bodyPr wrap="square" lIns="0" rIns="0" tIns="0" bIns="0" anchor="t">
            <a:spAutoFit/>
          </a:bodyPr>
          <a:lstStyle/>
          <a:p>
            <a:pPr algn="l">
              <a:spcAft>
                <a:spcPts val="600"/>
              </a:spcAft>
            </a:pPr>
            <a:r>
              <a:rPr sz="2800" b="1" i="0">
                <a:solidFill>
                  <a:srgbClr val="0E8782"/>
                </a:solidFill>
                <a:latin typeface="Aptos Display"/>
              </a:rPr>
              <a:t>27 → 48</a:t>
            </a:r>
          </a:p>
        </p:txBody>
      </p:sp>
      <p:sp>
        <p:nvSpPr>
          <p:cNvPr id="24" name="TextBox 23"/>
          <p:cNvSpPr txBox="1"/>
          <p:nvPr/>
        </p:nvSpPr>
        <p:spPr>
          <a:xfrm>
            <a:off x="8942832" y="5394960"/>
            <a:ext cx="2560320" cy="7315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Re-ID mAP after learning a metric from 150 vehicles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Results: Multi-Camera Demo Footage</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On real video the fused matcher traces vehicles camera to camera, with the user confirming each hop.</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12</a:t>
            </a:r>
          </a:p>
        </p:txBody>
      </p:sp>
      <p:sp>
        <p:nvSpPr>
          <p:cNvPr id="7" name="Rounded Rectangle 6"/>
          <p:cNvSpPr/>
          <p:nvPr/>
        </p:nvSpPr>
        <p:spPr>
          <a:xfrm>
            <a:off x="548640" y="1554480"/>
            <a:ext cx="3291840" cy="960120"/>
          </a:xfrm>
          <a:prstGeom prst="roundRect">
            <a:avLst>
              <a:gd name="adj" fmla="val 3500"/>
            </a:avLst>
          </a:prstGeom>
          <a:solidFill>
            <a:srgbClr val="EAF1F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64207"/>
            <a:ext cx="2926080" cy="457200"/>
          </a:xfrm>
          <a:prstGeom prst="rect">
            <a:avLst/>
          </a:prstGeom>
          <a:noFill/>
        </p:spPr>
        <p:txBody>
          <a:bodyPr wrap="square" lIns="0" rIns="0" tIns="0" bIns="0" anchor="t">
            <a:spAutoFit/>
          </a:bodyPr>
          <a:lstStyle/>
          <a:p>
            <a:pPr algn="l">
              <a:spcAft>
                <a:spcPts val="600"/>
              </a:spcAft>
            </a:pPr>
            <a:r>
              <a:rPr sz="2600" b="1" i="0">
                <a:solidFill>
                  <a:srgbClr val="4FA5B5"/>
                </a:solidFill>
                <a:latin typeface="Aptos Display"/>
              </a:rPr>
              <a:t>38%</a:t>
            </a:r>
          </a:p>
        </p:txBody>
      </p:sp>
      <p:sp>
        <p:nvSpPr>
          <p:cNvPr id="9" name="TextBox 8"/>
          <p:cNvSpPr txBox="1"/>
          <p:nvPr/>
        </p:nvSpPr>
        <p:spPr>
          <a:xfrm>
            <a:off x="749808" y="2148840"/>
            <a:ext cx="2926080" cy="32004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Rank-1, fused (appearance only 24%)</a:t>
            </a:r>
          </a:p>
        </p:txBody>
      </p:sp>
      <p:sp>
        <p:nvSpPr>
          <p:cNvPr id="10" name="Rounded Rectangle 9"/>
          <p:cNvSpPr/>
          <p:nvPr/>
        </p:nvSpPr>
        <p:spPr>
          <a:xfrm>
            <a:off x="548640" y="2670048"/>
            <a:ext cx="3291840" cy="960120"/>
          </a:xfrm>
          <a:prstGeom prst="roundRect">
            <a:avLst>
              <a:gd name="adj" fmla="val 3500"/>
            </a:avLst>
          </a:prstGeom>
          <a:solidFill>
            <a:srgbClr val="E9F5F3"/>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79776"/>
            <a:ext cx="2926080" cy="457200"/>
          </a:xfrm>
          <a:prstGeom prst="rect">
            <a:avLst/>
          </a:prstGeom>
          <a:noFill/>
        </p:spPr>
        <p:txBody>
          <a:bodyPr wrap="square" lIns="0" rIns="0" tIns="0" bIns="0" anchor="t">
            <a:spAutoFit/>
          </a:bodyPr>
          <a:lstStyle/>
          <a:p>
            <a:pPr algn="l">
              <a:spcAft>
                <a:spcPts val="600"/>
              </a:spcAft>
            </a:pPr>
            <a:r>
              <a:rPr sz="2600" b="1" i="0">
                <a:solidFill>
                  <a:srgbClr val="0E8782"/>
                </a:solidFill>
                <a:latin typeface="Aptos Display"/>
              </a:rPr>
              <a:t>65%</a:t>
            </a:r>
          </a:p>
        </p:txBody>
      </p:sp>
      <p:sp>
        <p:nvSpPr>
          <p:cNvPr id="12" name="TextBox 11"/>
          <p:cNvSpPr txBox="1"/>
          <p:nvPr/>
        </p:nvSpPr>
        <p:spPr>
          <a:xfrm>
            <a:off x="749808" y="3264408"/>
            <a:ext cx="2926080" cy="32004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right car among the 3 shown per camera</a:t>
            </a:r>
          </a:p>
        </p:txBody>
      </p:sp>
      <p:sp>
        <p:nvSpPr>
          <p:cNvPr id="13" name="Rounded Rectangle 12"/>
          <p:cNvSpPr/>
          <p:nvPr/>
        </p:nvSpPr>
        <p:spPr>
          <a:xfrm>
            <a:off x="548640" y="3785615"/>
            <a:ext cx="3291840" cy="960120"/>
          </a:xfrm>
          <a:prstGeom prst="roundRect">
            <a:avLst>
              <a:gd name="adj" fmla="val 3500"/>
            </a:avLst>
          </a:prstGeom>
          <a:solidFill>
            <a:srgbClr val="EFF5E8"/>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895344"/>
            <a:ext cx="2926080" cy="457200"/>
          </a:xfrm>
          <a:prstGeom prst="rect">
            <a:avLst/>
          </a:prstGeom>
          <a:noFill/>
        </p:spPr>
        <p:txBody>
          <a:bodyPr wrap="square" lIns="0" rIns="0" tIns="0" bIns="0" anchor="t">
            <a:spAutoFit/>
          </a:bodyPr>
          <a:lstStyle/>
          <a:p>
            <a:pPr algn="l">
              <a:spcAft>
                <a:spcPts val="600"/>
              </a:spcAft>
            </a:pPr>
            <a:r>
              <a:rPr sz="2600" b="1" i="0">
                <a:solidFill>
                  <a:srgbClr val="3E8E3A"/>
                </a:solidFill>
                <a:latin typeface="Aptos Display"/>
              </a:rPr>
              <a:t>70%</a:t>
            </a:r>
          </a:p>
        </p:txBody>
      </p:sp>
      <p:sp>
        <p:nvSpPr>
          <p:cNvPr id="15" name="TextBox 14"/>
          <p:cNvSpPr txBox="1"/>
          <p:nvPr/>
        </p:nvSpPr>
        <p:spPr>
          <a:xfrm>
            <a:off x="749808" y="4379976"/>
            <a:ext cx="2926080" cy="32004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of suggested route steps are correct</a:t>
            </a:r>
          </a:p>
        </p:txBody>
      </p:sp>
      <p:sp>
        <p:nvSpPr>
          <p:cNvPr id="16" name="Rounded Rectangle 15"/>
          <p:cNvSpPr/>
          <p:nvPr/>
        </p:nvSpPr>
        <p:spPr>
          <a:xfrm>
            <a:off x="548640" y="4901184"/>
            <a:ext cx="3291840" cy="960120"/>
          </a:xfrm>
          <a:prstGeom prst="roundRect">
            <a:avLst>
              <a:gd name="adj" fmla="val 3500"/>
            </a:avLst>
          </a:prstGeom>
          <a:solidFill>
            <a:srgbClr val="F4E9E0"/>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010912"/>
            <a:ext cx="2926080" cy="457200"/>
          </a:xfrm>
          <a:prstGeom prst="rect">
            <a:avLst/>
          </a:prstGeom>
          <a:noFill/>
        </p:spPr>
        <p:txBody>
          <a:bodyPr wrap="square" lIns="0" rIns="0" tIns="0" bIns="0" anchor="t">
            <a:spAutoFit/>
          </a:bodyPr>
          <a:lstStyle/>
          <a:p>
            <a:pPr algn="l">
              <a:spcAft>
                <a:spcPts val="600"/>
              </a:spcAft>
            </a:pPr>
            <a:r>
              <a:rPr sz="2600" b="1" i="0">
                <a:solidFill>
                  <a:srgbClr val="D08A55"/>
                </a:solidFill>
                <a:latin typeface="Aptos Display"/>
              </a:rPr>
              <a:t>61%</a:t>
            </a:r>
          </a:p>
        </p:txBody>
      </p:sp>
      <p:sp>
        <p:nvSpPr>
          <p:cNvPr id="18" name="TextBox 17"/>
          <p:cNvSpPr txBox="1"/>
          <p:nvPr/>
        </p:nvSpPr>
        <p:spPr>
          <a:xfrm>
            <a:off x="749808" y="5495544"/>
            <a:ext cx="2926080" cy="32004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of tracklets are clean (no ID switch)</a:t>
            </a:r>
          </a:p>
        </p:txBody>
      </p:sp>
      <p:pic>
        <p:nvPicPr>
          <p:cNvPr id="19" name="Picture 18" descr="path.png"/>
          <p:cNvPicPr>
            <a:picLocks noChangeAspect="1"/>
          </p:cNvPicPr>
          <p:nvPr/>
        </p:nvPicPr>
        <p:blipFill>
          <a:blip r:embed="rId4"/>
          <a:stretch>
            <a:fillRect/>
          </a:stretch>
        </p:blipFill>
        <p:spPr>
          <a:xfrm>
            <a:off x="4160520" y="1565910"/>
            <a:ext cx="7498079" cy="468629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Results: Unsupervised SOM</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The map organises vehicles by type and colour — useful for exploration, not as a Re-ID filter.</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13</a:t>
            </a:r>
          </a:p>
        </p:txBody>
      </p:sp>
      <p:pic>
        <p:nvPicPr>
          <p:cNvPr id="7" name="Picture 6" descr="som_umatrix.png"/>
          <p:cNvPicPr>
            <a:picLocks noChangeAspect="1"/>
          </p:cNvPicPr>
          <p:nvPr/>
        </p:nvPicPr>
        <p:blipFill>
          <a:blip r:embed="rId4"/>
          <a:stretch>
            <a:fillRect/>
          </a:stretch>
        </p:blipFill>
        <p:spPr>
          <a:xfrm>
            <a:off x="548640" y="1508760"/>
            <a:ext cx="4754880" cy="4754880"/>
          </a:xfrm>
          <a:prstGeom prst="rect">
            <a:avLst/>
          </a:prstGeom>
        </p:spPr>
      </p:pic>
      <p:sp>
        <p:nvSpPr>
          <p:cNvPr id="8" name="Rounded Rectangle 7"/>
          <p:cNvSpPr/>
          <p:nvPr/>
        </p:nvSpPr>
        <p:spPr>
          <a:xfrm>
            <a:off x="5669280" y="1554480"/>
            <a:ext cx="5989320" cy="201168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7880" y="1719072"/>
            <a:ext cx="5486400" cy="365760"/>
          </a:xfrm>
          <a:prstGeom prst="rect">
            <a:avLst/>
          </a:prstGeom>
          <a:noFill/>
        </p:spPr>
        <p:txBody>
          <a:bodyPr wrap="square" lIns="0" rIns="0" tIns="0" bIns="0" anchor="t">
            <a:spAutoFit/>
          </a:bodyPr>
          <a:lstStyle/>
          <a:p>
            <a:pPr algn="l">
              <a:spcAft>
                <a:spcPts val="600"/>
              </a:spcAft>
            </a:pPr>
            <a:r>
              <a:rPr sz="1400" b="1" i="0">
                <a:solidFill>
                  <a:srgbClr val="161B22"/>
                </a:solidFill>
                <a:latin typeface="Aptos Display"/>
              </a:rPr>
              <a:t>NODE PURITY (10×10 MAP)</a:t>
            </a:r>
          </a:p>
        </p:txBody>
      </p:sp>
      <p:sp>
        <p:nvSpPr>
          <p:cNvPr id="10" name="TextBox 9"/>
          <p:cNvSpPr txBox="1"/>
          <p:nvPr/>
        </p:nvSpPr>
        <p:spPr>
          <a:xfrm>
            <a:off x="5897880" y="2194560"/>
            <a:ext cx="1280160" cy="320040"/>
          </a:xfrm>
          <a:prstGeom prst="rect">
            <a:avLst/>
          </a:prstGeom>
          <a:noFill/>
        </p:spPr>
        <p:txBody>
          <a:bodyPr wrap="square" lIns="0" rIns="0" tIns="0" bIns="0" anchor="t">
            <a:spAutoFit/>
          </a:bodyPr>
          <a:lstStyle/>
          <a:p>
            <a:pPr algn="l">
              <a:spcAft>
                <a:spcPts val="600"/>
              </a:spcAft>
            </a:pPr>
            <a:r>
              <a:rPr sz="1300" b="0" i="0">
                <a:solidFill>
                  <a:srgbClr val="2B333C"/>
                </a:solidFill>
                <a:latin typeface="Aptos"/>
              </a:rPr>
              <a:t>type</a:t>
            </a:r>
          </a:p>
        </p:txBody>
      </p:sp>
      <p:sp>
        <p:nvSpPr>
          <p:cNvPr id="11" name="Rectangle 10"/>
          <p:cNvSpPr/>
          <p:nvPr/>
        </p:nvSpPr>
        <p:spPr>
          <a:xfrm>
            <a:off x="7223760" y="2240279"/>
            <a:ext cx="2736589" cy="237744"/>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1789" y="2194560"/>
            <a:ext cx="640080" cy="320040"/>
          </a:xfrm>
          <a:prstGeom prst="rect">
            <a:avLst/>
          </a:prstGeom>
          <a:noFill/>
        </p:spPr>
        <p:txBody>
          <a:bodyPr wrap="square" lIns="0" rIns="0" tIns="0" bIns="0" anchor="t">
            <a:spAutoFit/>
          </a:bodyPr>
          <a:lstStyle/>
          <a:p>
            <a:pPr algn="l">
              <a:spcAft>
                <a:spcPts val="600"/>
              </a:spcAft>
            </a:pPr>
            <a:r>
              <a:rPr sz="1300" b="1" i="0">
                <a:solidFill>
                  <a:srgbClr val="161B22"/>
                </a:solidFill>
                <a:latin typeface="Aptos"/>
              </a:rPr>
              <a:t>0.75</a:t>
            </a:r>
          </a:p>
        </p:txBody>
      </p:sp>
      <p:sp>
        <p:nvSpPr>
          <p:cNvPr id="13" name="TextBox 12"/>
          <p:cNvSpPr txBox="1"/>
          <p:nvPr/>
        </p:nvSpPr>
        <p:spPr>
          <a:xfrm>
            <a:off x="5897880" y="2633472"/>
            <a:ext cx="1280160" cy="320040"/>
          </a:xfrm>
          <a:prstGeom prst="rect">
            <a:avLst/>
          </a:prstGeom>
          <a:noFill/>
        </p:spPr>
        <p:txBody>
          <a:bodyPr wrap="square" lIns="0" rIns="0" tIns="0" bIns="0" anchor="t">
            <a:spAutoFit/>
          </a:bodyPr>
          <a:lstStyle/>
          <a:p>
            <a:pPr algn="l">
              <a:spcAft>
                <a:spcPts val="600"/>
              </a:spcAft>
            </a:pPr>
            <a:r>
              <a:rPr sz="1300" b="0" i="0">
                <a:solidFill>
                  <a:srgbClr val="2B333C"/>
                </a:solidFill>
                <a:latin typeface="Aptos"/>
              </a:rPr>
              <a:t>colour</a:t>
            </a:r>
          </a:p>
        </p:txBody>
      </p:sp>
      <p:sp>
        <p:nvSpPr>
          <p:cNvPr id="14" name="Rectangle 13"/>
          <p:cNvSpPr/>
          <p:nvPr/>
        </p:nvSpPr>
        <p:spPr>
          <a:xfrm>
            <a:off x="7223760" y="2679191"/>
            <a:ext cx="2450151" cy="237744"/>
          </a:xfrm>
          <a:prstGeom prst="rect">
            <a:avLst/>
          </a:prstGeom>
          <a:solidFill>
            <a:srgbClr val="12A7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65351" y="2633472"/>
            <a:ext cx="640080" cy="320040"/>
          </a:xfrm>
          <a:prstGeom prst="rect">
            <a:avLst/>
          </a:prstGeom>
          <a:noFill/>
        </p:spPr>
        <p:txBody>
          <a:bodyPr wrap="square" lIns="0" rIns="0" tIns="0" bIns="0" anchor="t">
            <a:spAutoFit/>
          </a:bodyPr>
          <a:lstStyle/>
          <a:p>
            <a:pPr algn="l">
              <a:spcAft>
                <a:spcPts val="600"/>
              </a:spcAft>
            </a:pPr>
            <a:r>
              <a:rPr sz="1300" b="1" i="0">
                <a:solidFill>
                  <a:srgbClr val="161B22"/>
                </a:solidFill>
                <a:latin typeface="Aptos"/>
              </a:rPr>
              <a:t>0.67</a:t>
            </a:r>
          </a:p>
        </p:txBody>
      </p:sp>
      <p:sp>
        <p:nvSpPr>
          <p:cNvPr id="16" name="TextBox 15"/>
          <p:cNvSpPr txBox="1"/>
          <p:nvPr/>
        </p:nvSpPr>
        <p:spPr>
          <a:xfrm>
            <a:off x="5897880" y="3072384"/>
            <a:ext cx="1280160" cy="320040"/>
          </a:xfrm>
          <a:prstGeom prst="rect">
            <a:avLst/>
          </a:prstGeom>
          <a:noFill/>
        </p:spPr>
        <p:txBody>
          <a:bodyPr wrap="square" lIns="0" rIns="0" tIns="0" bIns="0" anchor="t">
            <a:spAutoFit/>
          </a:bodyPr>
          <a:lstStyle/>
          <a:p>
            <a:pPr algn="l">
              <a:spcAft>
                <a:spcPts val="600"/>
              </a:spcAft>
            </a:pPr>
            <a:r>
              <a:rPr sz="1300" b="0" i="0">
                <a:solidFill>
                  <a:srgbClr val="2B333C"/>
                </a:solidFill>
                <a:latin typeface="Aptos"/>
              </a:rPr>
              <a:t>vehicle ID</a:t>
            </a:r>
          </a:p>
        </p:txBody>
      </p:sp>
      <p:sp>
        <p:nvSpPr>
          <p:cNvPr id="17" name="Rectangle 16"/>
          <p:cNvSpPr/>
          <p:nvPr/>
        </p:nvSpPr>
        <p:spPr>
          <a:xfrm>
            <a:off x="7223760" y="3118103"/>
            <a:ext cx="1004738" cy="237744"/>
          </a:xfrm>
          <a:prstGeom prst="rect">
            <a:avLst/>
          </a:prstGeom>
          <a:solidFill>
            <a:srgbClr val="E39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9938" y="3072384"/>
            <a:ext cx="640080" cy="320040"/>
          </a:xfrm>
          <a:prstGeom prst="rect">
            <a:avLst/>
          </a:prstGeom>
          <a:noFill/>
        </p:spPr>
        <p:txBody>
          <a:bodyPr wrap="square" lIns="0" rIns="0" tIns="0" bIns="0" anchor="t">
            <a:spAutoFit/>
          </a:bodyPr>
          <a:lstStyle/>
          <a:p>
            <a:pPr algn="l">
              <a:spcAft>
                <a:spcPts val="600"/>
              </a:spcAft>
            </a:pPr>
            <a:r>
              <a:rPr sz="1300" b="1" i="0">
                <a:solidFill>
                  <a:srgbClr val="161B22"/>
                </a:solidFill>
                <a:latin typeface="Aptos"/>
              </a:rPr>
              <a:t>0.27</a:t>
            </a:r>
          </a:p>
        </p:txBody>
      </p:sp>
      <p:graphicFrame>
        <p:nvGraphicFramePr>
          <p:cNvPr id="19" name="Table 18"/>
          <p:cNvGraphicFramePr>
            <a:graphicFrameLocks noGrp="1"/>
          </p:cNvGraphicFramePr>
          <p:nvPr/>
        </p:nvGraphicFramePr>
        <p:xfrm>
          <a:off x="5669280" y="3794760"/>
          <a:ext cx="5989320" cy="1920240"/>
        </p:xfrm>
        <a:graphic>
          <a:graphicData uri="http://schemas.openxmlformats.org/drawingml/2006/table">
            <a:tbl>
              <a:tblPr firstRow="1" bandRow="1">
                <a:tableStyleId>{5C22544A-7EE6-4342-B048-85BDC9FD1C3A}</a:tableStyleId>
              </a:tblPr>
              <a:tblGrid>
                <a:gridCol w="1497330"/>
                <a:gridCol w="1497330"/>
                <a:gridCol w="1497330"/>
                <a:gridCol w="1497330"/>
              </a:tblGrid>
              <a:tr h="384048">
                <a:tc>
                  <a:txBody>
                    <a:bodyPr/>
                    <a:lstStyle/>
                    <a:p>
                      <a:r>
                        <a:rPr sz="1300" b="1">
                          <a:solidFill>
                            <a:srgbClr val="FFFFFF"/>
                          </a:solidFill>
                          <a:latin typeface="Aptos"/>
                        </a:rPr>
                        <a:t>SOM radius</a:t>
                      </a:r>
                    </a:p>
                  </a:txBody>
                  <a:tcPr>
                    <a:solidFill>
                      <a:srgbClr val="15324B"/>
                    </a:solidFill>
                  </a:tcPr>
                </a:tc>
                <a:tc>
                  <a:txBody>
                    <a:bodyPr/>
                    <a:lstStyle/>
                    <a:p>
                      <a:r>
                        <a:rPr sz="1300" b="1">
                          <a:solidFill>
                            <a:srgbClr val="FFFFFF"/>
                          </a:solidFill>
                          <a:latin typeface="Aptos"/>
                        </a:rPr>
                        <a:t>candidates kept</a:t>
                      </a:r>
                    </a:p>
                  </a:txBody>
                  <a:tcPr>
                    <a:solidFill>
                      <a:srgbClr val="15324B"/>
                    </a:solidFill>
                  </a:tcPr>
                </a:tc>
                <a:tc>
                  <a:txBody>
                    <a:bodyPr/>
                    <a:lstStyle/>
                    <a:p>
                      <a:r>
                        <a:rPr sz="1300" b="1">
                          <a:solidFill>
                            <a:srgbClr val="FFFFFF"/>
                          </a:solidFill>
                          <a:latin typeface="Aptos"/>
                        </a:rPr>
                        <a:t>true matches kept</a:t>
                      </a:r>
                    </a:p>
                  </a:txBody>
                  <a:tcPr>
                    <a:solidFill>
                      <a:srgbClr val="15324B"/>
                    </a:solidFill>
                  </a:tcPr>
                </a:tc>
                <a:tc>
                  <a:txBody>
                    <a:bodyPr/>
                    <a:lstStyle/>
                    <a:p>
                      <a:r>
                        <a:rPr sz="1300" b="1">
                          <a:solidFill>
                            <a:srgbClr val="FFFFFF"/>
                          </a:solidFill>
                          <a:latin typeface="Aptos"/>
                        </a:rPr>
                        <a:t>mAP</a:t>
                      </a:r>
                    </a:p>
                  </a:txBody>
                  <a:tcPr>
                    <a:solidFill>
                      <a:srgbClr val="15324B"/>
                    </a:solidFill>
                  </a:tcPr>
                </a:tc>
              </a:tr>
              <a:tr h="384048">
                <a:tc>
                  <a:txBody>
                    <a:bodyPr/>
                    <a:lstStyle/>
                    <a:p>
                      <a:r>
                        <a:rPr sz="1300" b="0">
                          <a:solidFill>
                            <a:srgbClr val="161B22"/>
                          </a:solidFill>
                          <a:latin typeface="Aptos"/>
                        </a:rPr>
                        <a:t>1</a:t>
                      </a:r>
                    </a:p>
                  </a:txBody>
                  <a:tcPr>
                    <a:solidFill>
                      <a:srgbClr val="FFFFFF"/>
                    </a:solidFill>
                  </a:tcPr>
                </a:tc>
                <a:tc>
                  <a:txBody>
                    <a:bodyPr/>
                    <a:lstStyle/>
                    <a:p>
                      <a:r>
                        <a:rPr sz="1300" b="0">
                          <a:solidFill>
                            <a:srgbClr val="161B22"/>
                          </a:solidFill>
                          <a:latin typeface="Aptos"/>
                        </a:rPr>
                        <a:t>7%</a:t>
                      </a:r>
                    </a:p>
                  </a:txBody>
                  <a:tcPr>
                    <a:solidFill>
                      <a:srgbClr val="FFFFFF"/>
                    </a:solidFill>
                  </a:tcPr>
                </a:tc>
                <a:tc>
                  <a:txBody>
                    <a:bodyPr/>
                    <a:lstStyle/>
                    <a:p>
                      <a:r>
                        <a:rPr sz="1300" b="0">
                          <a:solidFill>
                            <a:srgbClr val="161B22"/>
                          </a:solidFill>
                          <a:latin typeface="Aptos"/>
                        </a:rPr>
                        <a:t>32%</a:t>
                      </a:r>
                    </a:p>
                  </a:txBody>
                  <a:tcPr>
                    <a:solidFill>
                      <a:srgbClr val="FFFFFF"/>
                    </a:solidFill>
                  </a:tcPr>
                </a:tc>
                <a:tc>
                  <a:txBody>
                    <a:bodyPr/>
                    <a:lstStyle/>
                    <a:p>
                      <a:r>
                        <a:rPr sz="1300" b="0">
                          <a:solidFill>
                            <a:srgbClr val="161B22"/>
                          </a:solidFill>
                          <a:latin typeface="Aptos"/>
                        </a:rPr>
                        <a:t>24.6</a:t>
                      </a:r>
                    </a:p>
                  </a:txBody>
                  <a:tcPr>
                    <a:solidFill>
                      <a:srgbClr val="FFFFFF"/>
                    </a:solidFill>
                  </a:tcPr>
                </a:tc>
              </a:tr>
              <a:tr h="384048">
                <a:tc>
                  <a:txBody>
                    <a:bodyPr/>
                    <a:lstStyle/>
                    <a:p>
                      <a:r>
                        <a:rPr sz="1300" b="0">
                          <a:solidFill>
                            <a:srgbClr val="161B22"/>
                          </a:solidFill>
                          <a:latin typeface="Aptos"/>
                        </a:rPr>
                        <a:t>2</a:t>
                      </a:r>
                    </a:p>
                  </a:txBody>
                  <a:tcPr>
                    <a:solidFill>
                      <a:srgbClr val="F3F5F7"/>
                    </a:solidFill>
                  </a:tcPr>
                </a:tc>
                <a:tc>
                  <a:txBody>
                    <a:bodyPr/>
                    <a:lstStyle/>
                    <a:p>
                      <a:r>
                        <a:rPr sz="1300" b="0">
                          <a:solidFill>
                            <a:srgbClr val="161B22"/>
                          </a:solidFill>
                          <a:latin typeface="Aptos"/>
                        </a:rPr>
                        <a:t>17%</a:t>
                      </a:r>
                    </a:p>
                  </a:txBody>
                  <a:tcPr>
                    <a:solidFill>
                      <a:srgbClr val="F3F5F7"/>
                    </a:solidFill>
                  </a:tcPr>
                </a:tc>
                <a:tc>
                  <a:txBody>
                    <a:bodyPr/>
                    <a:lstStyle/>
                    <a:p>
                      <a:r>
                        <a:rPr sz="1300" b="0">
                          <a:solidFill>
                            <a:srgbClr val="161B22"/>
                          </a:solidFill>
                          <a:latin typeface="Aptos"/>
                        </a:rPr>
                        <a:t>44%</a:t>
                      </a:r>
                    </a:p>
                  </a:txBody>
                  <a:tcPr>
                    <a:solidFill>
                      <a:srgbClr val="F3F5F7"/>
                    </a:solidFill>
                  </a:tcPr>
                </a:tc>
                <a:tc>
                  <a:txBody>
                    <a:bodyPr/>
                    <a:lstStyle/>
                    <a:p>
                      <a:r>
                        <a:rPr sz="1300" b="0">
                          <a:solidFill>
                            <a:srgbClr val="161B22"/>
                          </a:solidFill>
                          <a:latin typeface="Aptos"/>
                        </a:rPr>
                        <a:t>28.9</a:t>
                      </a:r>
                    </a:p>
                  </a:txBody>
                  <a:tcPr>
                    <a:solidFill>
                      <a:srgbClr val="F3F5F7"/>
                    </a:solidFill>
                  </a:tcPr>
                </a:tc>
              </a:tr>
              <a:tr h="384048">
                <a:tc>
                  <a:txBody>
                    <a:bodyPr/>
                    <a:lstStyle/>
                    <a:p>
                      <a:r>
                        <a:rPr sz="1300" b="0">
                          <a:solidFill>
                            <a:srgbClr val="161B22"/>
                          </a:solidFill>
                          <a:latin typeface="Aptos"/>
                        </a:rPr>
                        <a:t>3</a:t>
                      </a:r>
                    </a:p>
                  </a:txBody>
                  <a:tcPr>
                    <a:solidFill>
                      <a:srgbClr val="FFFFFF"/>
                    </a:solidFill>
                  </a:tcPr>
                </a:tc>
                <a:tc>
                  <a:txBody>
                    <a:bodyPr/>
                    <a:lstStyle/>
                    <a:p>
                      <a:r>
                        <a:rPr sz="1300" b="0">
                          <a:solidFill>
                            <a:srgbClr val="161B22"/>
                          </a:solidFill>
                          <a:latin typeface="Aptos"/>
                        </a:rPr>
                        <a:t>30%</a:t>
                      </a:r>
                    </a:p>
                  </a:txBody>
                  <a:tcPr>
                    <a:solidFill>
                      <a:srgbClr val="FFFFFF"/>
                    </a:solidFill>
                  </a:tcPr>
                </a:tc>
                <a:tc>
                  <a:txBody>
                    <a:bodyPr/>
                    <a:lstStyle/>
                    <a:p>
                      <a:r>
                        <a:rPr sz="1300" b="0">
                          <a:solidFill>
                            <a:srgbClr val="161B22"/>
                          </a:solidFill>
                          <a:latin typeface="Aptos"/>
                        </a:rPr>
                        <a:t>54%</a:t>
                      </a:r>
                    </a:p>
                  </a:txBody>
                  <a:tcPr>
                    <a:solidFill>
                      <a:srgbClr val="FFFFFF"/>
                    </a:solidFill>
                  </a:tcPr>
                </a:tc>
                <a:tc>
                  <a:txBody>
                    <a:bodyPr/>
                    <a:lstStyle/>
                    <a:p>
                      <a:r>
                        <a:rPr sz="1300" b="0">
                          <a:solidFill>
                            <a:srgbClr val="161B22"/>
                          </a:solidFill>
                          <a:latin typeface="Aptos"/>
                        </a:rPr>
                        <a:t>31.7</a:t>
                      </a:r>
                    </a:p>
                  </a:txBody>
                  <a:tcPr>
                    <a:solidFill>
                      <a:srgbClr val="FFFFFF"/>
                    </a:solidFill>
                  </a:tcPr>
                </a:tc>
              </a:tr>
              <a:tr h="384048">
                <a:tc>
                  <a:txBody>
                    <a:bodyPr/>
                    <a:lstStyle/>
                    <a:p>
                      <a:r>
                        <a:rPr sz="1300" b="1">
                          <a:solidFill>
                            <a:srgbClr val="161B22"/>
                          </a:solidFill>
                          <a:latin typeface="Aptos"/>
                        </a:rPr>
                        <a:t>no filter</a:t>
                      </a:r>
                    </a:p>
                  </a:txBody>
                  <a:tcPr>
                    <a:solidFill>
                      <a:srgbClr val="E9F5F3"/>
                    </a:solidFill>
                  </a:tcPr>
                </a:tc>
                <a:tc>
                  <a:txBody>
                    <a:bodyPr/>
                    <a:lstStyle/>
                    <a:p>
                      <a:r>
                        <a:rPr sz="1300" b="1">
                          <a:solidFill>
                            <a:srgbClr val="161B22"/>
                          </a:solidFill>
                          <a:latin typeface="Aptos"/>
                        </a:rPr>
                        <a:t>100%</a:t>
                      </a:r>
                    </a:p>
                  </a:txBody>
                  <a:tcPr>
                    <a:solidFill>
                      <a:srgbClr val="E9F5F3"/>
                    </a:solidFill>
                  </a:tcPr>
                </a:tc>
                <a:tc>
                  <a:txBody>
                    <a:bodyPr/>
                    <a:lstStyle/>
                    <a:p>
                      <a:r>
                        <a:rPr sz="1300" b="1">
                          <a:solidFill>
                            <a:srgbClr val="161B22"/>
                          </a:solidFill>
                          <a:latin typeface="Aptos"/>
                        </a:rPr>
                        <a:t>100%</a:t>
                      </a:r>
                    </a:p>
                  </a:txBody>
                  <a:tcPr>
                    <a:solidFill>
                      <a:srgbClr val="E9F5F3"/>
                    </a:solidFill>
                  </a:tcPr>
                </a:tc>
                <a:tc>
                  <a:txBody>
                    <a:bodyPr/>
                    <a:lstStyle/>
                    <a:p>
                      <a:r>
                        <a:rPr sz="1300" b="1">
                          <a:solidFill>
                            <a:srgbClr val="161B22"/>
                          </a:solidFill>
                          <a:latin typeface="Aptos"/>
                        </a:rPr>
                        <a:t>42.4</a:t>
                      </a:r>
                    </a:p>
                  </a:txBody>
                  <a:tcPr>
                    <a:solidFill>
                      <a:srgbClr val="E9F5F3"/>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Lessons Learned</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Two pitfalls found — and fixed — while evaluating the learned components.</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14</a:t>
            </a:r>
          </a:p>
        </p:txBody>
      </p:sp>
      <p:sp>
        <p:nvSpPr>
          <p:cNvPr id="7" name="Rounded Rectangle 6"/>
          <p:cNvSpPr/>
          <p:nvPr/>
        </p:nvSpPr>
        <p:spPr>
          <a:xfrm>
            <a:off x="548640" y="1554480"/>
            <a:ext cx="5440680" cy="3657600"/>
          </a:xfrm>
          <a:prstGeom prst="roundRect">
            <a:avLst>
              <a:gd name="adj" fmla="val 3500"/>
            </a:avLst>
          </a:prstGeom>
          <a:solidFill>
            <a:srgbClr val="F4E9E0"/>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5029200" cy="411480"/>
          </a:xfrm>
          <a:prstGeom prst="rect">
            <a:avLst/>
          </a:prstGeom>
          <a:noFill/>
        </p:spPr>
        <p:txBody>
          <a:bodyPr wrap="square" lIns="0" rIns="0" tIns="0" bIns="0" anchor="t">
            <a:spAutoFit/>
          </a:bodyPr>
          <a:lstStyle/>
          <a:p>
            <a:pPr algn="l">
              <a:spcAft>
                <a:spcPts val="600"/>
              </a:spcAft>
            </a:pPr>
            <a:r>
              <a:rPr sz="2000" b="1" i="0">
                <a:solidFill>
                  <a:srgbClr val="D08A55"/>
                </a:solidFill>
                <a:latin typeface="Aptos Display"/>
              </a:rPr>
              <a:t>01</a:t>
            </a:r>
          </a:p>
        </p:txBody>
      </p:sp>
      <p:sp>
        <p:nvSpPr>
          <p:cNvPr id="9" name="TextBox 8"/>
          <p:cNvSpPr txBox="1"/>
          <p:nvPr/>
        </p:nvSpPr>
        <p:spPr>
          <a:xfrm>
            <a:off x="777240" y="2240280"/>
            <a:ext cx="5029200" cy="457200"/>
          </a:xfrm>
          <a:prstGeom prst="rect">
            <a:avLst/>
          </a:prstGeom>
          <a:noFill/>
        </p:spPr>
        <p:txBody>
          <a:bodyPr wrap="square" lIns="0" rIns="0" tIns="0" bIns="0" anchor="t">
            <a:spAutoFit/>
          </a:bodyPr>
          <a:lstStyle/>
          <a:p>
            <a:pPr algn="l">
              <a:spcAft>
                <a:spcPts val="600"/>
              </a:spcAft>
            </a:pPr>
            <a:r>
              <a:rPr sz="1900" b="1" i="0">
                <a:solidFill>
                  <a:srgbClr val="161B22"/>
                </a:solidFill>
                <a:latin typeface="Aptos Display"/>
              </a:rPr>
              <a:t>STACKING LEAK</a:t>
            </a:r>
          </a:p>
        </p:txBody>
      </p:sp>
      <p:sp>
        <p:nvSpPr>
          <p:cNvPr id="10" name="TextBox 9"/>
          <p:cNvSpPr txBox="1"/>
          <p:nvPr/>
        </p:nvSpPr>
        <p:spPr>
          <a:xfrm>
            <a:off x="777240" y="2834640"/>
            <a:ext cx="5029200" cy="2286000"/>
          </a:xfrm>
          <a:prstGeom prst="rect">
            <a:avLst/>
          </a:prstGeom>
          <a:noFill/>
        </p:spPr>
        <p:txBody>
          <a:bodyPr wrap="square" lIns="0" rIns="0" tIns="0" bIns="0" anchor="t">
            <a:spAutoFit/>
          </a:bodyPr>
          <a:lstStyle/>
          <a:p>
            <a:pPr algn="l">
              <a:spcAft>
                <a:spcPts val="400"/>
              </a:spcAft>
            </a:pPr>
            <a:r>
              <a:rPr sz="1500" b="1" i="0">
                <a:solidFill>
                  <a:srgbClr val="D08A55"/>
                </a:solidFill>
                <a:latin typeface="Aptos"/>
              </a:rPr>
              <a:t>Problem  </a:t>
            </a:r>
            <a:r>
              <a:rPr sz="1500" b="0" i="0">
                <a:solidFill>
                  <a:srgbClr val="2B333C"/>
                </a:solidFill>
                <a:latin typeface="Aptos"/>
              </a:rPr>
              <a:t>Colour/type features for the Random Forest came from a probe fitted on the same vehicles — near-perfect, so over-trusted.</a:t>
            </a:r>
          </a:p>
          <a:p>
            <a:pPr algn="l">
              <a:spcAft>
                <a:spcPts val="400"/>
              </a:spcAft>
            </a:pPr>
            <a:r>
              <a:rPr sz="1500" b="0" i="0">
                <a:solidFill>
                  <a:srgbClr val="2B333C"/>
                </a:solidFill>
                <a:latin typeface="Aptos"/>
              </a:rPr>
              <a:t/>
            </a:r>
          </a:p>
          <a:p>
            <a:pPr algn="l">
              <a:spcAft>
                <a:spcPts val="400"/>
              </a:spcAft>
            </a:pPr>
            <a:r>
              <a:rPr sz="1500" b="1" i="0">
                <a:solidFill>
                  <a:srgbClr val="0E8782"/>
                </a:solidFill>
                <a:latin typeface="Aptos"/>
              </a:rPr>
              <a:t>Fix  </a:t>
            </a:r>
            <a:r>
              <a:rPr sz="1500" b="0" i="0">
                <a:solidFill>
                  <a:srgbClr val="2B333C"/>
                </a:solidFill>
                <a:latin typeface="Aptos"/>
              </a:rPr>
              <a:t>Out-of-fold probabilities and LDA projections (GroupKFold by vehicle)</a:t>
            </a:r>
          </a:p>
        </p:txBody>
      </p:sp>
      <p:sp>
        <p:nvSpPr>
          <p:cNvPr id="11" name="Rounded Rectangle 10"/>
          <p:cNvSpPr/>
          <p:nvPr/>
        </p:nvSpPr>
        <p:spPr>
          <a:xfrm>
            <a:off x="548640" y="5394960"/>
            <a:ext cx="5440680" cy="731520"/>
          </a:xfrm>
          <a:prstGeom prst="roundRect">
            <a:avLst>
              <a:gd name="adj" fmla="val 12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Aptos Display"/>
              </a:rPr>
              <a:t>Rank-1, plates hidden: 38 → 56</a:t>
            </a:r>
          </a:p>
        </p:txBody>
      </p:sp>
      <p:sp>
        <p:nvSpPr>
          <p:cNvPr id="12" name="Rounded Rectangle 11"/>
          <p:cNvSpPr/>
          <p:nvPr/>
        </p:nvSpPr>
        <p:spPr>
          <a:xfrm>
            <a:off x="6217920" y="1554480"/>
            <a:ext cx="5440680" cy="3657600"/>
          </a:xfrm>
          <a:prstGeom prst="roundRect">
            <a:avLst>
              <a:gd name="adj" fmla="val 3500"/>
            </a:avLst>
          </a:prstGeom>
          <a:solidFill>
            <a:srgbClr val="E9E7F5"/>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37360"/>
            <a:ext cx="5029200" cy="411480"/>
          </a:xfrm>
          <a:prstGeom prst="rect">
            <a:avLst/>
          </a:prstGeom>
          <a:noFill/>
        </p:spPr>
        <p:txBody>
          <a:bodyPr wrap="square" lIns="0" rIns="0" tIns="0" bIns="0" anchor="t">
            <a:spAutoFit/>
          </a:bodyPr>
          <a:lstStyle/>
          <a:p>
            <a:pPr algn="l">
              <a:spcAft>
                <a:spcPts val="600"/>
              </a:spcAft>
            </a:pPr>
            <a:r>
              <a:rPr sz="2000" b="1" i="0">
                <a:solidFill>
                  <a:srgbClr val="7E6DB8"/>
                </a:solidFill>
                <a:latin typeface="Aptos Display"/>
              </a:rPr>
              <a:t>02</a:t>
            </a:r>
          </a:p>
        </p:txBody>
      </p:sp>
      <p:sp>
        <p:nvSpPr>
          <p:cNvPr id="14" name="TextBox 13"/>
          <p:cNvSpPr txBox="1"/>
          <p:nvPr/>
        </p:nvSpPr>
        <p:spPr>
          <a:xfrm>
            <a:off x="6446520" y="2240280"/>
            <a:ext cx="5029200" cy="457200"/>
          </a:xfrm>
          <a:prstGeom prst="rect">
            <a:avLst/>
          </a:prstGeom>
          <a:noFill/>
        </p:spPr>
        <p:txBody>
          <a:bodyPr wrap="square" lIns="0" rIns="0" tIns="0" bIns="0" anchor="t">
            <a:spAutoFit/>
          </a:bodyPr>
          <a:lstStyle/>
          <a:p>
            <a:pPr algn="l">
              <a:spcAft>
                <a:spcPts val="600"/>
              </a:spcAft>
            </a:pPr>
            <a:r>
              <a:rPr sz="1900" b="1" i="0">
                <a:solidFill>
                  <a:srgbClr val="161B22"/>
                </a:solidFill>
                <a:latin typeface="Aptos Display"/>
              </a:rPr>
              <a:t>NON-MONOTONIC SPLITS</a:t>
            </a:r>
          </a:p>
        </p:txBody>
      </p:sp>
      <p:sp>
        <p:nvSpPr>
          <p:cNvPr id="15" name="TextBox 14"/>
          <p:cNvSpPr txBox="1"/>
          <p:nvPr/>
        </p:nvSpPr>
        <p:spPr>
          <a:xfrm>
            <a:off x="6446520" y="2834640"/>
            <a:ext cx="5029200" cy="2286000"/>
          </a:xfrm>
          <a:prstGeom prst="rect">
            <a:avLst/>
          </a:prstGeom>
          <a:noFill/>
        </p:spPr>
        <p:txBody>
          <a:bodyPr wrap="square" lIns="0" rIns="0" tIns="0" bIns="0" anchor="t">
            <a:spAutoFit/>
          </a:bodyPr>
          <a:lstStyle/>
          <a:p>
            <a:pPr algn="l">
              <a:spcAft>
                <a:spcPts val="400"/>
              </a:spcAft>
            </a:pPr>
            <a:r>
              <a:rPr sz="1500" b="1" i="0">
                <a:solidFill>
                  <a:srgbClr val="7E6DB8"/>
                </a:solidFill>
                <a:latin typeface="Aptos"/>
              </a:rPr>
              <a:t>Problem  </a:t>
            </a:r>
            <a:r>
              <a:rPr sz="1500" b="0" i="0">
                <a:solidFill>
                  <a:srgbClr val="2B333C"/>
                </a:solidFill>
                <a:latin typeface="Aptos"/>
              </a:rPr>
              <a:t>Under large viewpoint changes, a higher similarity could lower the match score.</a:t>
            </a:r>
          </a:p>
          <a:p>
            <a:pPr algn="l">
              <a:spcAft>
                <a:spcPts val="400"/>
              </a:spcAft>
            </a:pPr>
            <a:r>
              <a:rPr sz="1500" b="0" i="0">
                <a:solidFill>
                  <a:srgbClr val="2B333C"/>
                </a:solidFill>
                <a:latin typeface="Aptos"/>
              </a:rPr>
              <a:t/>
            </a:r>
          </a:p>
          <a:p>
            <a:pPr algn="l">
              <a:spcAft>
                <a:spcPts val="400"/>
              </a:spcAft>
            </a:pPr>
            <a:r>
              <a:rPr sz="1500" b="1" i="0">
                <a:solidFill>
                  <a:srgbClr val="0E8782"/>
                </a:solidFill>
                <a:latin typeface="Aptos"/>
              </a:rPr>
              <a:t>Fix  </a:t>
            </a:r>
            <a:r>
              <a:rPr sz="1500" b="0" i="0">
                <a:solidFill>
                  <a:srgbClr val="2B333C"/>
                </a:solidFill>
                <a:latin typeface="Aptos"/>
              </a:rPr>
              <a:t>Monotonic constraints on every similarity feature</a:t>
            </a:r>
          </a:p>
        </p:txBody>
      </p:sp>
      <p:sp>
        <p:nvSpPr>
          <p:cNvPr id="16" name="Rounded Rectangle 15"/>
          <p:cNvSpPr/>
          <p:nvPr/>
        </p:nvSpPr>
        <p:spPr>
          <a:xfrm>
            <a:off x="6217920" y="5394960"/>
            <a:ext cx="5440680" cy="731520"/>
          </a:xfrm>
          <a:prstGeom prst="roundRect">
            <a:avLst>
              <a:gd name="adj" fmla="val 12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Aptos Display"/>
              </a:rPr>
              <a:t>mAP, plates hidden: 21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Live Demo</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One page: find the vehicle → see where else it was seen → follow its route.</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15</a:t>
            </a:r>
          </a:p>
        </p:txBody>
      </p:sp>
      <p:sp>
        <p:nvSpPr>
          <p:cNvPr id="7" name="Rounded Rectangle 6"/>
          <p:cNvSpPr/>
          <p:nvPr/>
        </p:nvSpPr>
        <p:spPr>
          <a:xfrm>
            <a:off x="548640" y="1554480"/>
            <a:ext cx="5440680" cy="406908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arch.png"/>
          <p:cNvPicPr>
            <a:picLocks noChangeAspect="1"/>
          </p:cNvPicPr>
          <p:nvPr/>
        </p:nvPicPr>
        <p:blipFill>
          <a:blip r:embed="rId4"/>
          <a:stretch>
            <a:fillRect/>
          </a:stretch>
        </p:blipFill>
        <p:spPr>
          <a:xfrm>
            <a:off x="685800" y="1974532"/>
            <a:ext cx="5166360" cy="3228975"/>
          </a:xfrm>
          <a:prstGeom prst="rect">
            <a:avLst/>
          </a:prstGeom>
        </p:spPr>
      </p:pic>
      <p:sp>
        <p:nvSpPr>
          <p:cNvPr id="9" name="TextBox 8"/>
          <p:cNvSpPr txBox="1"/>
          <p:nvPr/>
        </p:nvSpPr>
        <p:spPr>
          <a:xfrm>
            <a:off x="548640" y="5760720"/>
            <a:ext cx="5440680" cy="320040"/>
          </a:xfrm>
          <a:prstGeom prst="rect">
            <a:avLst/>
          </a:prstGeom>
          <a:noFill/>
        </p:spPr>
        <p:txBody>
          <a:bodyPr wrap="square" lIns="0" rIns="0" tIns="0" bIns="0" anchor="t">
            <a:spAutoFit/>
          </a:bodyPr>
          <a:lstStyle/>
          <a:p>
            <a:pPr algn="ctr">
              <a:spcAft>
                <a:spcPts val="600"/>
              </a:spcAft>
            </a:pPr>
            <a:r>
              <a:rPr sz="1400" b="1" i="0">
                <a:solidFill>
                  <a:srgbClr val="161B22"/>
                </a:solidFill>
                <a:latin typeface="Aptos Display"/>
              </a:rPr>
              <a:t>① Find: “red + sedan” → ranked vehicles → Select</a:t>
            </a:r>
          </a:p>
        </p:txBody>
      </p:sp>
      <p:sp>
        <p:nvSpPr>
          <p:cNvPr id="10" name="Rounded Rectangle 9"/>
          <p:cNvSpPr/>
          <p:nvPr/>
        </p:nvSpPr>
        <p:spPr>
          <a:xfrm>
            <a:off x="6217920" y="1554480"/>
            <a:ext cx="5440680" cy="4069080"/>
          </a:xfrm>
          <a:prstGeom prst="roundRect">
            <a:avLst>
              <a:gd name="adj" fmla="val 3500"/>
            </a:avLst>
          </a:prstGeom>
          <a:solidFill>
            <a:srgbClr val="F3F5F7"/>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th.png"/>
          <p:cNvPicPr>
            <a:picLocks noChangeAspect="1"/>
          </p:cNvPicPr>
          <p:nvPr/>
        </p:nvPicPr>
        <p:blipFill>
          <a:blip r:embed="rId5"/>
          <a:stretch>
            <a:fillRect/>
          </a:stretch>
        </p:blipFill>
        <p:spPr>
          <a:xfrm>
            <a:off x="6355080" y="1974532"/>
            <a:ext cx="5166360" cy="3228975"/>
          </a:xfrm>
          <a:prstGeom prst="rect">
            <a:avLst/>
          </a:prstGeom>
        </p:spPr>
      </p:pic>
      <p:sp>
        <p:nvSpPr>
          <p:cNvPr id="12" name="TextBox 11"/>
          <p:cNvSpPr txBox="1"/>
          <p:nvPr/>
        </p:nvSpPr>
        <p:spPr>
          <a:xfrm>
            <a:off x="6217920" y="5760720"/>
            <a:ext cx="5440680" cy="320040"/>
          </a:xfrm>
          <a:prstGeom prst="rect">
            <a:avLst/>
          </a:prstGeom>
          <a:noFill/>
        </p:spPr>
        <p:txBody>
          <a:bodyPr wrap="square" lIns="0" rIns="0" tIns="0" bIns="0" anchor="t">
            <a:spAutoFit/>
          </a:bodyPr>
          <a:lstStyle/>
          <a:p>
            <a:pPr algn="ctr">
              <a:spcAft>
                <a:spcPts val="600"/>
              </a:spcAft>
            </a:pPr>
            <a:r>
              <a:rPr sz="1400" b="1" i="0">
                <a:solidFill>
                  <a:srgbClr val="161B22"/>
                </a:solidFill>
                <a:latin typeface="Aptos Display"/>
              </a:rPr>
              <a:t>② Route confirmed camA → camB → camC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11480" y="274320"/>
            <a:ext cx="9692640" cy="640080"/>
          </a:xfrm>
          <a:prstGeom prst="rect">
            <a:avLst/>
          </a:prstGeom>
          <a:noFill/>
        </p:spPr>
        <p:txBody>
          <a:bodyPr wrap="square" lIns="0" rIns="0" tIns="0" bIns="0" anchor="t">
            <a:spAutoFit/>
          </a:bodyPr>
          <a:lstStyle/>
          <a:p>
            <a:pPr algn="l">
              <a:spcAft>
                <a:spcPts val="600"/>
              </a:spcAft>
            </a:pPr>
            <a:r>
              <a:rPr sz="3000" b="1" i="0">
                <a:solidFill>
                  <a:srgbClr val="161B22"/>
                </a:solidFill>
                <a:latin typeface="Aptos Display"/>
              </a:rPr>
              <a:t>Limitations &amp; Next Steps</a:t>
            </a:r>
          </a:p>
        </p:txBody>
      </p:sp>
      <p:sp>
        <p:nvSpPr>
          <p:cNvPr id="3" name="Subtitle"/>
          <p:cNvSpPr txBox="1"/>
          <p:nvPr/>
        </p:nvSpPr>
        <p:spPr>
          <a:xfrm>
            <a:off x="429768" y="896112"/>
            <a:ext cx="10058400" cy="274320"/>
          </a:xfrm>
          <a:prstGeom prst="rect">
            <a:avLst/>
          </a:prstGeom>
          <a:noFill/>
        </p:spPr>
        <p:txBody>
          <a:bodyPr wrap="square" lIns="0" rIns="0" tIns="0" bIns="0" anchor="t">
            <a:spAutoFit/>
          </a:bodyPr>
          <a:lstStyle/>
          <a:p>
            <a:pPr algn="l">
              <a:spcAft>
                <a:spcPts val="600"/>
              </a:spcAft>
            </a:pPr>
            <a:r>
              <a:rPr sz="1200" b="0" i="0">
                <a:solidFill>
                  <a:srgbClr val="2B333C"/>
                </a:solidFill>
                <a:latin typeface="Aptos"/>
              </a:rPr>
              <a:t>A focused proof of concept — the clearest next steps follow from the results.</a:t>
            </a:r>
          </a:p>
        </p:txBody>
      </p:sp>
      <p:cxnSp>
        <p:nvCxnSpPr>
          <p:cNvPr id="4" name="Connector 3"/>
          <p:cNvCxnSpPr/>
          <p:nvPr/>
        </p:nvCxnSpPr>
        <p:spPr>
          <a:xfrm>
            <a:off x="411480" y="1216152"/>
            <a:ext cx="11475720" cy="0"/>
          </a:xfrm>
          <a:prstGeom prst="line">
            <a:avLst/>
          </a:prstGeom>
          <a:ln w="9525">
            <a:solidFill>
              <a:srgbClr val="4FB3AE"/>
            </a:solidFill>
          </a:ln>
        </p:spPr>
        <p:style>
          <a:lnRef idx="2">
            <a:schemeClr val="accent1"/>
          </a:lnRef>
          <a:fillRef idx="0">
            <a:schemeClr val="accent1"/>
          </a:fillRef>
          <a:effectRef idx="1">
            <a:schemeClr val="accent1"/>
          </a:effectRef>
          <a:fontRef idx="minor">
            <a:schemeClr val="tx1"/>
          </a:fontRef>
        </p:style>
      </p:cxnSp>
      <p:pic>
        <p:nvPicPr>
          <p:cNvPr id="5" name="Picture 4" descr="nus_iss_logo.png"/>
          <p:cNvPicPr>
            <a:picLocks noChangeAspect="1"/>
          </p:cNvPicPr>
          <p:nvPr/>
        </p:nvPicPr>
        <p:blipFill>
          <a:blip r:embed="rId2"/>
          <a:stretch>
            <a:fillRect/>
          </a:stretch>
        </p:blipFill>
        <p:spPr>
          <a:xfrm>
            <a:off x="10424160" y="146304"/>
            <a:ext cx="1691640" cy="744860"/>
          </a:xfrm>
          <a:prstGeom prst="rect">
            <a:avLst/>
          </a:prstGeom>
        </p:spPr>
      </p:pic>
      <p:sp>
        <p:nvSpPr>
          <p:cNvPr id="6" name="Slide number"/>
          <p:cNvSpPr txBox="1"/>
          <p:nvPr/>
        </p:nvSpPr>
        <p:spPr>
          <a:xfrm>
            <a:off x="11475720" y="6446520"/>
            <a:ext cx="411480" cy="228600"/>
          </a:xfrm>
          <a:prstGeom prst="rect">
            <a:avLst/>
          </a:prstGeom>
          <a:noFill/>
        </p:spPr>
        <p:txBody>
          <a:bodyPr wrap="square" lIns="0" rIns="0" tIns="0" bIns="0" anchor="t">
            <a:spAutoFit/>
          </a:bodyPr>
          <a:lstStyle/>
          <a:p>
            <a:pPr algn="r">
              <a:spcAft>
                <a:spcPts val="600"/>
              </a:spcAft>
            </a:pPr>
            <a:r>
              <a:rPr sz="900" b="0" i="0">
                <a:solidFill>
                  <a:srgbClr val="2B333C"/>
                </a:solidFill>
                <a:latin typeface="Aptos"/>
              </a:rPr>
              <a:t>16</a:t>
            </a:r>
          </a:p>
        </p:txBody>
      </p:sp>
      <p:sp>
        <p:nvSpPr>
          <p:cNvPr id="7" name="TextBox 6"/>
          <p:cNvSpPr txBox="1"/>
          <p:nvPr/>
        </p:nvSpPr>
        <p:spPr>
          <a:xfrm>
            <a:off x="685800" y="1508760"/>
            <a:ext cx="5029200" cy="457200"/>
          </a:xfrm>
          <a:prstGeom prst="rect">
            <a:avLst/>
          </a:prstGeom>
          <a:noFill/>
        </p:spPr>
        <p:txBody>
          <a:bodyPr wrap="square" lIns="0" rIns="0" tIns="0" bIns="0" anchor="t">
            <a:spAutoFit/>
          </a:bodyPr>
          <a:lstStyle/>
          <a:p>
            <a:pPr algn="l">
              <a:spcAft>
                <a:spcPts val="600"/>
              </a:spcAft>
            </a:pPr>
            <a:r>
              <a:rPr sz="2000" b="1" i="0">
                <a:solidFill>
                  <a:srgbClr val="D45F5F"/>
                </a:solidFill>
                <a:latin typeface="Aptos Display"/>
              </a:rPr>
              <a:t>LIMITATIONS</a:t>
            </a:r>
          </a:p>
        </p:txBody>
      </p:sp>
      <p:sp>
        <p:nvSpPr>
          <p:cNvPr id="8" name="TextBox 7"/>
          <p:cNvSpPr txBox="1"/>
          <p:nvPr/>
        </p:nvSpPr>
        <p:spPr>
          <a:xfrm>
            <a:off x="6446520" y="1508760"/>
            <a:ext cx="5029200" cy="457200"/>
          </a:xfrm>
          <a:prstGeom prst="rect">
            <a:avLst/>
          </a:prstGeom>
          <a:noFill/>
        </p:spPr>
        <p:txBody>
          <a:bodyPr wrap="square" lIns="0" rIns="0" tIns="0" bIns="0" anchor="t">
            <a:spAutoFit/>
          </a:bodyPr>
          <a:lstStyle/>
          <a:p>
            <a:pPr algn="l">
              <a:spcAft>
                <a:spcPts val="600"/>
              </a:spcAft>
            </a:pPr>
            <a:r>
              <a:rPr sz="2000" b="1" i="0">
                <a:solidFill>
                  <a:srgbClr val="5DC55B"/>
                </a:solidFill>
                <a:latin typeface="Aptos Display"/>
              </a:rPr>
              <a:t>NEXT</a:t>
            </a:r>
          </a:p>
        </p:txBody>
      </p:sp>
      <p:sp>
        <p:nvSpPr>
          <p:cNvPr id="9" name="TextBox 8"/>
          <p:cNvSpPr txBox="1"/>
          <p:nvPr/>
        </p:nvSpPr>
        <p:spPr>
          <a:xfrm>
            <a:off x="685800" y="2103120"/>
            <a:ext cx="5120640" cy="548640"/>
          </a:xfrm>
          <a:prstGeom prst="rect">
            <a:avLst/>
          </a:prstGeom>
          <a:noFill/>
        </p:spPr>
        <p:txBody>
          <a:bodyPr wrap="square" lIns="0" rIns="0" tIns="0" bIns="0" anchor="ctr">
            <a:spAutoFit/>
          </a:bodyPr>
          <a:lstStyle/>
          <a:p>
            <a:pPr algn="l">
              <a:spcAft>
                <a:spcPts val="600"/>
              </a:spcAft>
            </a:pPr>
            <a:r>
              <a:rPr sz="1700" b="0" i="0">
                <a:solidFill>
                  <a:srgbClr val="2B333C"/>
                </a:solidFill>
                <a:latin typeface="Aptos"/>
              </a:rPr>
              <a:t>×  Linear metric, 150 training vehicles</a:t>
            </a:r>
          </a:p>
        </p:txBody>
      </p:sp>
      <p:sp>
        <p:nvSpPr>
          <p:cNvPr id="10" name="Rounded Rectangle 9"/>
          <p:cNvSpPr/>
          <p:nvPr/>
        </p:nvSpPr>
        <p:spPr>
          <a:xfrm>
            <a:off x="6446520" y="2103120"/>
            <a:ext cx="5212080" cy="548640"/>
          </a:xfrm>
          <a:prstGeom prst="roundRect">
            <a:avLst>
              <a:gd name="adj" fmla="val 3500"/>
            </a:avLst>
          </a:prstGeom>
          <a:solidFill>
            <a:srgbClr val="EFF7F6"/>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61B22"/>
                </a:solidFill>
                <a:latin typeface="Aptos"/>
              </a:rPr>
              <a:t>all 576 VeRi identities · triplet-loss fine-tuning</a:t>
            </a:r>
          </a:p>
        </p:txBody>
      </p:sp>
      <p:sp>
        <p:nvSpPr>
          <p:cNvPr id="11" name="TextBox 10"/>
          <p:cNvSpPr txBox="1"/>
          <p:nvPr/>
        </p:nvSpPr>
        <p:spPr>
          <a:xfrm>
            <a:off x="685800" y="2852927"/>
            <a:ext cx="5120640" cy="548640"/>
          </a:xfrm>
          <a:prstGeom prst="rect">
            <a:avLst/>
          </a:prstGeom>
          <a:noFill/>
        </p:spPr>
        <p:txBody>
          <a:bodyPr wrap="square" lIns="0" rIns="0" tIns="0" bIns="0" anchor="ctr">
            <a:spAutoFit/>
          </a:bodyPr>
          <a:lstStyle/>
          <a:p>
            <a:pPr algn="l">
              <a:spcAft>
                <a:spcPts val="600"/>
              </a:spcAft>
            </a:pPr>
            <a:r>
              <a:rPr sz="1700" b="0" i="0">
                <a:solidFill>
                  <a:srgbClr val="2B333C"/>
                </a:solidFill>
                <a:latin typeface="Aptos"/>
              </a:rPr>
              <a:t>×  Synthetic plates; OCR on whole crops</a:t>
            </a:r>
          </a:p>
        </p:txBody>
      </p:sp>
      <p:sp>
        <p:nvSpPr>
          <p:cNvPr id="12" name="Rounded Rectangle 11"/>
          <p:cNvSpPr/>
          <p:nvPr/>
        </p:nvSpPr>
        <p:spPr>
          <a:xfrm>
            <a:off x="6446520" y="2852927"/>
            <a:ext cx="5212080" cy="548640"/>
          </a:xfrm>
          <a:prstGeom prst="roundRect">
            <a:avLst>
              <a:gd name="adj" fmla="val 3500"/>
            </a:avLst>
          </a:prstGeom>
          <a:solidFill>
            <a:srgbClr val="EFF7F6"/>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61B22"/>
                </a:solidFill>
                <a:latin typeface="Aptos"/>
              </a:rPr>
              <a:t>plate detector + real plate data</a:t>
            </a:r>
          </a:p>
        </p:txBody>
      </p:sp>
      <p:sp>
        <p:nvSpPr>
          <p:cNvPr id="13" name="TextBox 12"/>
          <p:cNvSpPr txBox="1"/>
          <p:nvPr/>
        </p:nvSpPr>
        <p:spPr>
          <a:xfrm>
            <a:off x="685800" y="3602735"/>
            <a:ext cx="5120640" cy="548640"/>
          </a:xfrm>
          <a:prstGeom prst="rect">
            <a:avLst/>
          </a:prstGeom>
          <a:noFill/>
        </p:spPr>
        <p:txBody>
          <a:bodyPr wrap="square" lIns="0" rIns="0" tIns="0" bIns="0" anchor="ctr">
            <a:spAutoFit/>
          </a:bodyPr>
          <a:lstStyle/>
          <a:p>
            <a:pPr algn="l">
              <a:spcAft>
                <a:spcPts val="600"/>
              </a:spcAft>
            </a:pPr>
            <a:r>
              <a:rPr sz="1700" b="0" i="0">
                <a:solidFill>
                  <a:srgbClr val="2B333C"/>
                </a:solidFill>
                <a:latin typeface="Aptos"/>
              </a:rPr>
              <a:t>×  RF optimises pair classification</a:t>
            </a:r>
          </a:p>
        </p:txBody>
      </p:sp>
      <p:sp>
        <p:nvSpPr>
          <p:cNvPr id="14" name="Rounded Rectangle 13"/>
          <p:cNvSpPr/>
          <p:nvPr/>
        </p:nvSpPr>
        <p:spPr>
          <a:xfrm>
            <a:off x="6446520" y="3602735"/>
            <a:ext cx="5212080" cy="548640"/>
          </a:xfrm>
          <a:prstGeom prst="roundRect">
            <a:avLst>
              <a:gd name="adj" fmla="val 3500"/>
            </a:avLst>
          </a:prstGeom>
          <a:solidFill>
            <a:srgbClr val="EFF7F6"/>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61B22"/>
                </a:solidFill>
                <a:latin typeface="Aptos"/>
              </a:rPr>
              <a:t>learning-to-rank · validation split for model choice</a:t>
            </a:r>
          </a:p>
        </p:txBody>
      </p:sp>
      <p:sp>
        <p:nvSpPr>
          <p:cNvPr id="15" name="TextBox 14"/>
          <p:cNvSpPr txBox="1"/>
          <p:nvPr/>
        </p:nvSpPr>
        <p:spPr>
          <a:xfrm>
            <a:off x="685800" y="4352544"/>
            <a:ext cx="5120640" cy="548640"/>
          </a:xfrm>
          <a:prstGeom prst="rect">
            <a:avLst/>
          </a:prstGeom>
          <a:noFill/>
        </p:spPr>
        <p:txBody>
          <a:bodyPr wrap="square" lIns="0" rIns="0" tIns="0" bIns="0" anchor="ctr">
            <a:spAutoFit/>
          </a:bodyPr>
          <a:lstStyle/>
          <a:p>
            <a:pPr algn="l">
              <a:spcAft>
                <a:spcPts val="600"/>
              </a:spcAft>
            </a:pPr>
            <a:r>
              <a:rPr sz="1700" b="0" i="0">
                <a:solidFill>
                  <a:srgbClr val="2B333C"/>
                </a:solidFill>
                <a:latin typeface="Aptos"/>
              </a:rPr>
              <a:t>×  Demo cameras = zones of one recording</a:t>
            </a:r>
          </a:p>
        </p:txBody>
      </p:sp>
      <p:sp>
        <p:nvSpPr>
          <p:cNvPr id="16" name="Rounded Rectangle 15"/>
          <p:cNvSpPr/>
          <p:nvPr/>
        </p:nvSpPr>
        <p:spPr>
          <a:xfrm>
            <a:off x="6446520" y="4352544"/>
            <a:ext cx="5212080" cy="548640"/>
          </a:xfrm>
          <a:prstGeom prst="roundRect">
            <a:avLst>
              <a:gd name="adj" fmla="val 3500"/>
            </a:avLst>
          </a:prstGeom>
          <a:solidFill>
            <a:srgbClr val="EFF7F6"/>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61B22"/>
                </a:solidFill>
                <a:latin typeface="Aptos"/>
              </a:rPr>
              <a:t>separate physical cameras (e.g. CityFlow) · travel-time priors</a:t>
            </a:r>
          </a:p>
        </p:txBody>
      </p:sp>
      <p:sp>
        <p:nvSpPr>
          <p:cNvPr id="17" name="TextBox 16"/>
          <p:cNvSpPr txBox="1"/>
          <p:nvPr/>
        </p:nvSpPr>
        <p:spPr>
          <a:xfrm>
            <a:off x="685800" y="5102352"/>
            <a:ext cx="5120640" cy="548640"/>
          </a:xfrm>
          <a:prstGeom prst="rect">
            <a:avLst/>
          </a:prstGeom>
          <a:noFill/>
        </p:spPr>
        <p:txBody>
          <a:bodyPr wrap="square" lIns="0" rIns="0" tIns="0" bIns="0" anchor="ctr">
            <a:spAutoFit/>
          </a:bodyPr>
          <a:lstStyle/>
          <a:p>
            <a:pPr algn="l">
              <a:spcAft>
                <a:spcPts val="600"/>
              </a:spcAft>
            </a:pPr>
            <a:r>
              <a:rPr sz="1700" b="0" i="0">
                <a:solidFill>
                  <a:srgbClr val="2B333C"/>
                </a:solidFill>
                <a:latin typeface="Aptos"/>
              </a:rPr>
              <a:t>×  Recorded videos only</a:t>
            </a:r>
          </a:p>
        </p:txBody>
      </p:sp>
      <p:sp>
        <p:nvSpPr>
          <p:cNvPr id="18" name="Rounded Rectangle 17"/>
          <p:cNvSpPr/>
          <p:nvPr/>
        </p:nvSpPr>
        <p:spPr>
          <a:xfrm>
            <a:off x="6446520" y="5102352"/>
            <a:ext cx="5212080" cy="548640"/>
          </a:xfrm>
          <a:prstGeom prst="roundRect">
            <a:avLst>
              <a:gd name="adj" fmla="val 3500"/>
            </a:avLst>
          </a:prstGeom>
          <a:solidFill>
            <a:srgbClr val="EFF7F6"/>
          </a:solidFill>
          <a:ln w="9525">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61B22"/>
                </a:solidFill>
                <a:latin typeface="Aptos"/>
              </a:rPr>
              <a:t>live RTSP camera streams</a:t>
            </a:r>
          </a:p>
        </p:txBody>
      </p:sp>
      <p:sp>
        <p:nvSpPr>
          <p:cNvPr id="19" name="Rounded Rectangle 18"/>
          <p:cNvSpPr/>
          <p:nvPr/>
        </p:nvSpPr>
        <p:spPr>
          <a:xfrm>
            <a:off x="2103120" y="5989320"/>
            <a:ext cx="8001000" cy="457200"/>
          </a:xfrm>
          <a:prstGeom prst="roundRect">
            <a:avLst>
              <a:gd name="adj" fmla="val 12000"/>
            </a:avLst>
          </a:prstGeom>
          <a:solidFill>
            <a:srgbClr val="1532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Display"/>
              </a:rPr>
              <a:t>MVP: recorded-video proof of concept  →  future extension: live camera streams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end.png"/>
          <p:cNvPicPr>
            <a:picLocks noChangeAspect="1"/>
          </p:cNvPicPr>
          <p:nvPr/>
        </p:nvPicPr>
        <p:blipFill>
          <a:blip r:embed="rId2"/>
          <a:stretch>
            <a:fillRect/>
          </a:stretch>
        </p:blipFill>
        <p:spPr>
          <a:xfrm>
            <a:off x="0" y="0"/>
            <a:ext cx="12191695" cy="6858000"/>
          </a:xfrm>
          <a:prstGeom prst="rect">
            <a:avLst/>
          </a:prstGeom>
        </p:spPr>
      </p:pic>
      <p:pic>
        <p:nvPicPr>
          <p:cNvPr id="3" name="Picture 2" descr="nus_iss_logo.png"/>
          <p:cNvPicPr>
            <a:picLocks noChangeAspect="1"/>
          </p:cNvPicPr>
          <p:nvPr/>
        </p:nvPicPr>
        <p:blipFill>
          <a:blip r:embed="rId3"/>
          <a:stretch>
            <a:fillRect/>
          </a:stretch>
        </p:blipFill>
        <p:spPr>
          <a:xfrm>
            <a:off x="10424160" y="146304"/>
            <a:ext cx="1691640" cy="744860"/>
          </a:xfrm>
          <a:prstGeom prst="rect">
            <a:avLst/>
          </a:prstGeom>
        </p:spPr>
      </p:pic>
      <p:pic>
        <p:nvPicPr>
          <p:cNvPr id="4" name="Picture 3" descr="vtrace_logo_dark.png"/>
          <p:cNvPicPr>
            <a:picLocks noChangeAspect="1"/>
          </p:cNvPicPr>
          <p:nvPr/>
        </p:nvPicPr>
        <p:blipFill>
          <a:blip r:embed="rId5"/>
          <a:stretch>
            <a:fillRect/>
          </a:stretch>
        </p:blipFill>
        <p:spPr>
          <a:xfrm>
            <a:off x="548640" y="411480"/>
            <a:ext cx="3840480" cy="1057365"/>
          </a:xfrm>
          <a:prstGeom prst="rect">
            <a:avLst/>
          </a:prstGeom>
        </p:spPr>
      </p:pic>
      <p:sp>
        <p:nvSpPr>
          <p:cNvPr id="5" name="TextBox 4"/>
          <p:cNvSpPr txBox="1"/>
          <p:nvPr/>
        </p:nvSpPr>
        <p:spPr>
          <a:xfrm>
            <a:off x="685800" y="1828800"/>
            <a:ext cx="3291840" cy="640080"/>
          </a:xfrm>
          <a:prstGeom prst="rect">
            <a:avLst/>
          </a:prstGeom>
          <a:noFill/>
        </p:spPr>
        <p:txBody>
          <a:bodyPr wrap="square" lIns="0" rIns="0" tIns="0" bIns="0" anchor="t">
            <a:spAutoFit/>
          </a:bodyPr>
          <a:lstStyle/>
          <a:p>
            <a:pPr algn="l">
              <a:spcAft>
                <a:spcPts val="600"/>
              </a:spcAft>
            </a:pPr>
            <a:r>
              <a:rPr sz="3400" b="1" i="0">
                <a:solidFill>
                  <a:srgbClr val="5DC55B"/>
                </a:solidFill>
                <a:latin typeface="Aptos Display"/>
              </a:rPr>
              <a:t>84%</a:t>
            </a:r>
          </a:p>
        </p:txBody>
      </p:sp>
      <p:sp>
        <p:nvSpPr>
          <p:cNvPr id="6" name="TextBox 5"/>
          <p:cNvSpPr txBox="1"/>
          <p:nvPr/>
        </p:nvSpPr>
        <p:spPr>
          <a:xfrm>
            <a:off x="685800" y="2560320"/>
            <a:ext cx="3108960" cy="731520"/>
          </a:xfrm>
          <a:prstGeom prst="rect">
            <a:avLst/>
          </a:prstGeom>
          <a:noFill/>
        </p:spPr>
        <p:txBody>
          <a:bodyPr wrap="square" lIns="0" rIns="0" tIns="0" bIns="0" anchor="t">
            <a:spAutoFit/>
          </a:bodyPr>
          <a:lstStyle/>
          <a:p>
            <a:pPr algn="l">
              <a:spcAft>
                <a:spcPts val="600"/>
              </a:spcAft>
            </a:pPr>
            <a:r>
              <a:rPr sz="1400" b="0" i="0">
                <a:solidFill>
                  <a:srgbClr val="D9E2E8"/>
                </a:solidFill>
                <a:latin typeface="Aptos"/>
              </a:rPr>
              <a:t>right vehicle in the top 5 from colour + type + partial plate</a:t>
            </a:r>
          </a:p>
        </p:txBody>
      </p:sp>
      <p:sp>
        <p:nvSpPr>
          <p:cNvPr id="7" name="TextBox 6"/>
          <p:cNvSpPr txBox="1"/>
          <p:nvPr/>
        </p:nvSpPr>
        <p:spPr>
          <a:xfrm>
            <a:off x="4251960" y="1828800"/>
            <a:ext cx="3291840" cy="640080"/>
          </a:xfrm>
          <a:prstGeom prst="rect">
            <a:avLst/>
          </a:prstGeom>
          <a:noFill/>
        </p:spPr>
        <p:txBody>
          <a:bodyPr wrap="square" lIns="0" rIns="0" tIns="0" bIns="0" anchor="t">
            <a:spAutoFit/>
          </a:bodyPr>
          <a:lstStyle/>
          <a:p>
            <a:pPr algn="l">
              <a:spcAft>
                <a:spcPts val="600"/>
              </a:spcAft>
            </a:pPr>
            <a:r>
              <a:rPr sz="3400" b="1" i="0">
                <a:solidFill>
                  <a:srgbClr val="E39B57"/>
                </a:solidFill>
                <a:latin typeface="Aptos Display"/>
              </a:rPr>
              <a:t>100 → 3.6</a:t>
            </a:r>
          </a:p>
        </p:txBody>
      </p:sp>
      <p:sp>
        <p:nvSpPr>
          <p:cNvPr id="8" name="TextBox 7"/>
          <p:cNvSpPr txBox="1"/>
          <p:nvPr/>
        </p:nvSpPr>
        <p:spPr>
          <a:xfrm>
            <a:off x="4251960" y="2560320"/>
            <a:ext cx="3108960" cy="731520"/>
          </a:xfrm>
          <a:prstGeom prst="rect">
            <a:avLst/>
          </a:prstGeom>
          <a:noFill/>
        </p:spPr>
        <p:txBody>
          <a:bodyPr wrap="square" lIns="0" rIns="0" tIns="0" bIns="0" anchor="t">
            <a:spAutoFit/>
          </a:bodyPr>
          <a:lstStyle/>
          <a:p>
            <a:pPr algn="l">
              <a:spcAft>
                <a:spcPts val="600"/>
              </a:spcAft>
            </a:pPr>
            <a:r>
              <a:rPr sz="1400" b="0" i="0">
                <a:solidFill>
                  <a:srgbClr val="D9E2E8"/>
                </a:solidFill>
                <a:latin typeface="Aptos"/>
              </a:rPr>
              <a:t>plate-only mAP as plates degrade; fusion stays far above appearance</a:t>
            </a:r>
          </a:p>
        </p:txBody>
      </p:sp>
      <p:sp>
        <p:nvSpPr>
          <p:cNvPr id="9" name="TextBox 8"/>
          <p:cNvSpPr txBox="1"/>
          <p:nvPr/>
        </p:nvSpPr>
        <p:spPr>
          <a:xfrm>
            <a:off x="7818120" y="1828800"/>
            <a:ext cx="3291840" cy="640080"/>
          </a:xfrm>
          <a:prstGeom prst="rect">
            <a:avLst/>
          </a:prstGeom>
          <a:noFill/>
        </p:spPr>
        <p:txBody>
          <a:bodyPr wrap="square" lIns="0" rIns="0" tIns="0" bIns="0" anchor="t">
            <a:spAutoFit/>
          </a:bodyPr>
          <a:lstStyle/>
          <a:p>
            <a:pPr algn="l">
              <a:spcAft>
                <a:spcPts val="600"/>
              </a:spcAft>
            </a:pPr>
            <a:r>
              <a:rPr sz="3400" b="1" i="0">
                <a:solidFill>
                  <a:srgbClr val="5DC55B"/>
                </a:solidFill>
                <a:latin typeface="Aptos Display"/>
              </a:rPr>
              <a:t>27 → 48</a:t>
            </a:r>
          </a:p>
        </p:txBody>
      </p:sp>
      <p:sp>
        <p:nvSpPr>
          <p:cNvPr id="10" name="TextBox 9"/>
          <p:cNvSpPr txBox="1"/>
          <p:nvPr/>
        </p:nvSpPr>
        <p:spPr>
          <a:xfrm>
            <a:off x="7818120" y="2560320"/>
            <a:ext cx="3108960" cy="731520"/>
          </a:xfrm>
          <a:prstGeom prst="rect">
            <a:avLst/>
          </a:prstGeom>
          <a:noFill/>
        </p:spPr>
        <p:txBody>
          <a:bodyPr wrap="square" lIns="0" rIns="0" tIns="0" bIns="0" anchor="t">
            <a:spAutoFit/>
          </a:bodyPr>
          <a:lstStyle/>
          <a:p>
            <a:pPr algn="l">
              <a:spcAft>
                <a:spcPts val="600"/>
              </a:spcAft>
            </a:pPr>
            <a:r>
              <a:rPr sz="1400" b="0" i="0">
                <a:solidFill>
                  <a:srgbClr val="D9E2E8"/>
                </a:solidFill>
                <a:latin typeface="Aptos"/>
              </a:rPr>
              <a:t>Re-ID mAP, plates hidden, with a learned metric</a:t>
            </a:r>
          </a:p>
        </p:txBody>
      </p:sp>
      <p:sp>
        <p:nvSpPr>
          <p:cNvPr id="11" name="TextBox 10"/>
          <p:cNvSpPr txBox="1"/>
          <p:nvPr/>
        </p:nvSpPr>
        <p:spPr>
          <a:xfrm>
            <a:off x="0" y="3429000"/>
            <a:ext cx="12191695" cy="1097280"/>
          </a:xfrm>
          <a:prstGeom prst="rect">
            <a:avLst/>
          </a:prstGeom>
          <a:noFill/>
        </p:spPr>
        <p:txBody>
          <a:bodyPr wrap="square" lIns="0" rIns="0" tIns="0" bIns="0" anchor="t">
            <a:spAutoFit/>
          </a:bodyPr>
          <a:lstStyle/>
          <a:p>
            <a:pPr algn="ctr">
              <a:spcAft>
                <a:spcPts val="600"/>
              </a:spcAft>
            </a:pPr>
            <a:r>
              <a:rPr sz="7200" b="1" i="0">
                <a:solidFill>
                  <a:srgbClr val="12A7A1"/>
                </a:solidFill>
                <a:latin typeface="Aptos Display"/>
              </a:rPr>
              <a:t>Thank you!</a:t>
            </a:r>
          </a:p>
        </p:txBody>
      </p:sp>
      <p:sp>
        <p:nvSpPr>
          <p:cNvPr id="12" name="TextBox 11"/>
          <p:cNvSpPr txBox="1"/>
          <p:nvPr/>
        </p:nvSpPr>
        <p:spPr>
          <a:xfrm>
            <a:off x="502920" y="5715000"/>
            <a:ext cx="11201400" cy="914400"/>
          </a:xfrm>
          <a:prstGeom prst="rect">
            <a:avLst/>
          </a:prstGeom>
          <a:noFill/>
        </p:spPr>
        <p:txBody>
          <a:bodyPr wrap="square" lIns="0" rIns="0" tIns="0" bIns="0" anchor="t">
            <a:spAutoFit/>
          </a:bodyPr>
          <a:lstStyle/>
          <a:p>
            <a:pPr algn="l">
              <a:spcAft>
                <a:spcPts val="600"/>
              </a:spcAft>
            </a:pPr>
            <a:r>
              <a:rPr sz="1100" b="1" i="0">
                <a:solidFill>
                  <a:srgbClr val="FFFFFF"/>
                </a:solidFill>
                <a:latin typeface="Aptos"/>
              </a:rPr>
              <a:t>In the preparation of this project, AI-based tools including Claude, ChatGPT and Gemini were used in a supporting capacity to assist with tasks such as drafting and refining text, organising content, implementation and general research support. All ideas, analysis, technical design decisions and conclusions are the work of the project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